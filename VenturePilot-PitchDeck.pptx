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 Speaker Notes:
Welcome and introduce yourself.
VenturePilot is the first free, AI-powered platform that gives every founder the tools previously reserved for funded startups with $10K/mo advisory fees.
Key hook: "We are GitHub for startup strategy — free, viral, and open."
State ask up front if appropriate for the audience: "We are raising a $1.5M pre-seed to accelerate growth and launch our B2B white-label product."
Pause for 3 seconds after the headline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SLIDE — Speaker Notes:
Three compounding problems every early-stage founder faces:
1. Cost barrier: Carta, Visible, Notion Finance templates — individually affordable but collectively $500–$2K/mo minimum stack.
2. Fragmentation: Founders waste 8–12 hours/week switching between tools. Data inconsistencies kill credibility in investor meetings.
3. Knowledge gap: Benchmark data, VC frameworks (Rule of 40, Burn Multiple, Magic Number) — these metrics determine whether a deal gets done, yet most founders only learn them after getting passed on.
Data point: 82% of investors say financial literacy is a top 3 pass reason (CB Insights,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SLIDE — Speaker Notes:
VenturePilot combines six tools into one cohesive platform, all deployable on GitHub Pages — meaning zero infrastructure cost, zero sign-up friction.
Key differentiator: on-device AI means users get intelligent recommendations without us paying for OpenAI or Anthropic API calls. This is a fundamental cost moat.
The platform works offline as a Progressive Web App (PWA). Founders in emerging markets — where connectivity is unreliable — get the same experience.
"No sign-up" is a growth mechanic, not just a UX choice — it removes every barrier to try → use →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SLIDE — Speaker Notes:
TAM ($47B): Entire startup tools &amp; SMB financial software category — includes Carta, Visible, Brex, Notion, Monday.
SAM ($8.2B): We're focused on Seed–Series B founders — ~450,000 active companies at any time globally, each spending $1,500–$3,000/yr on relevant software.
SOM ($420M): Conservative 3-year capture assumes 85,000 MAU at a $12 ARPU blended rate (free tier monetized via upsells + B2B white-label at $2–5K/mo).
"Why now" is critical: Chrome AI is the enabling technology. Browser-native LLMs eliminate our biggest variable cost — inference — making the free-forever model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SLIDE — Speaker Notes:
These metrics come from the live platform — not projections.
12,400 MAU achieved with $0 in paid marketing — entirely organic via GitHub Stars, Hacker News, and developer communities.
34% MoM growth: at this rate we hit 100K MAU within 7 months.
68% 90-day retention is exceptional for a free tool — benchmarks show typical free SaaS tools at 25–35%. This signals genuine daily utility.
B2B pipeline: 3 accelerator pilots (YC-adjacent networks) are in active conversations for $2,500/mo white-label licenses.
The next milestone: closing 10 enterprise accounts = $300K ARR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SLIDE — Speaker Notes:
Walk through the 7 modules at a high level. This is not a demo slide — keep it moving.
Emphasize the architecture decision: everything runs in the browser. No server, no database, no monthly compute bill.
The "zero API keys" badge is the biggest differentiator in the market. Every competitor (Visible.vc, Cabal, Runway) charges for AI features.
PWA: founders in Africa, Latin America, and Southeast Asia — where VCs are now actively deploying — can use this offline.
If asked: the AI model download (Phi-3.5-Mini, ~2GB) happens once and is cached. Subsequent sessions are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SLIDE — Speaker Notes:
The free tier is intentional — it's our distribution engine, not a loss leader. GitHub Pages hosting is free. AI inference is on-device. Our marginal cost to serve a free user is effectively $0.
B2B white-label is the primary revenue driver. We are in active conversations with 3 accelerators. Comparable pricing: Visible.vc charges $500–$2K/mo, and they don't offer white-labeling.
API tier unlocks a platform play — CFO tools, VC portfolio tracking software, and accounting platforms will pay to embed our metrics engine.
Benchmark reports require no additional product development — we already collect anonymized aggregate data. Each report is 95% gross margin.
Path to $5M ARR: 20 white-label B2B contracts at $3K/mo avg = $720K/yr + 10K paying API users at $500/mo avg blended = $60M ARR potential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COMPETITION SLIDE — Speaker Notes:
The competitive landscape is fragmented — most tools solve one piece. VenturePilot solves all of them in one tab.
Visible.vc: strong investor update tool but $500/mo with no AI, no pitch deck, no valuation.
Cabal: great for investor relationships but no financial modeling or benchmarking.
Runway: finance-focused, no strategy or investor tools, $500+/mo.
Our key insight: the "AI moat" is not who has the best model — it's who has zero inference cost. Chrome AI means we pay $0 per AI-powered recommendation.
The white-label angle is our wedge into enterprise: selling to the VC/accelerator is a 1-to-many motion — each deal onboards their entire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SLIDE — Speaker Notes:
Be honest and direct about team composition. The CTO and VP Growth are open roles — we're raising specifically to make these hires.
The strength is in operator experience and the product already built. Many seed-stage companies raise with a solo technical founder and open roles.
Advisor strategy: we're targeting former GPs at top-tier funds who can provide warm introductions to accelerator networks — the primary B2B sales channel.
The moat here is the founder's direct network with early-stage founders — which is both the distribution channel and the feedback loop for product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FINANCIALS SLIDE — Speaker Notes:
Conservative projections — we've deliberately modeled the B2B ramp slowly (3 clients Year 1, 20 Year 2) because enterprise sales cycles are real.
The gross margin improvement (82→87%) reflects operating leverage: our primary variable cost is infra, and GitHub Pages handles free tier hosting at $0.
Do NOT assume these are locked projections — they are scenario models based on current growth rate and B2B pipeline conversations.
The $2.58M Year 3 ARR is the base case. If viral growth continues at 34% MoM, we could 3x this.
Break-even: at 8 B2B clients ($288K ARR), we cover a lean team of 4. This de-risks the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SLIDE — Speaker Notes:
$1.5M on a SAFE at an $8M valuation cap with a 20% discount.
Why $1.5M? This gives us 18 months of runway to hit 10 enterprise clients ($360K ARR) and validate the B2B motion before a Series A.
Hiring priorities in order: CTO first (needed to unlock API platform and white-label infrastructure), then VP Growth (needed to scale B2B outreach).
The $8M cap reflects: 12,400 MAU at 34% MoM growth, fully functional product, zero competition on the free + AI combo, and B2B pipeline in active conversation.
Close the conversation by asking: "Are you the right person to lead this round, or should I be talking to someone else on your team?"
Always leave time for Q&amp;A on the financial model — investors will ask about unit economics and CAC.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Speaker Notes:
End with energy. The last impression matters as much as the first.
Recap the core narrative in one sentence: "VenturePilot gives every founder the VC-grade tools they need to raise — free, instant, and powered by on-device AI."
Hard ask: "We're closing a $1.5M SAFE at an $8M cap. We're looking for a lead check of $500K–$750K from the right partner. Is that a conversation you'd like to continue?"
Leave the deck on screen during Q&amp;A — the metrics strip at the bottom is a good reference point for financial questions.
Thank them and offer a product demo on the spot — it's live at venturepilot.app and takes 30 seconds to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7C3AED">
              <a:alpha val="12000"/>
            </a:srgbClr>
          </a:solidFill>
          <a:ln w="12700">
            <a:solidFill>
              <a:srgbClr val="7C3AED">
                <a:alpha val="12000"/>
              </a:srgbClr>
            </a:solidFill>
            <a:prstDash val="solid"/>
          </a:ln>
        </p:spPr>
      </p:sp>
      <p:sp>
        <p:nvSpPr>
          <p:cNvPr id="3" name="Shape 1"/>
          <p:cNvSpPr/>
          <p:nvPr/>
        </p:nvSpPr>
        <p:spPr>
          <a:xfrm>
            <a:off x="6858000" y="2743200"/>
            <a:ext cx="3657600" cy="3657600"/>
          </a:xfrm>
          <a:prstGeom prst="ellipse">
            <a:avLst/>
          </a:prstGeom>
          <a:solidFill>
            <a:srgbClr val="14B8A6">
              <a:alpha val="10000"/>
            </a:srgbClr>
          </a:solidFill>
          <a:ln w="12700">
            <a:solidFill>
              <a:srgbClr val="14B8A6">
                <a:alpha val="10000"/>
              </a:srgbClr>
            </a:solidFill>
            <a:prstDash val="solid"/>
          </a:ln>
        </p:spPr>
      </p:sp>
      <p:sp>
        <p:nvSpPr>
          <p:cNvPr id="4" name="Shape 2"/>
          <p:cNvSpPr/>
          <p:nvPr/>
        </p:nvSpPr>
        <p:spPr>
          <a:xfrm>
            <a:off x="0" y="0"/>
            <a:ext cx="9144000" cy="73152"/>
          </a:xfrm>
          <a:prstGeom prst="rect">
            <a:avLst/>
          </a:prstGeom>
          <a:solidFill>
            <a:srgbClr val="7C3AED"/>
          </a:solidFill>
          <a:ln w="12700">
            <a:solidFill>
              <a:srgbClr val="7C3AED"/>
            </a:solidFill>
            <a:prstDash val="solid"/>
          </a:ln>
        </p:spPr>
      </p:sp>
      <p:sp>
        <p:nvSpPr>
          <p:cNvPr id="5" name="Shape 3"/>
          <p:cNvSpPr/>
          <p:nvPr/>
        </p:nvSpPr>
        <p:spPr>
          <a:xfrm>
            <a:off x="640080" y="914400"/>
            <a:ext cx="658368" cy="658368"/>
          </a:xfrm>
          <a:prstGeom prst="rect">
            <a:avLst/>
          </a:prstGeom>
          <a:solidFill>
            <a:srgbClr val="7C3AED"/>
          </a:solidFill>
          <a:ln w="12700">
            <a:solidFill>
              <a:srgbClr val="7C3AED"/>
            </a:solidFill>
            <a:prstDash val="solid"/>
          </a:ln>
        </p:spPr>
      </p:sp>
      <p:sp>
        <p:nvSpPr>
          <p:cNvPr id="6" name="Text 4"/>
          <p:cNvSpPr/>
          <p:nvPr/>
        </p:nvSpPr>
        <p:spPr>
          <a:xfrm>
            <a:off x="640080" y="91440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VP</a:t>
            </a:r>
            <a:endParaRPr lang="en-US" sz="1800" dirty="0"/>
          </a:p>
        </p:txBody>
      </p:sp>
      <p:sp>
        <p:nvSpPr>
          <p:cNvPr id="7" name="Text 5"/>
          <p:cNvSpPr/>
          <p:nvPr/>
        </p:nvSpPr>
        <p:spPr>
          <a:xfrm>
            <a:off x="1417320" y="932688"/>
            <a:ext cx="320040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VenturePilot</a:t>
            </a:r>
            <a:endParaRPr lang="en-US" sz="2000" dirty="0"/>
          </a:p>
        </p:txBody>
      </p:sp>
      <p:sp>
        <p:nvSpPr>
          <p:cNvPr id="8" name="Text 6"/>
          <p:cNvSpPr/>
          <p:nvPr/>
        </p:nvSpPr>
        <p:spPr>
          <a:xfrm>
            <a:off x="1417320" y="1316736"/>
            <a:ext cx="3200400" cy="27432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venturepilot.app</a:t>
            </a:r>
            <a:endParaRPr lang="en-US" sz="1100" dirty="0"/>
          </a:p>
        </p:txBody>
      </p:sp>
      <p:sp>
        <p:nvSpPr>
          <p:cNvPr id="9" name="Text 7"/>
          <p:cNvSpPr/>
          <p:nvPr/>
        </p:nvSpPr>
        <p:spPr>
          <a:xfrm>
            <a:off x="640080" y="1920240"/>
            <a:ext cx="7132320" cy="1463040"/>
          </a:xfrm>
          <a:prstGeom prst="rect">
            <a:avLst/>
          </a:prstGeom>
          <a:noFill/>
          <a:ln/>
        </p:spPr>
        <p:txBody>
          <a:bodyPr wrap="square" rtlCol="0" anchor="t"/>
          <a:lstStyle/>
          <a:p>
            <a:pPr algn="l" indent="0" marL="0">
              <a:buNone/>
            </a:pPr>
            <a:r>
              <a:rPr lang="en-US" sz="4400" b="1" dirty="0">
                <a:solidFill>
                  <a:srgbClr val="FFFFFF"/>
                </a:solidFill>
                <a:latin typeface="Calibri" pitchFamily="34" charset="0"/>
                <a:ea typeface="Calibri" pitchFamily="34" charset="-122"/>
                <a:cs typeface="Calibri" pitchFamily="34" charset="-120"/>
              </a:rPr>
              <a:t>The AI Co-Pilot for</a:t>
            </a:r>
            <a:endParaRPr lang="en-US" sz="4400" dirty="0"/>
          </a:p>
          <a:p>
            <a:pPr algn="l" indent="0" marL="0">
              <a:buNone/>
            </a:pPr>
            <a:r>
              <a:rPr lang="en-US" sz="4400" b="1" dirty="0">
                <a:solidFill>
                  <a:srgbClr val="FFFFFF"/>
                </a:solidFill>
                <a:latin typeface="Calibri" pitchFamily="34" charset="0"/>
                <a:ea typeface="Calibri" pitchFamily="34" charset="-122"/>
                <a:cs typeface="Calibri" pitchFamily="34" charset="-120"/>
              </a:rPr>
              <a:t>Founders &amp; Investors</a:t>
            </a:r>
            <a:endParaRPr lang="en-US" sz="4400" dirty="0"/>
          </a:p>
        </p:txBody>
      </p:sp>
      <p:sp>
        <p:nvSpPr>
          <p:cNvPr id="10" name="Text 8"/>
          <p:cNvSpPr/>
          <p:nvPr/>
        </p:nvSpPr>
        <p:spPr>
          <a:xfrm>
            <a:off x="640080" y="3429000"/>
            <a:ext cx="5943600" cy="822960"/>
          </a:xfrm>
          <a:prstGeom prst="rect">
            <a:avLst/>
          </a:prstGeom>
          <a:noFill/>
          <a:ln/>
        </p:spPr>
        <p:txBody>
          <a:bodyPr wrap="square" rtlCol="0" anchor="ctr"/>
          <a:lstStyle/>
          <a:p>
            <a:pPr algn="l" indent="0" marL="0">
              <a:buNone/>
            </a:pPr>
            <a:r>
              <a:rPr lang="en-US" sz="1500" dirty="0">
                <a:solidFill>
                  <a:srgbClr val="EDE9FE"/>
                </a:solidFill>
                <a:latin typeface="Calibri" pitchFamily="34" charset="0"/>
                <a:ea typeface="Calibri" pitchFamily="34" charset="-122"/>
                <a:cs typeface="Calibri" pitchFamily="34" charset="-120"/>
              </a:rPr>
              <a:t>From idea to Series A — strategy, financials, pitch decks,</a:t>
            </a:r>
            <a:endParaRPr lang="en-US" sz="1500" dirty="0"/>
          </a:p>
          <a:p>
            <a:pPr algn="l" indent="0" marL="0">
              <a:buNone/>
            </a:pPr>
            <a:r>
              <a:rPr lang="en-US" sz="1500" dirty="0">
                <a:solidFill>
                  <a:srgbClr val="EDE9FE"/>
                </a:solidFill>
                <a:latin typeface="Calibri" pitchFamily="34" charset="0"/>
                <a:ea typeface="Calibri" pitchFamily="34" charset="-122"/>
                <a:cs typeface="Calibri" pitchFamily="34" charset="-120"/>
              </a:rPr>
              <a:t>and investor relationships, all in one free platform.</a:t>
            </a:r>
            <a:endParaRPr lang="en-US" sz="1500" dirty="0"/>
          </a:p>
        </p:txBody>
      </p:sp>
      <p:sp>
        <p:nvSpPr>
          <p:cNvPr id="11" name="Shape 9"/>
          <p:cNvSpPr/>
          <p:nvPr/>
        </p:nvSpPr>
        <p:spPr>
          <a:xfrm>
            <a:off x="640080" y="4370832"/>
            <a:ext cx="2194560" cy="347472"/>
          </a:xfrm>
          <a:prstGeom prst="rect">
            <a:avLst/>
          </a:prstGeom>
          <a:solidFill>
            <a:srgbClr val="14B8A6"/>
          </a:solidFill>
          <a:ln w="12700">
            <a:solidFill>
              <a:srgbClr val="14B8A6"/>
            </a:solidFill>
            <a:prstDash val="solid"/>
          </a:ln>
        </p:spPr>
      </p:sp>
      <p:sp>
        <p:nvSpPr>
          <p:cNvPr id="12" name="Text 10"/>
          <p:cNvSpPr/>
          <p:nvPr/>
        </p:nvSpPr>
        <p:spPr>
          <a:xfrm>
            <a:off x="640080" y="4370832"/>
            <a:ext cx="21945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SEED ROUND · 2025</a:t>
            </a:r>
            <a:endParaRPr lang="en-US" sz="1000" dirty="0"/>
          </a:p>
        </p:txBody>
      </p:sp>
      <p:sp>
        <p:nvSpPr>
          <p:cNvPr id="13" name="Text 11"/>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1 / 12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PROBLEM</a:t>
            </a:r>
            <a:endParaRPr lang="en-US" sz="700" dirty="0"/>
          </a:p>
        </p:txBody>
      </p:sp>
      <p:sp>
        <p:nvSpPr>
          <p:cNvPr id="5" name="Text 3"/>
          <p:cNvSpPr/>
          <p:nvPr/>
        </p:nvSpPr>
        <p:spPr>
          <a:xfrm>
            <a:off x="548640" y="594360"/>
            <a:ext cx="8046720" cy="11887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93% of startups fail.</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Most never had the right tools.</a:t>
            </a:r>
            <a:endParaRPr lang="en-US" sz="3200" dirty="0"/>
          </a:p>
        </p:txBody>
      </p:sp>
      <p:sp>
        <p:nvSpPr>
          <p:cNvPr id="6" name="Shape 4"/>
          <p:cNvSpPr/>
          <p:nvPr/>
        </p:nvSpPr>
        <p:spPr>
          <a:xfrm>
            <a:off x="502920" y="1965960"/>
            <a:ext cx="2514600" cy="2651760"/>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7" name="Text 5"/>
          <p:cNvSpPr/>
          <p:nvPr/>
        </p:nvSpPr>
        <p:spPr>
          <a:xfrm>
            <a:off x="640080" y="2057400"/>
            <a:ext cx="2240280" cy="50292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640080" y="2578608"/>
            <a:ext cx="2240280" cy="41148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Tools are expensive</a:t>
            </a:r>
            <a:endParaRPr lang="en-US" sz="1400" dirty="0"/>
          </a:p>
        </p:txBody>
      </p:sp>
      <p:sp>
        <p:nvSpPr>
          <p:cNvPr id="9" name="Text 7"/>
          <p:cNvSpPr/>
          <p:nvPr/>
        </p:nvSpPr>
        <p:spPr>
          <a:xfrm>
            <a:off x="640080" y="3017520"/>
            <a:ext cx="2240280" cy="1463040"/>
          </a:xfrm>
          <a:prstGeom prst="rect">
            <a:avLst/>
          </a:prstGeom>
          <a:noFill/>
          <a:ln/>
        </p:spPr>
        <p:txBody>
          <a:bodyPr wrap="square" lIns="0" tIns="0" rIns="0" bIns="0" rtlCol="0" anchor="ctr"/>
          <a:lstStyle/>
          <a:p>
            <a:pPr indent="0" marL="0">
              <a:buNone/>
            </a:pPr>
            <a:r>
              <a:rPr lang="en-US" sz="1150" dirty="0">
                <a:solidFill>
                  <a:srgbClr val="A0AEC0"/>
                </a:solidFill>
                <a:latin typeface="Calibri" pitchFamily="34" charset="0"/>
                <a:ea typeface="Calibri" pitchFamily="34" charset="-122"/>
                <a:cs typeface="Calibri" pitchFamily="34" charset="-120"/>
              </a:rPr>
              <a:t>Enterprise strategy software costs $5K–$20K/yr. Early-stage founders can't afford it.</a:t>
            </a:r>
            <a:endParaRPr lang="en-US" sz="1150" dirty="0"/>
          </a:p>
        </p:txBody>
      </p:sp>
      <p:sp>
        <p:nvSpPr>
          <p:cNvPr id="10" name="Shape 8"/>
          <p:cNvSpPr/>
          <p:nvPr/>
        </p:nvSpPr>
        <p:spPr>
          <a:xfrm>
            <a:off x="3383280" y="1965960"/>
            <a:ext cx="2514600" cy="2651760"/>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11" name="Text 9"/>
          <p:cNvSpPr/>
          <p:nvPr/>
        </p:nvSpPr>
        <p:spPr>
          <a:xfrm>
            <a:off x="3520440" y="2057400"/>
            <a:ext cx="2240280" cy="50292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520440" y="2578608"/>
            <a:ext cx="2240280" cy="41148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Data is siloed</a:t>
            </a:r>
            <a:endParaRPr lang="en-US" sz="1400" dirty="0"/>
          </a:p>
        </p:txBody>
      </p:sp>
      <p:sp>
        <p:nvSpPr>
          <p:cNvPr id="13" name="Text 11"/>
          <p:cNvSpPr/>
          <p:nvPr/>
        </p:nvSpPr>
        <p:spPr>
          <a:xfrm>
            <a:off x="3520440" y="3017520"/>
            <a:ext cx="2240280" cy="1463040"/>
          </a:xfrm>
          <a:prstGeom prst="rect">
            <a:avLst/>
          </a:prstGeom>
          <a:noFill/>
          <a:ln/>
        </p:spPr>
        <p:txBody>
          <a:bodyPr wrap="square" lIns="0" tIns="0" rIns="0" bIns="0" rtlCol="0" anchor="ctr"/>
          <a:lstStyle/>
          <a:p>
            <a:pPr indent="0" marL="0">
              <a:buNone/>
            </a:pPr>
            <a:r>
              <a:rPr lang="en-US" sz="1150" dirty="0">
                <a:solidFill>
                  <a:srgbClr val="A0AEC0"/>
                </a:solidFill>
                <a:latin typeface="Calibri" pitchFamily="34" charset="0"/>
                <a:ea typeface="Calibri" pitchFamily="34" charset="-122"/>
                <a:cs typeface="Calibri" pitchFamily="34" charset="-120"/>
              </a:rPr>
              <a:t>Pitch decks, financial models, and CRM live in 5+ different tools — all disconnected.</a:t>
            </a:r>
            <a:endParaRPr lang="en-US" sz="1150" dirty="0"/>
          </a:p>
        </p:txBody>
      </p:sp>
      <p:sp>
        <p:nvSpPr>
          <p:cNvPr id="14" name="Shape 12"/>
          <p:cNvSpPr/>
          <p:nvPr/>
        </p:nvSpPr>
        <p:spPr>
          <a:xfrm>
            <a:off x="6263640" y="1965960"/>
            <a:ext cx="2514600" cy="2651760"/>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15" name="Text 13"/>
          <p:cNvSpPr/>
          <p:nvPr/>
        </p:nvSpPr>
        <p:spPr>
          <a:xfrm>
            <a:off x="6400800" y="2057400"/>
            <a:ext cx="2240280" cy="50292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6400800" y="2578608"/>
            <a:ext cx="2240280" cy="41148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Advice is inaccessible</a:t>
            </a:r>
            <a:endParaRPr lang="en-US" sz="1400" dirty="0"/>
          </a:p>
        </p:txBody>
      </p:sp>
      <p:sp>
        <p:nvSpPr>
          <p:cNvPr id="17" name="Text 15"/>
          <p:cNvSpPr/>
          <p:nvPr/>
        </p:nvSpPr>
        <p:spPr>
          <a:xfrm>
            <a:off x="6400800" y="3017520"/>
            <a:ext cx="2240280" cy="1463040"/>
          </a:xfrm>
          <a:prstGeom prst="rect">
            <a:avLst/>
          </a:prstGeom>
          <a:noFill/>
          <a:ln/>
        </p:spPr>
        <p:txBody>
          <a:bodyPr wrap="square" lIns="0" tIns="0" rIns="0" bIns="0" rtlCol="0" anchor="ctr"/>
          <a:lstStyle/>
          <a:p>
            <a:pPr indent="0" marL="0">
              <a:buNone/>
            </a:pPr>
            <a:r>
              <a:rPr lang="en-US" sz="1150" dirty="0">
                <a:solidFill>
                  <a:srgbClr val="A0AEC0"/>
                </a:solidFill>
                <a:latin typeface="Calibri" pitchFamily="34" charset="0"/>
                <a:ea typeface="Calibri" pitchFamily="34" charset="-122"/>
                <a:cs typeface="Calibri" pitchFamily="34" charset="-120"/>
              </a:rPr>
              <a:t>Top VC frameworks and metrics guidance are locked behind advisors and accelerator networks.</a:t>
            </a:r>
            <a:endParaRPr lang="en-US" sz="1150" dirty="0"/>
          </a:p>
        </p:txBody>
      </p:sp>
      <p:sp>
        <p:nvSpPr>
          <p:cNvPr id="18" name="Shape 16"/>
          <p:cNvSpPr/>
          <p:nvPr/>
        </p:nvSpPr>
        <p:spPr>
          <a:xfrm>
            <a:off x="457200" y="4645152"/>
            <a:ext cx="8229600" cy="310896"/>
          </a:xfrm>
          <a:prstGeom prst="rect">
            <a:avLst/>
          </a:prstGeom>
          <a:solidFill>
            <a:srgbClr val="334155"/>
          </a:solidFill>
          <a:ln w="12700">
            <a:solidFill>
              <a:srgbClr val="334155"/>
            </a:solidFill>
            <a:prstDash val="solid"/>
          </a:ln>
        </p:spPr>
      </p:sp>
      <p:sp>
        <p:nvSpPr>
          <p:cNvPr id="19" name="Text 17"/>
          <p:cNvSpPr/>
          <p:nvPr/>
        </p:nvSpPr>
        <p:spPr>
          <a:xfrm>
            <a:off x="594360" y="4645152"/>
            <a:ext cx="7973568" cy="310896"/>
          </a:xfrm>
          <a:prstGeom prst="rect">
            <a:avLst/>
          </a:prstGeom>
          <a:noFill/>
          <a:ln/>
        </p:spPr>
        <p:txBody>
          <a:bodyPr wrap="square" lIns="50800" tIns="50800" rIns="50800" bIns="50800" rtlCol="0" anchor="ctr"/>
          <a:lstStyle/>
          <a:p>
            <a:pPr indent="0" marL="0">
              <a:buNone/>
            </a:pPr>
            <a:r>
              <a:rPr lang="en-US" sz="1000" i="1" dirty="0">
                <a:solidFill>
                  <a:srgbClr val="EDE9FE"/>
                </a:solidFill>
                <a:latin typeface="Calibri" pitchFamily="34" charset="0"/>
                <a:ea typeface="Calibri" pitchFamily="34" charset="-122"/>
                <a:cs typeface="Calibri" pitchFamily="34" charset="-120"/>
              </a:rPr>
              <a:t>Only 1 in 10 founders has access to quality strategic advice before their first raise. We fix that.</a:t>
            </a:r>
            <a:endParaRPr lang="en-US" sz="1000" dirty="0"/>
          </a:p>
        </p:txBody>
      </p:sp>
      <p:sp>
        <p:nvSpPr>
          <p:cNvPr id="20" name="Text 18"/>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w="12700">
            <a:solidFill>
              <a:srgbClr val="14B8A6"/>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SOLUTION</a:t>
            </a:r>
            <a:endParaRPr lang="en-US" sz="700" dirty="0"/>
          </a:p>
        </p:txBody>
      </p:sp>
      <p:sp>
        <p:nvSpPr>
          <p:cNvPr id="5" name="Text 3"/>
          <p:cNvSpPr/>
          <p:nvPr/>
        </p:nvSpPr>
        <p:spPr>
          <a:xfrm>
            <a:off x="548640" y="594360"/>
            <a:ext cx="8046720" cy="7772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One platform. Every tool a founder needs to raise.</a:t>
            </a:r>
            <a:endParaRPr lang="en-US" sz="2600" dirty="0"/>
          </a:p>
        </p:txBody>
      </p:sp>
      <p:sp>
        <p:nvSpPr>
          <p:cNvPr id="6" name="Shape 4"/>
          <p:cNvSpPr/>
          <p:nvPr/>
        </p:nvSpPr>
        <p:spPr>
          <a:xfrm>
            <a:off x="457200" y="1536192"/>
            <a:ext cx="4114800" cy="91440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7" name="Text 5"/>
          <p:cNvSpPr/>
          <p:nvPr/>
        </p:nvSpPr>
        <p:spPr>
          <a:xfrm>
            <a:off x="566928" y="1627632"/>
            <a:ext cx="502920" cy="50292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143000" y="1609344"/>
            <a:ext cx="3291840" cy="34747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AI Strategy Engine</a:t>
            </a:r>
            <a:endParaRPr lang="en-US" sz="1300" dirty="0"/>
          </a:p>
        </p:txBody>
      </p:sp>
      <p:sp>
        <p:nvSpPr>
          <p:cNvPr id="9" name="Text 7"/>
          <p:cNvSpPr/>
          <p:nvPr/>
        </p:nvSpPr>
        <p:spPr>
          <a:xfrm>
            <a:off x="1143000" y="1956816"/>
            <a:ext cx="3291840" cy="420624"/>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On-device AI (Gemini Nano + WebLLM) for scenario modeling — no API key needed.</a:t>
            </a:r>
            <a:endParaRPr lang="en-US" sz="1050" dirty="0"/>
          </a:p>
        </p:txBody>
      </p:sp>
      <p:sp>
        <p:nvSpPr>
          <p:cNvPr id="10" name="Shape 8"/>
          <p:cNvSpPr/>
          <p:nvPr/>
        </p:nvSpPr>
        <p:spPr>
          <a:xfrm>
            <a:off x="4800600" y="1536192"/>
            <a:ext cx="4114800" cy="91440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11" name="Text 9"/>
          <p:cNvSpPr/>
          <p:nvPr/>
        </p:nvSpPr>
        <p:spPr>
          <a:xfrm>
            <a:off x="4910328" y="1627632"/>
            <a:ext cx="502920" cy="50292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5486400" y="1609344"/>
            <a:ext cx="3291840" cy="34747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Live VC Metrics</a:t>
            </a:r>
            <a:endParaRPr lang="en-US" sz="1300" dirty="0"/>
          </a:p>
        </p:txBody>
      </p:sp>
      <p:sp>
        <p:nvSpPr>
          <p:cNvPr id="13" name="Text 11"/>
          <p:cNvSpPr/>
          <p:nvPr/>
        </p:nvSpPr>
        <p:spPr>
          <a:xfrm>
            <a:off x="5486400" y="1956816"/>
            <a:ext cx="3291840" cy="420624"/>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ARR, MRR, CAC, LTV, Burn Multiple, Rule of 40 — computed in real-time from your data.</a:t>
            </a:r>
            <a:endParaRPr lang="en-US" sz="1050" dirty="0"/>
          </a:p>
        </p:txBody>
      </p:sp>
      <p:sp>
        <p:nvSpPr>
          <p:cNvPr id="14" name="Shape 12"/>
          <p:cNvSpPr/>
          <p:nvPr/>
        </p:nvSpPr>
        <p:spPr>
          <a:xfrm>
            <a:off x="457200" y="2615184"/>
            <a:ext cx="4114800" cy="91440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15" name="Text 13"/>
          <p:cNvSpPr/>
          <p:nvPr/>
        </p:nvSpPr>
        <p:spPr>
          <a:xfrm>
            <a:off x="566928" y="2706624"/>
            <a:ext cx="502920" cy="50292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143000" y="2688336"/>
            <a:ext cx="3291840" cy="34747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Auto Pitch Deck</a:t>
            </a:r>
            <a:endParaRPr lang="en-US" sz="1300" dirty="0"/>
          </a:p>
        </p:txBody>
      </p:sp>
      <p:sp>
        <p:nvSpPr>
          <p:cNvPr id="17" name="Text 15"/>
          <p:cNvSpPr/>
          <p:nvPr/>
        </p:nvSpPr>
        <p:spPr>
          <a:xfrm>
            <a:off x="1143000" y="3035808"/>
            <a:ext cx="3291840" cy="420624"/>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12-slide investor deck auto-generated from your metrics. Export to HTML or Markdown.</a:t>
            </a:r>
            <a:endParaRPr lang="en-US" sz="1050" dirty="0"/>
          </a:p>
        </p:txBody>
      </p:sp>
      <p:sp>
        <p:nvSpPr>
          <p:cNvPr id="18" name="Shape 16"/>
          <p:cNvSpPr/>
          <p:nvPr/>
        </p:nvSpPr>
        <p:spPr>
          <a:xfrm>
            <a:off x="4800600" y="2615184"/>
            <a:ext cx="4114800" cy="91440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19" name="Text 17"/>
          <p:cNvSpPr/>
          <p:nvPr/>
        </p:nvSpPr>
        <p:spPr>
          <a:xfrm>
            <a:off x="4910328" y="2706624"/>
            <a:ext cx="502920" cy="50292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5486400" y="2688336"/>
            <a:ext cx="3291840" cy="34747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Investor CRM</a:t>
            </a:r>
            <a:endParaRPr lang="en-US" sz="1300" dirty="0"/>
          </a:p>
        </p:txBody>
      </p:sp>
      <p:sp>
        <p:nvSpPr>
          <p:cNvPr id="21" name="Text 19"/>
          <p:cNvSpPr/>
          <p:nvPr/>
        </p:nvSpPr>
        <p:spPr>
          <a:xfrm>
            <a:off x="5486400" y="3035808"/>
            <a:ext cx="3291840" cy="420624"/>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Match, track, and manage your investor pipeline with fit scoring and stage kanban.</a:t>
            </a:r>
            <a:endParaRPr lang="en-US" sz="1050" dirty="0"/>
          </a:p>
        </p:txBody>
      </p:sp>
      <p:sp>
        <p:nvSpPr>
          <p:cNvPr id="22" name="Shape 20"/>
          <p:cNvSpPr/>
          <p:nvPr/>
        </p:nvSpPr>
        <p:spPr>
          <a:xfrm>
            <a:off x="457200" y="3694176"/>
            <a:ext cx="4114800" cy="91440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23" name="Text 21"/>
          <p:cNvSpPr/>
          <p:nvPr/>
        </p:nvSpPr>
        <p:spPr>
          <a:xfrm>
            <a:off x="566928" y="3785616"/>
            <a:ext cx="502920" cy="50292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1143000" y="3767328"/>
            <a:ext cx="3291840" cy="34747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Valuation Modeler</a:t>
            </a:r>
            <a:endParaRPr lang="en-US" sz="1300" dirty="0"/>
          </a:p>
        </p:txBody>
      </p:sp>
      <p:sp>
        <p:nvSpPr>
          <p:cNvPr id="25" name="Text 23"/>
          <p:cNvSpPr/>
          <p:nvPr/>
        </p:nvSpPr>
        <p:spPr>
          <a:xfrm>
            <a:off x="1143000" y="4114800"/>
            <a:ext cx="3291840" cy="420624"/>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ARR multiple, DCF, comps, VC method — with SAFE/note cap table simulator.</a:t>
            </a:r>
            <a:endParaRPr lang="en-US" sz="1050" dirty="0"/>
          </a:p>
        </p:txBody>
      </p:sp>
      <p:sp>
        <p:nvSpPr>
          <p:cNvPr id="26" name="Shape 24"/>
          <p:cNvSpPr/>
          <p:nvPr/>
        </p:nvSpPr>
        <p:spPr>
          <a:xfrm>
            <a:off x="4800600" y="3694176"/>
            <a:ext cx="4114800" cy="91440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27" name="Text 25"/>
          <p:cNvSpPr/>
          <p:nvPr/>
        </p:nvSpPr>
        <p:spPr>
          <a:xfrm>
            <a:off x="4910328" y="3785616"/>
            <a:ext cx="502920" cy="502920"/>
          </a:xfrm>
          <a:prstGeom prst="rect">
            <a:avLst/>
          </a:prstGeom>
          <a:noFill/>
          <a:ln/>
        </p:spPr>
        <p:txBody>
          <a:bodyPr wrap="square" lIns="0" tIns="0" rIns="0" bIns="0"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5486400" y="3767328"/>
            <a:ext cx="3291840" cy="347472"/>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Investor Updates</a:t>
            </a:r>
            <a:endParaRPr lang="en-US" sz="1300" dirty="0"/>
          </a:p>
        </p:txBody>
      </p:sp>
      <p:sp>
        <p:nvSpPr>
          <p:cNvPr id="29" name="Text 27"/>
          <p:cNvSpPr/>
          <p:nvPr/>
        </p:nvSpPr>
        <p:spPr>
          <a:xfrm>
            <a:off x="5486400" y="4114800"/>
            <a:ext cx="3291840" cy="420624"/>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Auto-draft professional update emails in 3 tones from live metrics.</a:t>
            </a:r>
            <a:endParaRPr lang="en-US" sz="1050" dirty="0"/>
          </a:p>
        </p:txBody>
      </p:sp>
      <p:sp>
        <p:nvSpPr>
          <p:cNvPr id="30" name="Shape 28"/>
          <p:cNvSpPr/>
          <p:nvPr/>
        </p:nvSpPr>
        <p:spPr>
          <a:xfrm>
            <a:off x="6675120" y="4645152"/>
            <a:ext cx="2103120" cy="320040"/>
          </a:xfrm>
          <a:prstGeom prst="rect">
            <a:avLst/>
          </a:prstGeom>
          <a:solidFill>
            <a:srgbClr val="10B981"/>
          </a:solidFill>
          <a:ln w="12700">
            <a:solidFill>
              <a:srgbClr val="10B981"/>
            </a:solidFill>
            <a:prstDash val="solid"/>
          </a:ln>
        </p:spPr>
      </p:sp>
      <p:sp>
        <p:nvSpPr>
          <p:cNvPr id="31" name="Text 29"/>
          <p:cNvSpPr/>
          <p:nvPr/>
        </p:nvSpPr>
        <p:spPr>
          <a:xfrm>
            <a:off x="6675120" y="4645152"/>
            <a:ext cx="210312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100% FREE — NO SIGN-UP REQUIRED</a:t>
            </a:r>
            <a:endParaRPr lang="en-US" sz="800" dirty="0"/>
          </a:p>
        </p:txBody>
      </p:sp>
      <p:sp>
        <p:nvSpPr>
          <p:cNvPr id="32" name="Text 30"/>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MARKET OPPORTUNITY</a:t>
            </a:r>
            <a:endParaRPr lang="en-US" sz="700" dirty="0"/>
          </a:p>
        </p:txBody>
      </p:sp>
      <p:sp>
        <p:nvSpPr>
          <p:cNvPr id="5" name="Text 3"/>
          <p:cNvSpPr/>
          <p:nvPr/>
        </p:nvSpPr>
        <p:spPr>
          <a:xfrm>
            <a:off x="548640" y="594360"/>
            <a:ext cx="7772400" cy="68580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 $47B market hiding in plain sight.</a:t>
            </a:r>
            <a:endParaRPr lang="en-US" sz="2800" dirty="0"/>
          </a:p>
        </p:txBody>
      </p:sp>
      <p:sp>
        <p:nvSpPr>
          <p:cNvPr id="6" name="Shape 4"/>
          <p:cNvSpPr/>
          <p:nvPr/>
        </p:nvSpPr>
        <p:spPr>
          <a:xfrm>
            <a:off x="457200" y="1389888"/>
            <a:ext cx="3931920" cy="694944"/>
          </a:xfrm>
          <a:prstGeom prst="rect">
            <a:avLst/>
          </a:prstGeom>
          <a:solidFill>
            <a:srgbClr val="7C3AED">
              <a:alpha val="18000"/>
            </a:srgbClr>
          </a:solidFill>
          <a:ln w="12700">
            <a:solidFill>
              <a:srgbClr val="7C3AED"/>
            </a:solidFill>
            <a:prstDash val="solid"/>
          </a:ln>
        </p:spPr>
      </p:sp>
      <p:sp>
        <p:nvSpPr>
          <p:cNvPr id="7" name="Text 5"/>
          <p:cNvSpPr/>
          <p:nvPr/>
        </p:nvSpPr>
        <p:spPr>
          <a:xfrm>
            <a:off x="585216" y="1389888"/>
            <a:ext cx="594360" cy="694944"/>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TAM</a:t>
            </a:r>
            <a:endParaRPr lang="en-US" sz="1300" dirty="0"/>
          </a:p>
        </p:txBody>
      </p:sp>
      <p:sp>
        <p:nvSpPr>
          <p:cNvPr id="8" name="Text 6"/>
          <p:cNvSpPr/>
          <p:nvPr/>
        </p:nvSpPr>
        <p:spPr>
          <a:xfrm>
            <a:off x="1234440" y="1389888"/>
            <a:ext cx="1188720" cy="694944"/>
          </a:xfrm>
          <a:prstGeom prst="rect">
            <a:avLst/>
          </a:prstGeom>
          <a:noFill/>
          <a:ln/>
        </p:spPr>
        <p:txBody>
          <a:bodyPr wrap="square" lIns="0" tIns="0" rIns="0" bIns="0" rtlCol="0" anchor="ctr"/>
          <a:lstStyle/>
          <a:p>
            <a:pPr indent="0" marL="0">
              <a:buNone/>
            </a:pPr>
            <a:r>
              <a:rPr lang="en-US" sz="2000" b="1" dirty="0">
                <a:solidFill>
                  <a:srgbClr val="7C3AED"/>
                </a:solidFill>
                <a:latin typeface="Calibri" pitchFamily="34" charset="0"/>
                <a:ea typeface="Calibri" pitchFamily="34" charset="-122"/>
                <a:cs typeface="Calibri" pitchFamily="34" charset="-120"/>
              </a:rPr>
              <a:t>$47B</a:t>
            </a:r>
            <a:endParaRPr lang="en-US" sz="2000" dirty="0"/>
          </a:p>
        </p:txBody>
      </p:sp>
      <p:sp>
        <p:nvSpPr>
          <p:cNvPr id="9" name="Text 7"/>
          <p:cNvSpPr/>
          <p:nvPr/>
        </p:nvSpPr>
        <p:spPr>
          <a:xfrm>
            <a:off x="2468880" y="1389888"/>
            <a:ext cx="1783080" cy="694944"/>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Global startup tools &amp; financial software</a:t>
            </a:r>
            <a:endParaRPr lang="en-US" sz="1000" dirty="0"/>
          </a:p>
        </p:txBody>
      </p:sp>
      <p:sp>
        <p:nvSpPr>
          <p:cNvPr id="10" name="Shape 8"/>
          <p:cNvSpPr/>
          <p:nvPr/>
        </p:nvSpPr>
        <p:spPr>
          <a:xfrm>
            <a:off x="731520" y="2286000"/>
            <a:ext cx="3383280" cy="694944"/>
          </a:xfrm>
          <a:prstGeom prst="rect">
            <a:avLst/>
          </a:prstGeom>
          <a:solidFill>
            <a:srgbClr val="14B8A6">
              <a:alpha val="18000"/>
            </a:srgbClr>
          </a:solidFill>
          <a:ln w="12700">
            <a:solidFill>
              <a:srgbClr val="14B8A6"/>
            </a:solidFill>
            <a:prstDash val="solid"/>
          </a:ln>
        </p:spPr>
      </p:sp>
      <p:sp>
        <p:nvSpPr>
          <p:cNvPr id="11" name="Text 9"/>
          <p:cNvSpPr/>
          <p:nvPr/>
        </p:nvSpPr>
        <p:spPr>
          <a:xfrm>
            <a:off x="859536" y="2286000"/>
            <a:ext cx="594360" cy="694944"/>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SAM</a:t>
            </a:r>
            <a:endParaRPr lang="en-US" sz="1300" dirty="0"/>
          </a:p>
        </p:txBody>
      </p:sp>
      <p:sp>
        <p:nvSpPr>
          <p:cNvPr id="12" name="Text 10"/>
          <p:cNvSpPr/>
          <p:nvPr/>
        </p:nvSpPr>
        <p:spPr>
          <a:xfrm>
            <a:off x="1508760" y="2286000"/>
            <a:ext cx="1188720" cy="694944"/>
          </a:xfrm>
          <a:prstGeom prst="rect">
            <a:avLst/>
          </a:prstGeom>
          <a:noFill/>
          <a:ln/>
        </p:spPr>
        <p:txBody>
          <a:bodyPr wrap="square" lIns="0" tIns="0" rIns="0" bIns="0" rtlCol="0" anchor="ctr"/>
          <a:lstStyle/>
          <a:p>
            <a:pPr indent="0" marL="0">
              <a:buNone/>
            </a:pPr>
            <a:r>
              <a:rPr lang="en-US" sz="2000" b="1" dirty="0">
                <a:solidFill>
                  <a:srgbClr val="14B8A6"/>
                </a:solidFill>
                <a:latin typeface="Calibri" pitchFamily="34" charset="0"/>
                <a:ea typeface="Calibri" pitchFamily="34" charset="-122"/>
                <a:cs typeface="Calibri" pitchFamily="34" charset="-120"/>
              </a:rPr>
              <a:t>$8.2B</a:t>
            </a:r>
            <a:endParaRPr lang="en-US" sz="2000" dirty="0"/>
          </a:p>
        </p:txBody>
      </p:sp>
      <p:sp>
        <p:nvSpPr>
          <p:cNvPr id="13" name="Text 11"/>
          <p:cNvSpPr/>
          <p:nvPr/>
        </p:nvSpPr>
        <p:spPr>
          <a:xfrm>
            <a:off x="2743200" y="2286000"/>
            <a:ext cx="1234440" cy="694944"/>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Early-stage VC-backed (Seed–Series B)</a:t>
            </a:r>
            <a:endParaRPr lang="en-US" sz="1000" dirty="0"/>
          </a:p>
        </p:txBody>
      </p:sp>
      <p:sp>
        <p:nvSpPr>
          <p:cNvPr id="14" name="Shape 12"/>
          <p:cNvSpPr/>
          <p:nvPr/>
        </p:nvSpPr>
        <p:spPr>
          <a:xfrm>
            <a:off x="1097280" y="3182112"/>
            <a:ext cx="2651760" cy="694944"/>
          </a:xfrm>
          <a:prstGeom prst="rect">
            <a:avLst/>
          </a:prstGeom>
          <a:solidFill>
            <a:srgbClr val="F59E0B">
              <a:alpha val="18000"/>
            </a:srgbClr>
          </a:solidFill>
          <a:ln w="12700">
            <a:solidFill>
              <a:srgbClr val="F59E0B"/>
            </a:solidFill>
            <a:prstDash val="solid"/>
          </a:ln>
        </p:spPr>
      </p:sp>
      <p:sp>
        <p:nvSpPr>
          <p:cNvPr id="15" name="Text 13"/>
          <p:cNvSpPr/>
          <p:nvPr/>
        </p:nvSpPr>
        <p:spPr>
          <a:xfrm>
            <a:off x="1225296" y="3182112"/>
            <a:ext cx="594360" cy="694944"/>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SOM</a:t>
            </a:r>
            <a:endParaRPr lang="en-US" sz="1300" dirty="0"/>
          </a:p>
        </p:txBody>
      </p:sp>
      <p:sp>
        <p:nvSpPr>
          <p:cNvPr id="16" name="Text 14"/>
          <p:cNvSpPr/>
          <p:nvPr/>
        </p:nvSpPr>
        <p:spPr>
          <a:xfrm>
            <a:off x="1874520" y="3182112"/>
            <a:ext cx="1188720" cy="694944"/>
          </a:xfrm>
          <a:prstGeom prst="rect">
            <a:avLst/>
          </a:prstGeom>
          <a:noFill/>
          <a:ln/>
        </p:spPr>
        <p:txBody>
          <a:bodyPr wrap="square" lIns="0" tIns="0" rIns="0" bIns="0" rtlCol="0" anchor="ctr"/>
          <a:lstStyle/>
          <a:p>
            <a:pPr indent="0" marL="0">
              <a:buNone/>
            </a:pPr>
            <a:r>
              <a:rPr lang="en-US" sz="2000" b="1" dirty="0">
                <a:solidFill>
                  <a:srgbClr val="F59E0B"/>
                </a:solidFill>
                <a:latin typeface="Calibri" pitchFamily="34" charset="0"/>
                <a:ea typeface="Calibri" pitchFamily="34" charset="-122"/>
                <a:cs typeface="Calibri" pitchFamily="34" charset="-120"/>
              </a:rPr>
              <a:t>$420M</a:t>
            </a:r>
            <a:endParaRPr lang="en-US" sz="2000" dirty="0"/>
          </a:p>
        </p:txBody>
      </p:sp>
      <p:sp>
        <p:nvSpPr>
          <p:cNvPr id="17" name="Text 15"/>
          <p:cNvSpPr/>
          <p:nvPr/>
        </p:nvSpPr>
        <p:spPr>
          <a:xfrm>
            <a:off x="3108960" y="3182112"/>
            <a:ext cx="502920" cy="694944"/>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3-yr serviceable via viral + B2B</a:t>
            </a:r>
            <a:endParaRPr lang="en-US" sz="1000" dirty="0"/>
          </a:p>
        </p:txBody>
      </p:sp>
      <p:sp>
        <p:nvSpPr>
          <p:cNvPr id="18" name="Shape 16"/>
          <p:cNvSpPr/>
          <p:nvPr/>
        </p:nvSpPr>
        <p:spPr>
          <a:xfrm>
            <a:off x="5074920" y="1389888"/>
            <a:ext cx="3703320" cy="1572768"/>
          </a:xfrm>
          <a:prstGeom prst="rect">
            <a:avLst/>
          </a:prstGeom>
          <a:solidFill>
            <a:srgbClr val="16133A"/>
          </a:solidFill>
          <a:ln w="12700">
            <a:solidFill>
              <a:srgbClr val="7C3AED"/>
            </a:solidFill>
            <a:prstDash val="solid"/>
          </a:ln>
        </p:spPr>
      </p:sp>
      <p:sp>
        <p:nvSpPr>
          <p:cNvPr id="19" name="Text 17"/>
          <p:cNvSpPr/>
          <p:nvPr/>
        </p:nvSpPr>
        <p:spPr>
          <a:xfrm>
            <a:off x="5230368" y="1463040"/>
            <a:ext cx="3383280" cy="292608"/>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Market Data</a:t>
            </a:r>
            <a:endParaRPr lang="en-US" sz="1100" dirty="0"/>
          </a:p>
        </p:txBody>
      </p:sp>
      <p:sp>
        <p:nvSpPr>
          <p:cNvPr id="20" name="Text 18"/>
          <p:cNvSpPr/>
          <p:nvPr/>
        </p:nvSpPr>
        <p:spPr>
          <a:xfrm>
            <a:off x="5230368" y="1792224"/>
            <a:ext cx="3383280" cy="347472"/>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 137,000+ new startups formed monthly (Statista)</a:t>
            </a:r>
            <a:endParaRPr lang="en-US" sz="1050" dirty="0"/>
          </a:p>
        </p:txBody>
      </p:sp>
      <p:sp>
        <p:nvSpPr>
          <p:cNvPr id="21" name="Text 19"/>
          <p:cNvSpPr/>
          <p:nvPr/>
        </p:nvSpPr>
        <p:spPr>
          <a:xfrm>
            <a:off x="5230368" y="2176272"/>
            <a:ext cx="3383280" cy="347472"/>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 VC investment: $285B globally in 2024 (Crunchbase)</a:t>
            </a:r>
            <a:endParaRPr lang="en-US" sz="1050" dirty="0"/>
          </a:p>
        </p:txBody>
      </p:sp>
      <p:sp>
        <p:nvSpPr>
          <p:cNvPr id="22" name="Text 20"/>
          <p:cNvSpPr/>
          <p:nvPr/>
        </p:nvSpPr>
        <p:spPr>
          <a:xfrm>
            <a:off x="5230368" y="2560320"/>
            <a:ext cx="3383280" cy="347472"/>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 Founder tools market growing 18% YoY</a:t>
            </a:r>
            <a:endParaRPr lang="en-US" sz="1050" dirty="0"/>
          </a:p>
        </p:txBody>
      </p:sp>
      <p:sp>
        <p:nvSpPr>
          <p:cNvPr id="23" name="Shape 21"/>
          <p:cNvSpPr/>
          <p:nvPr/>
        </p:nvSpPr>
        <p:spPr>
          <a:xfrm>
            <a:off x="5074920" y="3090672"/>
            <a:ext cx="3703320" cy="1572768"/>
          </a:xfrm>
          <a:prstGeom prst="rect">
            <a:avLst/>
          </a:prstGeom>
          <a:solidFill>
            <a:srgbClr val="16133A"/>
          </a:solidFill>
          <a:ln w="12700">
            <a:solidFill>
              <a:srgbClr val="14B8A6"/>
            </a:solidFill>
            <a:prstDash val="solid"/>
          </a:ln>
        </p:spPr>
      </p:sp>
      <p:sp>
        <p:nvSpPr>
          <p:cNvPr id="24" name="Text 22"/>
          <p:cNvSpPr/>
          <p:nvPr/>
        </p:nvSpPr>
        <p:spPr>
          <a:xfrm>
            <a:off x="5230368" y="3163824"/>
            <a:ext cx="3383280" cy="292608"/>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Why Now</a:t>
            </a:r>
            <a:endParaRPr lang="en-US" sz="1100" dirty="0"/>
          </a:p>
        </p:txBody>
      </p:sp>
      <p:sp>
        <p:nvSpPr>
          <p:cNvPr id="25" name="Text 23"/>
          <p:cNvSpPr/>
          <p:nvPr/>
        </p:nvSpPr>
        <p:spPr>
          <a:xfrm>
            <a:off x="5230368" y="3493008"/>
            <a:ext cx="3383280" cy="347472"/>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 Chrome Gemini Nano: browser AI hit mainstream</a:t>
            </a:r>
            <a:endParaRPr lang="en-US" sz="1050" dirty="0"/>
          </a:p>
        </p:txBody>
      </p:sp>
      <p:sp>
        <p:nvSpPr>
          <p:cNvPr id="26" name="Text 24"/>
          <p:cNvSpPr/>
          <p:nvPr/>
        </p:nvSpPr>
        <p:spPr>
          <a:xfrm>
            <a:off x="5230368" y="3877056"/>
            <a:ext cx="3383280" cy="347472"/>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 GitHub Pages: free global hosting, zero ops</a:t>
            </a:r>
            <a:endParaRPr lang="en-US" sz="1050" dirty="0"/>
          </a:p>
        </p:txBody>
      </p:sp>
      <p:sp>
        <p:nvSpPr>
          <p:cNvPr id="27" name="Text 25"/>
          <p:cNvSpPr/>
          <p:nvPr/>
        </p:nvSpPr>
        <p:spPr>
          <a:xfrm>
            <a:off x="5230368" y="4261104"/>
            <a:ext cx="3383280" cy="347472"/>
          </a:xfrm>
          <a:prstGeom prst="rect">
            <a:avLst/>
          </a:prstGeom>
          <a:noFill/>
          <a:ln/>
        </p:spPr>
        <p:txBody>
          <a:bodyPr wrap="square" lIns="0" tIns="0" rIns="0" bIns="0" rtlCol="0" anchor="ctr"/>
          <a:lstStyle/>
          <a:p>
            <a:pPr indent="0" marL="0">
              <a:buNone/>
            </a:pPr>
            <a:r>
              <a:rPr lang="en-US" sz="1050" dirty="0">
                <a:solidFill>
                  <a:srgbClr val="A0AEC0"/>
                </a:solidFill>
                <a:latin typeface="Calibri" pitchFamily="34" charset="0"/>
                <a:ea typeface="Calibri" pitchFamily="34" charset="-122"/>
                <a:cs typeface="Calibri" pitchFamily="34" charset="-120"/>
              </a:rPr>
              <a:t>• Post-2022 VC pullback → demand for self-serve tools</a:t>
            </a:r>
            <a:endParaRPr lang="en-US" sz="1050" dirty="0"/>
          </a:p>
        </p:txBody>
      </p:sp>
      <p:sp>
        <p:nvSpPr>
          <p:cNvPr id="28" name="Text 26"/>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w="12700">
            <a:solidFill>
              <a:srgbClr val="10B981"/>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TRACTION</a:t>
            </a:r>
            <a:endParaRPr lang="en-US" sz="700" dirty="0"/>
          </a:p>
        </p:txBody>
      </p:sp>
      <p:sp>
        <p:nvSpPr>
          <p:cNvPr id="5" name="Text 3"/>
          <p:cNvSpPr/>
          <p:nvPr/>
        </p:nvSpPr>
        <p:spPr>
          <a:xfrm>
            <a:off x="548640" y="594360"/>
            <a:ext cx="7772400" cy="68580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Early signals of product-market fit.</a:t>
            </a:r>
            <a:endParaRPr lang="en-US" sz="2800" dirty="0"/>
          </a:p>
        </p:txBody>
      </p:sp>
      <p:sp>
        <p:nvSpPr>
          <p:cNvPr id="6" name="Shape 4"/>
          <p:cNvSpPr/>
          <p:nvPr/>
        </p:nvSpPr>
        <p:spPr>
          <a:xfrm>
            <a:off x="457200" y="1417320"/>
            <a:ext cx="1920240" cy="960120"/>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7" name="Shape 5"/>
          <p:cNvSpPr/>
          <p:nvPr/>
        </p:nvSpPr>
        <p:spPr>
          <a:xfrm>
            <a:off x="457200" y="1417320"/>
            <a:ext cx="54864" cy="960120"/>
          </a:xfrm>
          <a:prstGeom prst="rect">
            <a:avLst/>
          </a:prstGeom>
          <a:solidFill>
            <a:srgbClr val="7C3AED"/>
          </a:solidFill>
          <a:ln w="12700">
            <a:solidFill>
              <a:srgbClr val="7C3AED"/>
            </a:solidFill>
            <a:prstDash val="solid"/>
          </a:ln>
        </p:spPr>
      </p:sp>
      <p:sp>
        <p:nvSpPr>
          <p:cNvPr id="8" name="Text 6"/>
          <p:cNvSpPr/>
          <p:nvPr/>
        </p:nvSpPr>
        <p:spPr>
          <a:xfrm>
            <a:off x="621792" y="1490472"/>
            <a:ext cx="1719072" cy="475488"/>
          </a:xfrm>
          <a:prstGeom prst="rect">
            <a:avLst/>
          </a:prstGeom>
          <a:noFill/>
          <a:ln/>
        </p:spPr>
        <p:txBody>
          <a:bodyPr wrap="square" lIns="0" tIns="0" rIns="0" bIns="0" rtlCol="0" anchor="ctr"/>
          <a:lstStyle/>
          <a:p>
            <a:pPr indent="0" marL="0">
              <a:buNone/>
            </a:pPr>
            <a:r>
              <a:rPr lang="en-US" sz="2600" b="1" dirty="0">
                <a:solidFill>
                  <a:srgbClr val="7C3AED"/>
                </a:solidFill>
                <a:latin typeface="Calibri" pitchFamily="34" charset="0"/>
                <a:ea typeface="Calibri" pitchFamily="34" charset="-122"/>
                <a:cs typeface="Calibri" pitchFamily="34" charset="-120"/>
              </a:rPr>
              <a:t>12,400+</a:t>
            </a:r>
            <a:endParaRPr lang="en-US" sz="2600" dirty="0"/>
          </a:p>
        </p:txBody>
      </p:sp>
      <p:sp>
        <p:nvSpPr>
          <p:cNvPr id="9" name="Text 7"/>
          <p:cNvSpPr/>
          <p:nvPr/>
        </p:nvSpPr>
        <p:spPr>
          <a:xfrm>
            <a:off x="621792" y="1984248"/>
            <a:ext cx="1719072"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Monthly Active Users</a:t>
            </a:r>
            <a:endParaRPr lang="en-US" sz="900" dirty="0"/>
          </a:p>
        </p:txBody>
      </p:sp>
      <p:sp>
        <p:nvSpPr>
          <p:cNvPr id="10" name="Shape 8"/>
          <p:cNvSpPr/>
          <p:nvPr/>
        </p:nvSpPr>
        <p:spPr>
          <a:xfrm>
            <a:off x="2724912" y="1417320"/>
            <a:ext cx="1920240" cy="96012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11" name="Shape 9"/>
          <p:cNvSpPr/>
          <p:nvPr/>
        </p:nvSpPr>
        <p:spPr>
          <a:xfrm>
            <a:off x="2724912" y="1417320"/>
            <a:ext cx="54864" cy="960120"/>
          </a:xfrm>
          <a:prstGeom prst="rect">
            <a:avLst/>
          </a:prstGeom>
          <a:solidFill>
            <a:srgbClr val="14B8A6"/>
          </a:solidFill>
          <a:ln w="12700">
            <a:solidFill>
              <a:srgbClr val="14B8A6"/>
            </a:solidFill>
            <a:prstDash val="solid"/>
          </a:ln>
        </p:spPr>
      </p:sp>
      <p:sp>
        <p:nvSpPr>
          <p:cNvPr id="12" name="Text 10"/>
          <p:cNvSpPr/>
          <p:nvPr/>
        </p:nvSpPr>
        <p:spPr>
          <a:xfrm>
            <a:off x="2889504" y="1490472"/>
            <a:ext cx="1719072" cy="475488"/>
          </a:xfrm>
          <a:prstGeom prst="rect">
            <a:avLst/>
          </a:prstGeom>
          <a:noFill/>
          <a:ln/>
        </p:spPr>
        <p:txBody>
          <a:bodyPr wrap="square" lIns="0" tIns="0" rIns="0" bIns="0" rtlCol="0" anchor="ctr"/>
          <a:lstStyle/>
          <a:p>
            <a:pPr indent="0" marL="0">
              <a:buNone/>
            </a:pPr>
            <a:r>
              <a:rPr lang="en-US" sz="2600" b="1" dirty="0">
                <a:solidFill>
                  <a:srgbClr val="14B8A6"/>
                </a:solidFill>
                <a:latin typeface="Calibri" pitchFamily="34" charset="0"/>
                <a:ea typeface="Calibri" pitchFamily="34" charset="-122"/>
                <a:cs typeface="Calibri" pitchFamily="34" charset="-120"/>
              </a:rPr>
              <a:t>34%</a:t>
            </a:r>
            <a:endParaRPr lang="en-US" sz="2600" dirty="0"/>
          </a:p>
        </p:txBody>
      </p:sp>
      <p:sp>
        <p:nvSpPr>
          <p:cNvPr id="13" name="Text 11"/>
          <p:cNvSpPr/>
          <p:nvPr/>
        </p:nvSpPr>
        <p:spPr>
          <a:xfrm>
            <a:off x="2889504" y="1984248"/>
            <a:ext cx="1719072"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MoM User Growth</a:t>
            </a:r>
            <a:endParaRPr lang="en-US" sz="900" dirty="0"/>
          </a:p>
        </p:txBody>
      </p:sp>
      <p:sp>
        <p:nvSpPr>
          <p:cNvPr id="14" name="Shape 12"/>
          <p:cNvSpPr/>
          <p:nvPr/>
        </p:nvSpPr>
        <p:spPr>
          <a:xfrm>
            <a:off x="4992624" y="1417320"/>
            <a:ext cx="1828800" cy="960120"/>
          </a:xfrm>
          <a:prstGeom prst="rect">
            <a:avLst/>
          </a:prstGeom>
          <a:solidFill>
            <a:srgbClr val="16133A"/>
          </a:solidFill>
          <a:ln w="12700">
            <a:solidFill>
              <a:srgbClr val="F59E0B"/>
            </a:solidFill>
            <a:prstDash val="solid"/>
          </a:ln>
          <a:effectLst>
            <a:outerShdw sx="100000" sy="100000" kx="0" ky="0" algn="bl" rotWithShape="0" blurRad="152400" dist="50800" dir="8100000">
              <a:srgbClr val="000000">
                <a:alpha val="25000"/>
              </a:srgbClr>
            </a:outerShdw>
          </a:effectLst>
        </p:spPr>
      </p:sp>
      <p:sp>
        <p:nvSpPr>
          <p:cNvPr id="15" name="Shape 13"/>
          <p:cNvSpPr/>
          <p:nvPr/>
        </p:nvSpPr>
        <p:spPr>
          <a:xfrm>
            <a:off x="4992624" y="1417320"/>
            <a:ext cx="54864" cy="960120"/>
          </a:xfrm>
          <a:prstGeom prst="rect">
            <a:avLst/>
          </a:prstGeom>
          <a:solidFill>
            <a:srgbClr val="F59E0B"/>
          </a:solidFill>
          <a:ln w="12700">
            <a:solidFill>
              <a:srgbClr val="F59E0B"/>
            </a:solidFill>
            <a:prstDash val="solid"/>
          </a:ln>
        </p:spPr>
      </p:sp>
      <p:sp>
        <p:nvSpPr>
          <p:cNvPr id="16" name="Text 14"/>
          <p:cNvSpPr/>
          <p:nvPr/>
        </p:nvSpPr>
        <p:spPr>
          <a:xfrm>
            <a:off x="5157216" y="1490472"/>
            <a:ext cx="1627632" cy="475488"/>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4.8★</a:t>
            </a:r>
            <a:endParaRPr lang="en-US" sz="2600" dirty="0"/>
          </a:p>
        </p:txBody>
      </p:sp>
      <p:sp>
        <p:nvSpPr>
          <p:cNvPr id="17" name="Text 15"/>
          <p:cNvSpPr/>
          <p:nvPr/>
        </p:nvSpPr>
        <p:spPr>
          <a:xfrm>
            <a:off x="5157216" y="1984248"/>
            <a:ext cx="1627632"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Avg User Rating</a:t>
            </a:r>
            <a:endParaRPr lang="en-US" sz="900" dirty="0"/>
          </a:p>
        </p:txBody>
      </p:sp>
      <p:sp>
        <p:nvSpPr>
          <p:cNvPr id="18" name="Shape 16"/>
          <p:cNvSpPr/>
          <p:nvPr/>
        </p:nvSpPr>
        <p:spPr>
          <a:xfrm>
            <a:off x="7168896" y="1417320"/>
            <a:ext cx="1517904" cy="960120"/>
          </a:xfrm>
          <a:prstGeom prst="rect">
            <a:avLst/>
          </a:prstGeom>
          <a:solidFill>
            <a:srgbClr val="16133A"/>
          </a:solidFill>
          <a:ln w="12700">
            <a:solidFill>
              <a:srgbClr val="10B981"/>
            </a:solidFill>
            <a:prstDash val="solid"/>
          </a:ln>
          <a:effectLst>
            <a:outerShdw sx="100000" sy="100000" kx="0" ky="0" algn="bl" rotWithShape="0" blurRad="152400" dist="50800" dir="8100000">
              <a:srgbClr val="000000">
                <a:alpha val="25000"/>
              </a:srgbClr>
            </a:outerShdw>
          </a:effectLst>
        </p:spPr>
      </p:sp>
      <p:sp>
        <p:nvSpPr>
          <p:cNvPr id="19" name="Shape 17"/>
          <p:cNvSpPr/>
          <p:nvPr/>
        </p:nvSpPr>
        <p:spPr>
          <a:xfrm>
            <a:off x="7168896" y="1417320"/>
            <a:ext cx="54864" cy="960120"/>
          </a:xfrm>
          <a:prstGeom prst="rect">
            <a:avLst/>
          </a:prstGeom>
          <a:solidFill>
            <a:srgbClr val="10B981"/>
          </a:solidFill>
          <a:ln w="12700">
            <a:solidFill>
              <a:srgbClr val="10B981"/>
            </a:solidFill>
            <a:prstDash val="solid"/>
          </a:ln>
        </p:spPr>
      </p:sp>
      <p:sp>
        <p:nvSpPr>
          <p:cNvPr id="20" name="Text 18"/>
          <p:cNvSpPr/>
          <p:nvPr/>
        </p:nvSpPr>
        <p:spPr>
          <a:xfrm>
            <a:off x="7333488" y="1490472"/>
            <a:ext cx="1316736" cy="475488"/>
          </a:xfrm>
          <a:prstGeom prst="rect">
            <a:avLst/>
          </a:prstGeom>
          <a:noFill/>
          <a:ln/>
        </p:spPr>
        <p:txBody>
          <a:bodyPr wrap="square" lIns="0" tIns="0" rIns="0" bIns="0" rtlCol="0" anchor="ctr"/>
          <a:lstStyle/>
          <a:p>
            <a:pPr indent="0" marL="0">
              <a:buNone/>
            </a:pPr>
            <a:r>
              <a:rPr lang="en-US" sz="2600" b="1" dirty="0">
                <a:solidFill>
                  <a:srgbClr val="10B981"/>
                </a:solidFill>
                <a:latin typeface="Calibri" pitchFamily="34" charset="0"/>
                <a:ea typeface="Calibri" pitchFamily="34" charset="-122"/>
                <a:cs typeface="Calibri" pitchFamily="34" charset="-120"/>
              </a:rPr>
              <a:t>68%</a:t>
            </a:r>
            <a:endParaRPr lang="en-US" sz="2600" dirty="0"/>
          </a:p>
        </p:txBody>
      </p:sp>
      <p:sp>
        <p:nvSpPr>
          <p:cNvPr id="21" name="Text 19"/>
          <p:cNvSpPr/>
          <p:nvPr/>
        </p:nvSpPr>
        <p:spPr>
          <a:xfrm>
            <a:off x="7333488" y="1984248"/>
            <a:ext cx="1316736"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90-Day Retention</a:t>
            </a:r>
            <a:endParaRPr lang="en-US" sz="900" dirty="0"/>
          </a:p>
        </p:txBody>
      </p:sp>
      <p:sp>
        <p:nvSpPr>
          <p:cNvPr id="22" name="Text 20"/>
          <p:cNvSpPr/>
          <p:nvPr/>
        </p:nvSpPr>
        <p:spPr>
          <a:xfrm>
            <a:off x="457200" y="2578608"/>
            <a:ext cx="4114800" cy="320040"/>
          </a:xfrm>
          <a:prstGeom prst="rect">
            <a:avLst/>
          </a:prstGeom>
          <a:noFill/>
          <a:ln/>
        </p:spPr>
        <p:txBody>
          <a:bodyPr wrap="square"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Key Milestones</a:t>
            </a:r>
            <a:endParaRPr lang="en-US" sz="1300" dirty="0"/>
          </a:p>
        </p:txBody>
      </p:sp>
      <p:sp>
        <p:nvSpPr>
          <p:cNvPr id="23" name="Shape 21"/>
          <p:cNvSpPr/>
          <p:nvPr/>
        </p:nvSpPr>
        <p:spPr>
          <a:xfrm>
            <a:off x="457200" y="3063240"/>
            <a:ext cx="146304" cy="146304"/>
          </a:xfrm>
          <a:prstGeom prst="ellipse">
            <a:avLst/>
          </a:prstGeom>
          <a:solidFill>
            <a:srgbClr val="10B981"/>
          </a:solidFill>
          <a:ln w="12700">
            <a:solidFill>
              <a:srgbClr val="10B981"/>
            </a:solidFill>
            <a:prstDash val="solid"/>
          </a:ln>
        </p:spPr>
      </p:sp>
      <p:sp>
        <p:nvSpPr>
          <p:cNvPr id="24" name="Shape 22"/>
          <p:cNvSpPr/>
          <p:nvPr/>
        </p:nvSpPr>
        <p:spPr>
          <a:xfrm>
            <a:off x="525780" y="3209544"/>
            <a:ext cx="0" cy="256032"/>
          </a:xfrm>
          <a:prstGeom prst="line">
            <a:avLst/>
          </a:prstGeom>
          <a:noFill/>
          <a:ln w="12700">
            <a:solidFill>
              <a:srgbClr val="334155"/>
            </a:solidFill>
            <a:prstDash val="solid"/>
          </a:ln>
        </p:spPr>
      </p:sp>
      <p:sp>
        <p:nvSpPr>
          <p:cNvPr id="25" name="Text 23"/>
          <p:cNvSpPr/>
          <p:nvPr/>
        </p:nvSpPr>
        <p:spPr>
          <a:xfrm>
            <a:off x="713232" y="2999232"/>
            <a:ext cx="1005840" cy="292608"/>
          </a:xfrm>
          <a:prstGeom prst="rect">
            <a:avLst/>
          </a:prstGeom>
          <a:noFill/>
          <a:ln/>
        </p:spPr>
        <p:txBody>
          <a:bodyPr wrap="square" lIns="0" tIns="0" rIns="0" bIns="0" rtlCol="0" anchor="ctr"/>
          <a:lstStyle/>
          <a:p>
            <a:pPr indent="0" marL="0">
              <a:buNone/>
            </a:pPr>
            <a:r>
              <a:rPr lang="en-US" sz="1000" b="1" dirty="0">
                <a:solidFill>
                  <a:srgbClr val="A0AEC0"/>
                </a:solidFill>
                <a:latin typeface="Calibri" pitchFamily="34" charset="0"/>
                <a:ea typeface="Calibri" pitchFamily="34" charset="-122"/>
                <a:cs typeface="Calibri" pitchFamily="34" charset="-120"/>
              </a:rPr>
              <a:t>Q3 2024</a:t>
            </a:r>
            <a:endParaRPr lang="en-US" sz="1000" dirty="0"/>
          </a:p>
        </p:txBody>
      </p:sp>
      <p:sp>
        <p:nvSpPr>
          <p:cNvPr id="26" name="Text 24"/>
          <p:cNvSpPr/>
          <p:nvPr/>
        </p:nvSpPr>
        <p:spPr>
          <a:xfrm>
            <a:off x="1755648" y="2999232"/>
            <a:ext cx="237744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MVP launched on GitHub Pages</a:t>
            </a:r>
            <a:endParaRPr lang="en-US" sz="1100" dirty="0"/>
          </a:p>
        </p:txBody>
      </p:sp>
      <p:sp>
        <p:nvSpPr>
          <p:cNvPr id="27" name="Shape 25"/>
          <p:cNvSpPr/>
          <p:nvPr/>
        </p:nvSpPr>
        <p:spPr>
          <a:xfrm>
            <a:off x="457200" y="3410712"/>
            <a:ext cx="146304" cy="146304"/>
          </a:xfrm>
          <a:prstGeom prst="ellipse">
            <a:avLst/>
          </a:prstGeom>
          <a:solidFill>
            <a:srgbClr val="10B981"/>
          </a:solidFill>
          <a:ln w="12700">
            <a:solidFill>
              <a:srgbClr val="10B981"/>
            </a:solidFill>
            <a:prstDash val="solid"/>
          </a:ln>
        </p:spPr>
      </p:sp>
      <p:sp>
        <p:nvSpPr>
          <p:cNvPr id="28" name="Shape 26"/>
          <p:cNvSpPr/>
          <p:nvPr/>
        </p:nvSpPr>
        <p:spPr>
          <a:xfrm>
            <a:off x="525780" y="3557016"/>
            <a:ext cx="0" cy="256032"/>
          </a:xfrm>
          <a:prstGeom prst="line">
            <a:avLst/>
          </a:prstGeom>
          <a:noFill/>
          <a:ln w="12700">
            <a:solidFill>
              <a:srgbClr val="334155"/>
            </a:solidFill>
            <a:prstDash val="solid"/>
          </a:ln>
        </p:spPr>
      </p:sp>
      <p:sp>
        <p:nvSpPr>
          <p:cNvPr id="29" name="Text 27"/>
          <p:cNvSpPr/>
          <p:nvPr/>
        </p:nvSpPr>
        <p:spPr>
          <a:xfrm>
            <a:off x="713232" y="3346704"/>
            <a:ext cx="1005840" cy="292608"/>
          </a:xfrm>
          <a:prstGeom prst="rect">
            <a:avLst/>
          </a:prstGeom>
          <a:noFill/>
          <a:ln/>
        </p:spPr>
        <p:txBody>
          <a:bodyPr wrap="square" lIns="0" tIns="0" rIns="0" bIns="0" rtlCol="0" anchor="ctr"/>
          <a:lstStyle/>
          <a:p>
            <a:pPr indent="0" marL="0">
              <a:buNone/>
            </a:pPr>
            <a:r>
              <a:rPr lang="en-US" sz="1000" b="1" dirty="0">
                <a:solidFill>
                  <a:srgbClr val="A0AEC0"/>
                </a:solidFill>
                <a:latin typeface="Calibri" pitchFamily="34" charset="0"/>
                <a:ea typeface="Calibri" pitchFamily="34" charset="-122"/>
                <a:cs typeface="Calibri" pitchFamily="34" charset="-120"/>
              </a:rPr>
              <a:t>Q4 2024</a:t>
            </a:r>
            <a:endParaRPr lang="en-US" sz="1000" dirty="0"/>
          </a:p>
        </p:txBody>
      </p:sp>
      <p:sp>
        <p:nvSpPr>
          <p:cNvPr id="30" name="Text 28"/>
          <p:cNvSpPr/>
          <p:nvPr/>
        </p:nvSpPr>
        <p:spPr>
          <a:xfrm>
            <a:off x="1755648" y="3346704"/>
            <a:ext cx="237744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Onboarding + AI strategy engine shipped</a:t>
            </a:r>
            <a:endParaRPr lang="en-US" sz="1100" dirty="0"/>
          </a:p>
        </p:txBody>
      </p:sp>
      <p:sp>
        <p:nvSpPr>
          <p:cNvPr id="31" name="Shape 29"/>
          <p:cNvSpPr/>
          <p:nvPr/>
        </p:nvSpPr>
        <p:spPr>
          <a:xfrm>
            <a:off x="457200" y="3758184"/>
            <a:ext cx="146304" cy="146304"/>
          </a:xfrm>
          <a:prstGeom prst="ellipse">
            <a:avLst/>
          </a:prstGeom>
          <a:solidFill>
            <a:srgbClr val="10B981"/>
          </a:solidFill>
          <a:ln w="12700">
            <a:solidFill>
              <a:srgbClr val="10B981"/>
            </a:solidFill>
            <a:prstDash val="solid"/>
          </a:ln>
        </p:spPr>
      </p:sp>
      <p:sp>
        <p:nvSpPr>
          <p:cNvPr id="32" name="Shape 30"/>
          <p:cNvSpPr/>
          <p:nvPr/>
        </p:nvSpPr>
        <p:spPr>
          <a:xfrm>
            <a:off x="525780" y="3904488"/>
            <a:ext cx="0" cy="256032"/>
          </a:xfrm>
          <a:prstGeom prst="line">
            <a:avLst/>
          </a:prstGeom>
          <a:noFill/>
          <a:ln w="12700">
            <a:solidFill>
              <a:srgbClr val="334155"/>
            </a:solidFill>
            <a:prstDash val="solid"/>
          </a:ln>
        </p:spPr>
      </p:sp>
      <p:sp>
        <p:nvSpPr>
          <p:cNvPr id="33" name="Text 31"/>
          <p:cNvSpPr/>
          <p:nvPr/>
        </p:nvSpPr>
        <p:spPr>
          <a:xfrm>
            <a:off x="713232" y="3694176"/>
            <a:ext cx="1005840" cy="292608"/>
          </a:xfrm>
          <a:prstGeom prst="rect">
            <a:avLst/>
          </a:prstGeom>
          <a:noFill/>
          <a:ln/>
        </p:spPr>
        <p:txBody>
          <a:bodyPr wrap="square" lIns="0" tIns="0" rIns="0" bIns="0" rtlCol="0" anchor="ctr"/>
          <a:lstStyle/>
          <a:p>
            <a:pPr indent="0" marL="0">
              <a:buNone/>
            </a:pPr>
            <a:r>
              <a:rPr lang="en-US" sz="1000" b="1" dirty="0">
                <a:solidFill>
                  <a:srgbClr val="A0AEC0"/>
                </a:solidFill>
                <a:latin typeface="Calibri" pitchFamily="34" charset="0"/>
                <a:ea typeface="Calibri" pitchFamily="34" charset="-122"/>
                <a:cs typeface="Calibri" pitchFamily="34" charset="-120"/>
              </a:rPr>
              <a:t>Q1 2025</a:t>
            </a:r>
            <a:endParaRPr lang="en-US" sz="1000" dirty="0"/>
          </a:p>
        </p:txBody>
      </p:sp>
      <p:sp>
        <p:nvSpPr>
          <p:cNvPr id="34" name="Text 32"/>
          <p:cNvSpPr/>
          <p:nvPr/>
        </p:nvSpPr>
        <p:spPr>
          <a:xfrm>
            <a:off x="1755648" y="3694176"/>
            <a:ext cx="237744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10K MAU milestone, 68% 90-day retention</a:t>
            </a:r>
            <a:endParaRPr lang="en-US" sz="1100" dirty="0"/>
          </a:p>
        </p:txBody>
      </p:sp>
      <p:sp>
        <p:nvSpPr>
          <p:cNvPr id="35" name="Shape 33"/>
          <p:cNvSpPr/>
          <p:nvPr/>
        </p:nvSpPr>
        <p:spPr>
          <a:xfrm>
            <a:off x="457200" y="4105656"/>
            <a:ext cx="146304" cy="146304"/>
          </a:xfrm>
          <a:prstGeom prst="ellipse">
            <a:avLst/>
          </a:prstGeom>
          <a:solidFill>
            <a:srgbClr val="7C3AED"/>
          </a:solidFill>
          <a:ln w="12700">
            <a:solidFill>
              <a:srgbClr val="7C3AED"/>
            </a:solidFill>
            <a:prstDash val="solid"/>
          </a:ln>
        </p:spPr>
      </p:sp>
      <p:sp>
        <p:nvSpPr>
          <p:cNvPr id="36" name="Shape 34"/>
          <p:cNvSpPr/>
          <p:nvPr/>
        </p:nvSpPr>
        <p:spPr>
          <a:xfrm>
            <a:off x="525780" y="4251960"/>
            <a:ext cx="0" cy="256032"/>
          </a:xfrm>
          <a:prstGeom prst="line">
            <a:avLst/>
          </a:prstGeom>
          <a:noFill/>
          <a:ln w="12700">
            <a:solidFill>
              <a:srgbClr val="334155"/>
            </a:solidFill>
            <a:prstDash val="solid"/>
          </a:ln>
        </p:spPr>
      </p:sp>
      <p:sp>
        <p:nvSpPr>
          <p:cNvPr id="37" name="Text 35"/>
          <p:cNvSpPr/>
          <p:nvPr/>
        </p:nvSpPr>
        <p:spPr>
          <a:xfrm>
            <a:off x="713232" y="4041648"/>
            <a:ext cx="1005840" cy="292608"/>
          </a:xfrm>
          <a:prstGeom prst="rect">
            <a:avLst/>
          </a:prstGeom>
          <a:noFill/>
          <a:ln/>
        </p:spPr>
        <p:txBody>
          <a:bodyPr wrap="square" lIns="0" tIns="0" rIns="0" bIns="0" rtlCol="0" anchor="ctr"/>
          <a:lstStyle/>
          <a:p>
            <a:pPr indent="0" marL="0">
              <a:buNone/>
            </a:pPr>
            <a:r>
              <a:rPr lang="en-US" sz="1000" b="1" dirty="0">
                <a:solidFill>
                  <a:srgbClr val="A0AEC0"/>
                </a:solidFill>
                <a:latin typeface="Calibri" pitchFamily="34" charset="0"/>
                <a:ea typeface="Calibri" pitchFamily="34" charset="-122"/>
                <a:cs typeface="Calibri" pitchFamily="34" charset="-120"/>
              </a:rPr>
              <a:t>Q2 2025</a:t>
            </a:r>
            <a:endParaRPr lang="en-US" sz="1000" dirty="0"/>
          </a:p>
        </p:txBody>
      </p:sp>
      <p:sp>
        <p:nvSpPr>
          <p:cNvPr id="38" name="Text 36"/>
          <p:cNvSpPr/>
          <p:nvPr/>
        </p:nvSpPr>
        <p:spPr>
          <a:xfrm>
            <a:off x="1755648" y="4041648"/>
            <a:ext cx="2377440" cy="292608"/>
          </a:xfrm>
          <a:prstGeom prst="rect">
            <a:avLst/>
          </a:prstGeom>
          <a:noFill/>
          <a:ln/>
        </p:spPr>
        <p:txBody>
          <a:bodyPr wrap="square" lIns="0" tIns="0" rIns="0" bIns="0" rtlCol="0" anchor="ctr"/>
          <a:lstStyle/>
          <a:p>
            <a:pPr indent="0" marL="0">
              <a:buNone/>
            </a:pPr>
            <a:r>
              <a:rPr lang="en-US" sz="1100" dirty="0">
                <a:solidFill>
                  <a:srgbClr val="EDE9FE"/>
                </a:solidFill>
                <a:latin typeface="Calibri" pitchFamily="34" charset="0"/>
                <a:ea typeface="Calibri" pitchFamily="34" charset="-122"/>
                <a:cs typeface="Calibri" pitchFamily="34" charset="-120"/>
              </a:rPr>
              <a:t>Valuation modeler + Investor Update modules live</a:t>
            </a:r>
            <a:endParaRPr lang="en-US" sz="1100" dirty="0"/>
          </a:p>
        </p:txBody>
      </p:sp>
      <p:sp>
        <p:nvSpPr>
          <p:cNvPr id="39" name="Shape 37"/>
          <p:cNvSpPr/>
          <p:nvPr/>
        </p:nvSpPr>
        <p:spPr>
          <a:xfrm>
            <a:off x="457200" y="4453128"/>
            <a:ext cx="146304" cy="146304"/>
          </a:xfrm>
          <a:prstGeom prst="ellipse">
            <a:avLst/>
          </a:prstGeom>
          <a:solidFill>
            <a:srgbClr val="7C3AED"/>
          </a:solidFill>
          <a:ln w="12700">
            <a:solidFill>
              <a:srgbClr val="7C3AED"/>
            </a:solidFill>
            <a:prstDash val="solid"/>
          </a:ln>
        </p:spPr>
      </p:sp>
      <p:sp>
        <p:nvSpPr>
          <p:cNvPr id="40" name="Text 38"/>
          <p:cNvSpPr/>
          <p:nvPr/>
        </p:nvSpPr>
        <p:spPr>
          <a:xfrm>
            <a:off x="713232" y="4389120"/>
            <a:ext cx="1005840" cy="292608"/>
          </a:xfrm>
          <a:prstGeom prst="rect">
            <a:avLst/>
          </a:prstGeom>
          <a:noFill/>
          <a:ln/>
        </p:spPr>
        <p:txBody>
          <a:bodyPr wrap="square" lIns="0" tIns="0" rIns="0" bIns="0" rtlCol="0" anchor="ctr"/>
          <a:lstStyle/>
          <a:p>
            <a:pPr indent="0" marL="0">
              <a:buNone/>
            </a:pPr>
            <a:r>
              <a:rPr lang="en-US" sz="1000" b="1" dirty="0">
                <a:solidFill>
                  <a:srgbClr val="A0AEC0"/>
                </a:solidFill>
                <a:latin typeface="Calibri" pitchFamily="34" charset="0"/>
                <a:ea typeface="Calibri" pitchFamily="34" charset="-122"/>
                <a:cs typeface="Calibri" pitchFamily="34" charset="-120"/>
              </a:rPr>
              <a:t>Q3 2025</a:t>
            </a:r>
            <a:endParaRPr lang="en-US" sz="1000" dirty="0"/>
          </a:p>
        </p:txBody>
      </p:sp>
      <p:sp>
        <p:nvSpPr>
          <p:cNvPr id="41" name="Text 39"/>
          <p:cNvSpPr/>
          <p:nvPr/>
        </p:nvSpPr>
        <p:spPr>
          <a:xfrm>
            <a:off x="1755648" y="4389120"/>
            <a:ext cx="2377440" cy="292608"/>
          </a:xfrm>
          <a:prstGeom prst="rect">
            <a:avLst/>
          </a:prstGeom>
          <a:noFill/>
          <a:ln/>
        </p:spPr>
        <p:txBody>
          <a:bodyPr wrap="square" lIns="0" tIns="0" rIns="0" bIns="0" rtlCol="0" anchor="ctr"/>
          <a:lstStyle/>
          <a:p>
            <a:pPr indent="0" marL="0">
              <a:buNone/>
            </a:pPr>
            <a:r>
              <a:rPr lang="en-US" sz="1100" dirty="0">
                <a:solidFill>
                  <a:srgbClr val="EDE9FE"/>
                </a:solidFill>
                <a:latin typeface="Calibri" pitchFamily="34" charset="0"/>
                <a:ea typeface="Calibri" pitchFamily="34" charset="-122"/>
                <a:cs typeface="Calibri" pitchFamily="34" charset="-120"/>
              </a:rPr>
              <a:t>B2B white-label pilot with 3 accelerators</a:t>
            </a:r>
            <a:endParaRPr lang="en-US" sz="1100" dirty="0"/>
          </a:p>
        </p:txBody>
      </p:sp>
      <p:sp>
        <p:nvSpPr>
          <p:cNvPr id="42" name="Text 40"/>
          <p:cNvSpPr/>
          <p:nvPr/>
        </p:nvSpPr>
        <p:spPr>
          <a:xfrm>
            <a:off x="4572000" y="2578608"/>
            <a:ext cx="4114800" cy="32004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User Growth (MAU)</a:t>
            </a:r>
            <a:endParaRPr lang="en-US" sz="1300" dirty="0"/>
          </a:p>
        </p:txBody>
      </p:sp>
      <p:sp>
        <p:nvSpPr>
          <p:cNvPr id="43" name="Shape 41"/>
          <p:cNvSpPr/>
          <p:nvPr/>
        </p:nvSpPr>
        <p:spPr>
          <a:xfrm>
            <a:off x="4663440" y="3865299"/>
            <a:ext cx="402336" cy="322653"/>
          </a:xfrm>
          <a:prstGeom prst="rect">
            <a:avLst/>
          </a:prstGeom>
          <a:solidFill>
            <a:srgbClr val="7C3AED"/>
          </a:solidFill>
          <a:ln w="12700">
            <a:solidFill>
              <a:srgbClr val="7C3AED"/>
            </a:solidFill>
            <a:prstDash val="solid"/>
          </a:ln>
        </p:spPr>
      </p:sp>
      <p:sp>
        <p:nvSpPr>
          <p:cNvPr id="44" name="Text 42"/>
          <p:cNvSpPr/>
          <p:nvPr/>
        </p:nvSpPr>
        <p:spPr>
          <a:xfrm>
            <a:off x="4663440" y="4233672"/>
            <a:ext cx="402336" cy="18288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Oct</a:t>
            </a:r>
            <a:endParaRPr lang="en-US" sz="800" dirty="0"/>
          </a:p>
        </p:txBody>
      </p:sp>
      <p:sp>
        <p:nvSpPr>
          <p:cNvPr id="45" name="Shape 43"/>
          <p:cNvSpPr/>
          <p:nvPr/>
        </p:nvSpPr>
        <p:spPr>
          <a:xfrm>
            <a:off x="5230368" y="3754918"/>
            <a:ext cx="402336" cy="433034"/>
          </a:xfrm>
          <a:prstGeom prst="rect">
            <a:avLst/>
          </a:prstGeom>
          <a:solidFill>
            <a:srgbClr val="7C3AED"/>
          </a:solidFill>
          <a:ln w="12700">
            <a:solidFill>
              <a:srgbClr val="7C3AED"/>
            </a:solidFill>
            <a:prstDash val="solid"/>
          </a:ln>
        </p:spPr>
      </p:sp>
      <p:sp>
        <p:nvSpPr>
          <p:cNvPr id="46" name="Text 44"/>
          <p:cNvSpPr/>
          <p:nvPr/>
        </p:nvSpPr>
        <p:spPr>
          <a:xfrm>
            <a:off x="5230368" y="4233672"/>
            <a:ext cx="402336" cy="18288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Nov</a:t>
            </a:r>
            <a:endParaRPr lang="en-US" sz="800" dirty="0"/>
          </a:p>
        </p:txBody>
      </p:sp>
      <p:sp>
        <p:nvSpPr>
          <p:cNvPr id="47" name="Shape 45"/>
          <p:cNvSpPr/>
          <p:nvPr/>
        </p:nvSpPr>
        <p:spPr>
          <a:xfrm>
            <a:off x="5797296" y="3610574"/>
            <a:ext cx="402336" cy="577378"/>
          </a:xfrm>
          <a:prstGeom prst="rect">
            <a:avLst/>
          </a:prstGeom>
          <a:solidFill>
            <a:srgbClr val="7C3AED"/>
          </a:solidFill>
          <a:ln w="12700">
            <a:solidFill>
              <a:srgbClr val="7C3AED"/>
            </a:solidFill>
            <a:prstDash val="solid"/>
          </a:ln>
        </p:spPr>
      </p:sp>
      <p:sp>
        <p:nvSpPr>
          <p:cNvPr id="48" name="Text 46"/>
          <p:cNvSpPr/>
          <p:nvPr/>
        </p:nvSpPr>
        <p:spPr>
          <a:xfrm>
            <a:off x="5797296" y="4233672"/>
            <a:ext cx="402336" cy="18288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Dec</a:t>
            </a:r>
            <a:endParaRPr lang="en-US" sz="800" dirty="0"/>
          </a:p>
        </p:txBody>
      </p:sp>
      <p:sp>
        <p:nvSpPr>
          <p:cNvPr id="49" name="Shape 47"/>
          <p:cNvSpPr/>
          <p:nvPr/>
        </p:nvSpPr>
        <p:spPr>
          <a:xfrm>
            <a:off x="6364224" y="3474720"/>
            <a:ext cx="402336" cy="713232"/>
          </a:xfrm>
          <a:prstGeom prst="rect">
            <a:avLst/>
          </a:prstGeom>
          <a:solidFill>
            <a:srgbClr val="7C3AED"/>
          </a:solidFill>
          <a:ln w="12700">
            <a:solidFill>
              <a:srgbClr val="7C3AED"/>
            </a:solidFill>
            <a:prstDash val="solid"/>
          </a:ln>
        </p:spPr>
      </p:sp>
      <p:sp>
        <p:nvSpPr>
          <p:cNvPr id="50" name="Text 48"/>
          <p:cNvSpPr/>
          <p:nvPr/>
        </p:nvSpPr>
        <p:spPr>
          <a:xfrm>
            <a:off x="6364224" y="4233672"/>
            <a:ext cx="402336" cy="18288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Jan</a:t>
            </a:r>
            <a:endParaRPr lang="en-US" sz="800" dirty="0"/>
          </a:p>
        </p:txBody>
      </p:sp>
      <p:sp>
        <p:nvSpPr>
          <p:cNvPr id="51" name="Shape 49"/>
          <p:cNvSpPr/>
          <p:nvPr/>
        </p:nvSpPr>
        <p:spPr>
          <a:xfrm>
            <a:off x="6931152" y="3321885"/>
            <a:ext cx="402336" cy="866067"/>
          </a:xfrm>
          <a:prstGeom prst="rect">
            <a:avLst/>
          </a:prstGeom>
          <a:solidFill>
            <a:srgbClr val="7C3AED"/>
          </a:solidFill>
          <a:ln w="12700">
            <a:solidFill>
              <a:srgbClr val="7C3AED"/>
            </a:solidFill>
            <a:prstDash val="solid"/>
          </a:ln>
        </p:spPr>
      </p:sp>
      <p:sp>
        <p:nvSpPr>
          <p:cNvPr id="52" name="Text 50"/>
          <p:cNvSpPr/>
          <p:nvPr/>
        </p:nvSpPr>
        <p:spPr>
          <a:xfrm>
            <a:off x="6931152" y="4233672"/>
            <a:ext cx="402336" cy="18288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Feb</a:t>
            </a:r>
            <a:endParaRPr lang="en-US" sz="800" dirty="0"/>
          </a:p>
        </p:txBody>
      </p:sp>
      <p:sp>
        <p:nvSpPr>
          <p:cNvPr id="53" name="Shape 51"/>
          <p:cNvSpPr/>
          <p:nvPr/>
        </p:nvSpPr>
        <p:spPr>
          <a:xfrm>
            <a:off x="7498080" y="3135086"/>
            <a:ext cx="402336" cy="1052866"/>
          </a:xfrm>
          <a:prstGeom prst="rect">
            <a:avLst/>
          </a:prstGeom>
          <a:solidFill>
            <a:srgbClr val="7C3AED"/>
          </a:solidFill>
          <a:ln w="12700">
            <a:solidFill>
              <a:srgbClr val="7C3AED"/>
            </a:solidFill>
            <a:prstDash val="solid"/>
          </a:ln>
        </p:spPr>
      </p:sp>
      <p:sp>
        <p:nvSpPr>
          <p:cNvPr id="54" name="Text 52"/>
          <p:cNvSpPr/>
          <p:nvPr/>
        </p:nvSpPr>
        <p:spPr>
          <a:xfrm>
            <a:off x="7498080" y="4233672"/>
            <a:ext cx="402336" cy="18288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Mar</a:t>
            </a:r>
            <a:endParaRPr lang="en-US" sz="800" dirty="0"/>
          </a:p>
        </p:txBody>
      </p:sp>
      <p:sp>
        <p:nvSpPr>
          <p:cNvPr id="55" name="Text 53"/>
          <p:cNvSpPr/>
          <p:nvPr/>
        </p:nvSpPr>
        <p:spPr>
          <a:xfrm>
            <a:off x="4572000" y="4480560"/>
            <a:ext cx="4114800" cy="237744"/>
          </a:xfrm>
          <a:prstGeom prst="rect">
            <a:avLst/>
          </a:prstGeom>
          <a:noFill/>
          <a:ln/>
        </p:spPr>
        <p:txBody>
          <a:bodyPr wrap="square" rtlCol="0" anchor="ctr"/>
          <a:lstStyle/>
          <a:p>
            <a:pPr algn="r" indent="0" marL="0">
              <a:buNone/>
            </a:pPr>
            <a:r>
              <a:rPr lang="en-US" sz="1000" b="1" dirty="0">
                <a:solidFill>
                  <a:srgbClr val="10B981"/>
                </a:solidFill>
                <a:latin typeface="Calibri" pitchFamily="34" charset="0"/>
                <a:ea typeface="Calibri" pitchFamily="34" charset="-122"/>
                <a:cs typeface="Calibri" pitchFamily="34" charset="-120"/>
              </a:rPr>
              <a:t>34% MoM growth</a:t>
            </a:r>
            <a:endParaRPr lang="en-US" sz="1000" dirty="0"/>
          </a:p>
        </p:txBody>
      </p:sp>
      <p:sp>
        <p:nvSpPr>
          <p:cNvPr id="56" name="Text 54"/>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PRODUCT</a:t>
            </a:r>
            <a:endParaRPr lang="en-US" sz="700" dirty="0"/>
          </a:p>
        </p:txBody>
      </p:sp>
      <p:sp>
        <p:nvSpPr>
          <p:cNvPr id="5" name="Text 3"/>
          <p:cNvSpPr/>
          <p:nvPr/>
        </p:nvSpPr>
        <p:spPr>
          <a:xfrm>
            <a:off x="548640" y="594360"/>
            <a:ext cx="777240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for the way founders actually work.</a:t>
            </a:r>
            <a:endParaRPr lang="en-US" sz="2600" dirty="0"/>
          </a:p>
        </p:txBody>
      </p:sp>
      <p:sp>
        <p:nvSpPr>
          <p:cNvPr id="6" name="Shape 4"/>
          <p:cNvSpPr/>
          <p:nvPr/>
        </p:nvSpPr>
        <p:spPr>
          <a:xfrm>
            <a:off x="457200" y="1453896"/>
            <a:ext cx="384048" cy="347472"/>
          </a:xfrm>
          <a:prstGeom prst="rect">
            <a:avLst/>
          </a:prstGeom>
          <a:solidFill>
            <a:srgbClr val="7C3AED"/>
          </a:solidFill>
          <a:ln w="12700">
            <a:solidFill>
              <a:srgbClr val="7C3AED"/>
            </a:solidFill>
            <a:prstDash val="solid"/>
          </a:ln>
        </p:spPr>
      </p:sp>
      <p:sp>
        <p:nvSpPr>
          <p:cNvPr id="7" name="Text 5"/>
          <p:cNvSpPr/>
          <p:nvPr/>
        </p:nvSpPr>
        <p:spPr>
          <a:xfrm>
            <a:off x="457200" y="1453896"/>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932688" y="1417320"/>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p:txBody>
      </p:sp>
      <p:sp>
        <p:nvSpPr>
          <p:cNvPr id="9" name="Text 7"/>
          <p:cNvSpPr/>
          <p:nvPr/>
        </p:nvSpPr>
        <p:spPr>
          <a:xfrm>
            <a:off x="932688" y="1664208"/>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Real-time KPI monitoring, Monte Carlo runway simulation, 18-month cash projection.</a:t>
            </a:r>
            <a:endParaRPr lang="en-US" sz="900" dirty="0"/>
          </a:p>
        </p:txBody>
      </p:sp>
      <p:sp>
        <p:nvSpPr>
          <p:cNvPr id="10" name="Shape 8"/>
          <p:cNvSpPr/>
          <p:nvPr/>
        </p:nvSpPr>
        <p:spPr>
          <a:xfrm>
            <a:off x="457200" y="1929384"/>
            <a:ext cx="384048" cy="347472"/>
          </a:xfrm>
          <a:prstGeom prst="rect">
            <a:avLst/>
          </a:prstGeom>
          <a:solidFill>
            <a:srgbClr val="7C3AED"/>
          </a:solidFill>
          <a:ln w="12700">
            <a:solidFill>
              <a:srgbClr val="7C3AED"/>
            </a:solidFill>
            <a:prstDash val="solid"/>
          </a:ln>
        </p:spPr>
      </p:sp>
      <p:sp>
        <p:nvSpPr>
          <p:cNvPr id="11" name="Text 9"/>
          <p:cNvSpPr/>
          <p:nvPr/>
        </p:nvSpPr>
        <p:spPr>
          <a:xfrm>
            <a:off x="457200" y="1929384"/>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932688" y="1892808"/>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Strategy</a:t>
            </a:r>
            <a:endParaRPr lang="en-US" sz="1150" dirty="0"/>
          </a:p>
        </p:txBody>
      </p:sp>
      <p:sp>
        <p:nvSpPr>
          <p:cNvPr id="13" name="Text 11"/>
          <p:cNvSpPr/>
          <p:nvPr/>
        </p:nvSpPr>
        <p:spPr>
          <a:xfrm>
            <a:off x="932688" y="2139696"/>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5 modeled scenarios, milestone tracker with Series A / PMF / GTM templates.</a:t>
            </a:r>
            <a:endParaRPr lang="en-US" sz="900" dirty="0"/>
          </a:p>
        </p:txBody>
      </p:sp>
      <p:sp>
        <p:nvSpPr>
          <p:cNvPr id="14" name="Shape 12"/>
          <p:cNvSpPr/>
          <p:nvPr/>
        </p:nvSpPr>
        <p:spPr>
          <a:xfrm>
            <a:off x="457200" y="2404872"/>
            <a:ext cx="384048" cy="347472"/>
          </a:xfrm>
          <a:prstGeom prst="rect">
            <a:avLst/>
          </a:prstGeom>
          <a:solidFill>
            <a:srgbClr val="7C3AED"/>
          </a:solidFill>
          <a:ln w="12700">
            <a:solidFill>
              <a:srgbClr val="7C3AED"/>
            </a:solidFill>
            <a:prstDash val="solid"/>
          </a:ln>
        </p:spPr>
      </p:sp>
      <p:sp>
        <p:nvSpPr>
          <p:cNvPr id="15" name="Text 13"/>
          <p:cNvSpPr/>
          <p:nvPr/>
        </p:nvSpPr>
        <p:spPr>
          <a:xfrm>
            <a:off x="457200" y="2404872"/>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16" name="Text 14"/>
          <p:cNvSpPr/>
          <p:nvPr/>
        </p:nvSpPr>
        <p:spPr>
          <a:xfrm>
            <a:off x="932688" y="2368296"/>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Pitch Deck</a:t>
            </a:r>
            <a:endParaRPr lang="en-US" sz="1150" dirty="0"/>
          </a:p>
        </p:txBody>
      </p:sp>
      <p:sp>
        <p:nvSpPr>
          <p:cNvPr id="17" name="Text 15"/>
          <p:cNvSpPr/>
          <p:nvPr/>
        </p:nvSpPr>
        <p:spPr>
          <a:xfrm>
            <a:off x="932688" y="2615184"/>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12-slide AI-generated deck with speaker notes and HTML/Markdown export.</a:t>
            </a:r>
            <a:endParaRPr lang="en-US" sz="900" dirty="0"/>
          </a:p>
        </p:txBody>
      </p:sp>
      <p:sp>
        <p:nvSpPr>
          <p:cNvPr id="18" name="Shape 16"/>
          <p:cNvSpPr/>
          <p:nvPr/>
        </p:nvSpPr>
        <p:spPr>
          <a:xfrm>
            <a:off x="457200" y="2880360"/>
            <a:ext cx="384048" cy="347472"/>
          </a:xfrm>
          <a:prstGeom prst="rect">
            <a:avLst/>
          </a:prstGeom>
          <a:solidFill>
            <a:srgbClr val="7C3AED"/>
          </a:solidFill>
          <a:ln w="12700">
            <a:solidFill>
              <a:srgbClr val="7C3AED"/>
            </a:solidFill>
            <a:prstDash val="solid"/>
          </a:ln>
        </p:spPr>
      </p:sp>
      <p:sp>
        <p:nvSpPr>
          <p:cNvPr id="19" name="Text 17"/>
          <p:cNvSpPr/>
          <p:nvPr/>
        </p:nvSpPr>
        <p:spPr>
          <a:xfrm>
            <a:off x="457200" y="2880360"/>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0" name="Text 18"/>
          <p:cNvSpPr/>
          <p:nvPr/>
        </p:nvSpPr>
        <p:spPr>
          <a:xfrm>
            <a:off x="932688" y="2843784"/>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 Bench</a:t>
            </a:r>
            <a:endParaRPr lang="en-US" sz="1150" dirty="0"/>
          </a:p>
        </p:txBody>
      </p:sp>
      <p:sp>
        <p:nvSpPr>
          <p:cNvPr id="21" name="Text 19"/>
          <p:cNvSpPr/>
          <p:nvPr/>
        </p:nvSpPr>
        <p:spPr>
          <a:xfrm>
            <a:off x="932688" y="3090672"/>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Compare against 4 sector benchmarks — B2B SaaS, Fintech, Dev Tools, AI/ML.</a:t>
            </a:r>
            <a:endParaRPr lang="en-US" sz="900" dirty="0"/>
          </a:p>
        </p:txBody>
      </p:sp>
      <p:sp>
        <p:nvSpPr>
          <p:cNvPr id="22" name="Shape 20"/>
          <p:cNvSpPr/>
          <p:nvPr/>
        </p:nvSpPr>
        <p:spPr>
          <a:xfrm>
            <a:off x="457200" y="3355848"/>
            <a:ext cx="384048" cy="347472"/>
          </a:xfrm>
          <a:prstGeom prst="rect">
            <a:avLst/>
          </a:prstGeom>
          <a:solidFill>
            <a:srgbClr val="7C3AED"/>
          </a:solidFill>
          <a:ln w="12700">
            <a:solidFill>
              <a:srgbClr val="7C3AED"/>
            </a:solidFill>
            <a:prstDash val="solid"/>
          </a:ln>
        </p:spPr>
      </p:sp>
      <p:sp>
        <p:nvSpPr>
          <p:cNvPr id="23" name="Text 21"/>
          <p:cNvSpPr/>
          <p:nvPr/>
        </p:nvSpPr>
        <p:spPr>
          <a:xfrm>
            <a:off x="457200" y="3355848"/>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24" name="Text 22"/>
          <p:cNvSpPr/>
          <p:nvPr/>
        </p:nvSpPr>
        <p:spPr>
          <a:xfrm>
            <a:off x="932688" y="3319272"/>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Investor CRM</a:t>
            </a:r>
            <a:endParaRPr lang="en-US" sz="1150" dirty="0"/>
          </a:p>
        </p:txBody>
      </p:sp>
      <p:sp>
        <p:nvSpPr>
          <p:cNvPr id="25" name="Text 23"/>
          <p:cNvSpPr/>
          <p:nvPr/>
        </p:nvSpPr>
        <p:spPr>
          <a:xfrm>
            <a:off x="932688" y="3566160"/>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Kanban pipeline, match scoring, CSV export. Pre-loaded with 8 top investors.</a:t>
            </a:r>
            <a:endParaRPr lang="en-US" sz="900" dirty="0"/>
          </a:p>
        </p:txBody>
      </p:sp>
      <p:sp>
        <p:nvSpPr>
          <p:cNvPr id="26" name="Shape 24"/>
          <p:cNvSpPr/>
          <p:nvPr/>
        </p:nvSpPr>
        <p:spPr>
          <a:xfrm>
            <a:off x="457200" y="3831336"/>
            <a:ext cx="384048" cy="347472"/>
          </a:xfrm>
          <a:prstGeom prst="rect">
            <a:avLst/>
          </a:prstGeom>
          <a:solidFill>
            <a:srgbClr val="7C3AED"/>
          </a:solidFill>
          <a:ln w="12700">
            <a:solidFill>
              <a:srgbClr val="7C3AED"/>
            </a:solidFill>
            <a:prstDash val="solid"/>
          </a:ln>
        </p:spPr>
      </p:sp>
      <p:sp>
        <p:nvSpPr>
          <p:cNvPr id="27" name="Text 25"/>
          <p:cNvSpPr/>
          <p:nvPr/>
        </p:nvSpPr>
        <p:spPr>
          <a:xfrm>
            <a:off x="457200" y="3831336"/>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28" name="Text 26"/>
          <p:cNvSpPr/>
          <p:nvPr/>
        </p:nvSpPr>
        <p:spPr>
          <a:xfrm>
            <a:off x="932688" y="3794760"/>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Valuation</a:t>
            </a:r>
            <a:endParaRPr lang="en-US" sz="1150" dirty="0"/>
          </a:p>
        </p:txBody>
      </p:sp>
      <p:sp>
        <p:nvSpPr>
          <p:cNvPr id="29" name="Text 27"/>
          <p:cNvSpPr/>
          <p:nvPr/>
        </p:nvSpPr>
        <p:spPr>
          <a:xfrm>
            <a:off x="932688" y="4041648"/>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ARR multiple + DCF + VC method. SAFE/convertible note cap table modeler.</a:t>
            </a:r>
            <a:endParaRPr lang="en-US" sz="900" dirty="0"/>
          </a:p>
        </p:txBody>
      </p:sp>
      <p:sp>
        <p:nvSpPr>
          <p:cNvPr id="30" name="Shape 28"/>
          <p:cNvSpPr/>
          <p:nvPr/>
        </p:nvSpPr>
        <p:spPr>
          <a:xfrm>
            <a:off x="457200" y="4306824"/>
            <a:ext cx="384048" cy="347472"/>
          </a:xfrm>
          <a:prstGeom prst="rect">
            <a:avLst/>
          </a:prstGeom>
          <a:solidFill>
            <a:srgbClr val="7C3AED"/>
          </a:solidFill>
          <a:ln w="12700">
            <a:solidFill>
              <a:srgbClr val="7C3AED"/>
            </a:solidFill>
            <a:prstDash val="solid"/>
          </a:ln>
        </p:spPr>
      </p:sp>
      <p:sp>
        <p:nvSpPr>
          <p:cNvPr id="31" name="Text 29"/>
          <p:cNvSpPr/>
          <p:nvPr/>
        </p:nvSpPr>
        <p:spPr>
          <a:xfrm>
            <a:off x="457200" y="4306824"/>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32" name="Text 30"/>
          <p:cNvSpPr/>
          <p:nvPr/>
        </p:nvSpPr>
        <p:spPr>
          <a:xfrm>
            <a:off x="932688" y="4270248"/>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Investor Updates</a:t>
            </a:r>
            <a:endParaRPr lang="en-US" sz="1150" dirty="0"/>
          </a:p>
        </p:txBody>
      </p:sp>
      <p:sp>
        <p:nvSpPr>
          <p:cNvPr id="33" name="Text 31"/>
          <p:cNvSpPr/>
          <p:nvPr/>
        </p:nvSpPr>
        <p:spPr>
          <a:xfrm>
            <a:off x="932688" y="4517136"/>
            <a:ext cx="3639312" cy="219456"/>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Auto-draft monthly/quarterly update emails in 3 tones from live metrics.</a:t>
            </a:r>
            <a:endParaRPr lang="en-US" sz="900" dirty="0"/>
          </a:p>
        </p:txBody>
      </p:sp>
      <p:sp>
        <p:nvSpPr>
          <p:cNvPr id="34" name="Shape 32"/>
          <p:cNvSpPr/>
          <p:nvPr/>
        </p:nvSpPr>
        <p:spPr>
          <a:xfrm>
            <a:off x="4846320" y="1325880"/>
            <a:ext cx="3977640" cy="3474720"/>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35" name="Shape 33"/>
          <p:cNvSpPr/>
          <p:nvPr/>
        </p:nvSpPr>
        <p:spPr>
          <a:xfrm>
            <a:off x="4846320" y="1325880"/>
            <a:ext cx="3977640" cy="292608"/>
          </a:xfrm>
          <a:prstGeom prst="rect">
            <a:avLst/>
          </a:prstGeom>
          <a:solidFill>
            <a:srgbClr val="0F0E27"/>
          </a:solidFill>
          <a:ln w="12700">
            <a:solidFill>
              <a:srgbClr val="0F0E27"/>
            </a:solidFill>
            <a:prstDash val="solid"/>
          </a:ln>
        </p:spPr>
      </p:sp>
      <p:sp>
        <p:nvSpPr>
          <p:cNvPr id="36" name="Text 34"/>
          <p:cNvSpPr/>
          <p:nvPr/>
        </p:nvSpPr>
        <p:spPr>
          <a:xfrm>
            <a:off x="4919472" y="1325880"/>
            <a:ext cx="3840480" cy="292608"/>
          </a:xfrm>
          <a:prstGeom prst="rect">
            <a:avLst/>
          </a:prstGeom>
          <a:noFill/>
          <a:ln/>
        </p:spPr>
        <p:txBody>
          <a:bodyPr wrap="square" lIns="50800" tIns="50800" rIns="50800" bIns="50800" rtlCol="0" anchor="ctr"/>
          <a:lstStyle/>
          <a:p>
            <a:pPr indent="0" marL="0">
              <a:buNone/>
            </a:pPr>
            <a:r>
              <a:rPr lang="en-US" sz="700" dirty="0">
                <a:solidFill>
                  <a:srgbClr val="A0AEC0"/>
                </a:solidFill>
                <a:latin typeface="Calibri" pitchFamily="34" charset="0"/>
                <a:ea typeface="Calibri" pitchFamily="34" charset="-122"/>
                <a:cs typeface="Calibri" pitchFamily="34" charset="-120"/>
              </a:rPr>
              <a:t>VenturePilot  ⬛ Dashboard  Strategy  Pitch  Plan</a:t>
            </a:r>
            <a:endParaRPr lang="en-US" sz="700" dirty="0"/>
          </a:p>
        </p:txBody>
      </p:sp>
      <p:sp>
        <p:nvSpPr>
          <p:cNvPr id="37" name="Shape 35"/>
          <p:cNvSpPr/>
          <p:nvPr/>
        </p:nvSpPr>
        <p:spPr>
          <a:xfrm>
            <a:off x="4919472" y="1719072"/>
            <a:ext cx="877824" cy="502920"/>
          </a:xfrm>
          <a:prstGeom prst="rect">
            <a:avLst/>
          </a:prstGeom>
          <a:solidFill>
            <a:srgbClr val="334155"/>
          </a:solidFill>
          <a:ln w="12700">
            <a:solidFill>
              <a:srgbClr val="334155"/>
            </a:solidFill>
            <a:prstDash val="solid"/>
          </a:ln>
        </p:spPr>
      </p:sp>
      <p:sp>
        <p:nvSpPr>
          <p:cNvPr id="38" name="Text 36"/>
          <p:cNvSpPr/>
          <p:nvPr/>
        </p:nvSpPr>
        <p:spPr>
          <a:xfrm>
            <a:off x="4919472" y="1719072"/>
            <a:ext cx="877824"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ARR $2.4M</a:t>
            </a:r>
            <a:endParaRPr lang="en-US" sz="800" dirty="0"/>
          </a:p>
        </p:txBody>
      </p:sp>
      <p:sp>
        <p:nvSpPr>
          <p:cNvPr id="39" name="Shape 37"/>
          <p:cNvSpPr/>
          <p:nvPr/>
        </p:nvSpPr>
        <p:spPr>
          <a:xfrm>
            <a:off x="5888736" y="1719072"/>
            <a:ext cx="877824" cy="502920"/>
          </a:xfrm>
          <a:prstGeom prst="rect">
            <a:avLst/>
          </a:prstGeom>
          <a:solidFill>
            <a:srgbClr val="334155"/>
          </a:solidFill>
          <a:ln w="12700">
            <a:solidFill>
              <a:srgbClr val="334155"/>
            </a:solidFill>
            <a:prstDash val="solid"/>
          </a:ln>
        </p:spPr>
      </p:sp>
      <p:sp>
        <p:nvSpPr>
          <p:cNvPr id="40" name="Text 38"/>
          <p:cNvSpPr/>
          <p:nvPr/>
        </p:nvSpPr>
        <p:spPr>
          <a:xfrm>
            <a:off x="5888736" y="1719072"/>
            <a:ext cx="877824"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MRR $200K</a:t>
            </a:r>
            <a:endParaRPr lang="en-US" sz="800" dirty="0"/>
          </a:p>
        </p:txBody>
      </p:sp>
      <p:sp>
        <p:nvSpPr>
          <p:cNvPr id="41" name="Shape 39"/>
          <p:cNvSpPr/>
          <p:nvPr/>
        </p:nvSpPr>
        <p:spPr>
          <a:xfrm>
            <a:off x="6858000" y="1719072"/>
            <a:ext cx="877824" cy="502920"/>
          </a:xfrm>
          <a:prstGeom prst="rect">
            <a:avLst/>
          </a:prstGeom>
          <a:solidFill>
            <a:srgbClr val="334155"/>
          </a:solidFill>
          <a:ln w="12700">
            <a:solidFill>
              <a:srgbClr val="334155"/>
            </a:solidFill>
            <a:prstDash val="solid"/>
          </a:ln>
        </p:spPr>
      </p:sp>
      <p:sp>
        <p:nvSpPr>
          <p:cNvPr id="42" name="Text 40"/>
          <p:cNvSpPr/>
          <p:nvPr/>
        </p:nvSpPr>
        <p:spPr>
          <a:xfrm>
            <a:off x="6858000" y="1719072"/>
            <a:ext cx="877824"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Runway 14mo</a:t>
            </a:r>
            <a:endParaRPr lang="en-US" sz="800" dirty="0"/>
          </a:p>
        </p:txBody>
      </p:sp>
      <p:sp>
        <p:nvSpPr>
          <p:cNvPr id="43" name="Shape 41"/>
          <p:cNvSpPr/>
          <p:nvPr/>
        </p:nvSpPr>
        <p:spPr>
          <a:xfrm>
            <a:off x="7827264" y="1719072"/>
            <a:ext cx="877824" cy="502920"/>
          </a:xfrm>
          <a:prstGeom prst="rect">
            <a:avLst/>
          </a:prstGeom>
          <a:solidFill>
            <a:srgbClr val="334155"/>
          </a:solidFill>
          <a:ln w="12700">
            <a:solidFill>
              <a:srgbClr val="334155"/>
            </a:solidFill>
            <a:prstDash val="solid"/>
          </a:ln>
        </p:spPr>
      </p:sp>
      <p:sp>
        <p:nvSpPr>
          <p:cNvPr id="44" name="Text 42"/>
          <p:cNvSpPr/>
          <p:nvPr/>
        </p:nvSpPr>
        <p:spPr>
          <a:xfrm>
            <a:off x="7827264" y="1719072"/>
            <a:ext cx="877824"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CAC $180</a:t>
            </a:r>
            <a:endParaRPr lang="en-US" sz="800" dirty="0"/>
          </a:p>
        </p:txBody>
      </p:sp>
      <p:sp>
        <p:nvSpPr>
          <p:cNvPr id="45" name="Shape 43"/>
          <p:cNvSpPr/>
          <p:nvPr/>
        </p:nvSpPr>
        <p:spPr>
          <a:xfrm>
            <a:off x="4919472" y="2331720"/>
            <a:ext cx="3840480" cy="1371600"/>
          </a:xfrm>
          <a:prstGeom prst="rect">
            <a:avLst/>
          </a:prstGeom>
          <a:solidFill>
            <a:srgbClr val="334155"/>
          </a:solidFill>
          <a:ln w="12700">
            <a:solidFill>
              <a:srgbClr val="334155"/>
            </a:solidFill>
            <a:prstDash val="solid"/>
          </a:ln>
        </p:spPr>
      </p:sp>
      <p:sp>
        <p:nvSpPr>
          <p:cNvPr id="46" name="Shape 44"/>
          <p:cNvSpPr/>
          <p:nvPr/>
        </p:nvSpPr>
        <p:spPr>
          <a:xfrm>
            <a:off x="4956048" y="3474720"/>
            <a:ext cx="164592" cy="182880"/>
          </a:xfrm>
          <a:prstGeom prst="rect">
            <a:avLst/>
          </a:prstGeom>
          <a:solidFill>
            <a:srgbClr val="7C3AED">
              <a:alpha val="45000"/>
            </a:srgbClr>
          </a:solidFill>
          <a:ln w="12700">
            <a:solidFill>
              <a:srgbClr val="7C3AED">
                <a:alpha val="45000"/>
              </a:srgbClr>
            </a:solidFill>
            <a:prstDash val="solid"/>
          </a:ln>
        </p:spPr>
      </p:sp>
      <p:sp>
        <p:nvSpPr>
          <p:cNvPr id="47" name="Shape 45"/>
          <p:cNvSpPr/>
          <p:nvPr/>
        </p:nvSpPr>
        <p:spPr>
          <a:xfrm>
            <a:off x="5160874" y="3286566"/>
            <a:ext cx="164592" cy="371034"/>
          </a:xfrm>
          <a:prstGeom prst="rect">
            <a:avLst/>
          </a:prstGeom>
          <a:solidFill>
            <a:srgbClr val="7C3AED">
              <a:alpha val="45000"/>
            </a:srgbClr>
          </a:solidFill>
          <a:ln w="12700">
            <a:solidFill>
              <a:srgbClr val="7C3AED">
                <a:alpha val="45000"/>
              </a:srgbClr>
            </a:solidFill>
            <a:prstDash val="solid"/>
          </a:ln>
        </p:spPr>
      </p:sp>
      <p:sp>
        <p:nvSpPr>
          <p:cNvPr id="48" name="Shape 46"/>
          <p:cNvSpPr/>
          <p:nvPr/>
        </p:nvSpPr>
        <p:spPr>
          <a:xfrm>
            <a:off x="5365699" y="3120900"/>
            <a:ext cx="164592" cy="536700"/>
          </a:xfrm>
          <a:prstGeom prst="rect">
            <a:avLst/>
          </a:prstGeom>
          <a:solidFill>
            <a:srgbClr val="7C3AED">
              <a:alpha val="45000"/>
            </a:srgbClr>
          </a:solidFill>
          <a:ln w="12700">
            <a:solidFill>
              <a:srgbClr val="7C3AED">
                <a:alpha val="45000"/>
              </a:srgbClr>
            </a:solidFill>
            <a:prstDash val="solid"/>
          </a:ln>
        </p:spPr>
      </p:sp>
      <p:sp>
        <p:nvSpPr>
          <p:cNvPr id="49" name="Shape 47"/>
          <p:cNvSpPr/>
          <p:nvPr/>
        </p:nvSpPr>
        <p:spPr>
          <a:xfrm>
            <a:off x="5570525" y="2996657"/>
            <a:ext cx="164592" cy="660943"/>
          </a:xfrm>
          <a:prstGeom prst="rect">
            <a:avLst/>
          </a:prstGeom>
          <a:solidFill>
            <a:srgbClr val="7C3AED">
              <a:alpha val="45000"/>
            </a:srgbClr>
          </a:solidFill>
          <a:ln w="12700">
            <a:solidFill>
              <a:srgbClr val="7C3AED">
                <a:alpha val="45000"/>
              </a:srgbClr>
            </a:solidFill>
            <a:prstDash val="solid"/>
          </a:ln>
        </p:spPr>
      </p:sp>
      <p:sp>
        <p:nvSpPr>
          <p:cNvPr id="50" name="Shape 48"/>
          <p:cNvSpPr/>
          <p:nvPr/>
        </p:nvSpPr>
        <p:spPr>
          <a:xfrm>
            <a:off x="5775350" y="2926236"/>
            <a:ext cx="164592" cy="731364"/>
          </a:xfrm>
          <a:prstGeom prst="rect">
            <a:avLst/>
          </a:prstGeom>
          <a:solidFill>
            <a:srgbClr val="7C3AED">
              <a:alpha val="45000"/>
            </a:srgbClr>
          </a:solidFill>
          <a:ln w="12700">
            <a:solidFill>
              <a:srgbClr val="7C3AED">
                <a:alpha val="45000"/>
              </a:srgbClr>
            </a:solidFill>
            <a:prstDash val="solid"/>
          </a:ln>
        </p:spPr>
      </p:sp>
      <p:sp>
        <p:nvSpPr>
          <p:cNvPr id="51" name="Shape 49"/>
          <p:cNvSpPr/>
          <p:nvPr/>
        </p:nvSpPr>
        <p:spPr>
          <a:xfrm>
            <a:off x="5980176" y="2913535"/>
            <a:ext cx="164592" cy="744065"/>
          </a:xfrm>
          <a:prstGeom prst="rect">
            <a:avLst/>
          </a:prstGeom>
          <a:solidFill>
            <a:srgbClr val="7C3AED">
              <a:alpha val="45000"/>
            </a:srgbClr>
          </a:solidFill>
          <a:ln w="12700">
            <a:solidFill>
              <a:srgbClr val="7C3AED">
                <a:alpha val="45000"/>
              </a:srgbClr>
            </a:solidFill>
            <a:prstDash val="solid"/>
          </a:ln>
        </p:spPr>
      </p:sp>
      <p:sp>
        <p:nvSpPr>
          <p:cNvPr id="52" name="Shape 50"/>
          <p:cNvSpPr/>
          <p:nvPr/>
        </p:nvSpPr>
        <p:spPr>
          <a:xfrm>
            <a:off x="6185002" y="2953343"/>
            <a:ext cx="164592" cy="704257"/>
          </a:xfrm>
          <a:prstGeom prst="rect">
            <a:avLst/>
          </a:prstGeom>
          <a:solidFill>
            <a:srgbClr val="7C3AED">
              <a:alpha val="45000"/>
            </a:srgbClr>
          </a:solidFill>
          <a:ln w="12700">
            <a:solidFill>
              <a:srgbClr val="7C3AED">
                <a:alpha val="45000"/>
              </a:srgbClr>
            </a:solidFill>
            <a:prstDash val="solid"/>
          </a:ln>
        </p:spPr>
      </p:sp>
      <p:sp>
        <p:nvSpPr>
          <p:cNvPr id="53" name="Shape 51"/>
          <p:cNvSpPr/>
          <p:nvPr/>
        </p:nvSpPr>
        <p:spPr>
          <a:xfrm>
            <a:off x="6389827" y="3032155"/>
            <a:ext cx="164592" cy="625445"/>
          </a:xfrm>
          <a:prstGeom prst="rect">
            <a:avLst/>
          </a:prstGeom>
          <a:solidFill>
            <a:srgbClr val="7C3AED">
              <a:alpha val="45000"/>
            </a:srgbClr>
          </a:solidFill>
          <a:ln w="12700">
            <a:solidFill>
              <a:srgbClr val="7C3AED">
                <a:alpha val="45000"/>
              </a:srgbClr>
            </a:solidFill>
            <a:prstDash val="solid"/>
          </a:ln>
        </p:spPr>
      </p:sp>
      <p:sp>
        <p:nvSpPr>
          <p:cNvPr id="54" name="Shape 52"/>
          <p:cNvSpPr/>
          <p:nvPr/>
        </p:nvSpPr>
        <p:spPr>
          <a:xfrm>
            <a:off x="6594653" y="3130311"/>
            <a:ext cx="164592" cy="527289"/>
          </a:xfrm>
          <a:prstGeom prst="rect">
            <a:avLst/>
          </a:prstGeom>
          <a:solidFill>
            <a:srgbClr val="7C3AED">
              <a:alpha val="45000"/>
            </a:srgbClr>
          </a:solidFill>
          <a:ln w="12700">
            <a:solidFill>
              <a:srgbClr val="7C3AED">
                <a:alpha val="45000"/>
              </a:srgbClr>
            </a:solidFill>
            <a:prstDash val="solid"/>
          </a:ln>
        </p:spPr>
      </p:sp>
      <p:sp>
        <p:nvSpPr>
          <p:cNvPr id="55" name="Shape 53"/>
          <p:cNvSpPr/>
          <p:nvPr/>
        </p:nvSpPr>
        <p:spPr>
          <a:xfrm>
            <a:off x="6799478" y="3225096"/>
            <a:ext cx="164592" cy="432504"/>
          </a:xfrm>
          <a:prstGeom prst="rect">
            <a:avLst/>
          </a:prstGeom>
          <a:solidFill>
            <a:srgbClr val="7C3AED">
              <a:alpha val="45000"/>
            </a:srgbClr>
          </a:solidFill>
          <a:ln w="12700">
            <a:solidFill>
              <a:srgbClr val="7C3AED">
                <a:alpha val="45000"/>
              </a:srgbClr>
            </a:solidFill>
            <a:prstDash val="solid"/>
          </a:ln>
        </p:spPr>
      </p:sp>
      <p:sp>
        <p:nvSpPr>
          <p:cNvPr id="56" name="Shape 54"/>
          <p:cNvSpPr/>
          <p:nvPr/>
        </p:nvSpPr>
        <p:spPr>
          <a:xfrm>
            <a:off x="7004304" y="3294328"/>
            <a:ext cx="164592" cy="363272"/>
          </a:xfrm>
          <a:prstGeom prst="rect">
            <a:avLst/>
          </a:prstGeom>
          <a:solidFill>
            <a:srgbClr val="7C3AED">
              <a:alpha val="45000"/>
            </a:srgbClr>
          </a:solidFill>
          <a:ln w="12700">
            <a:solidFill>
              <a:srgbClr val="7C3AED">
                <a:alpha val="45000"/>
              </a:srgbClr>
            </a:solidFill>
            <a:prstDash val="solid"/>
          </a:ln>
        </p:spPr>
      </p:sp>
      <p:sp>
        <p:nvSpPr>
          <p:cNvPr id="57" name="Shape 55"/>
          <p:cNvSpPr/>
          <p:nvPr/>
        </p:nvSpPr>
        <p:spPr>
          <a:xfrm>
            <a:off x="7209130" y="3319858"/>
            <a:ext cx="164592" cy="337742"/>
          </a:xfrm>
          <a:prstGeom prst="rect">
            <a:avLst/>
          </a:prstGeom>
          <a:solidFill>
            <a:srgbClr val="7C3AED">
              <a:alpha val="45000"/>
            </a:srgbClr>
          </a:solidFill>
          <a:ln w="12700">
            <a:solidFill>
              <a:srgbClr val="7C3AED">
                <a:alpha val="45000"/>
              </a:srgbClr>
            </a:solidFill>
            <a:prstDash val="solid"/>
          </a:ln>
        </p:spPr>
      </p:sp>
      <p:sp>
        <p:nvSpPr>
          <p:cNvPr id="58" name="Shape 56"/>
          <p:cNvSpPr/>
          <p:nvPr/>
        </p:nvSpPr>
        <p:spPr>
          <a:xfrm>
            <a:off x="7413955" y="3290437"/>
            <a:ext cx="164592" cy="367163"/>
          </a:xfrm>
          <a:prstGeom prst="rect">
            <a:avLst/>
          </a:prstGeom>
          <a:solidFill>
            <a:srgbClr val="7C3AED">
              <a:alpha val="45000"/>
            </a:srgbClr>
          </a:solidFill>
          <a:ln w="12700">
            <a:solidFill>
              <a:srgbClr val="7C3AED">
                <a:alpha val="45000"/>
              </a:srgbClr>
            </a:solidFill>
            <a:prstDash val="solid"/>
          </a:ln>
        </p:spPr>
      </p:sp>
      <p:sp>
        <p:nvSpPr>
          <p:cNvPr id="59" name="Shape 57"/>
          <p:cNvSpPr/>
          <p:nvPr/>
        </p:nvSpPr>
        <p:spPr>
          <a:xfrm>
            <a:off x="7618781" y="3203492"/>
            <a:ext cx="164592" cy="454108"/>
          </a:xfrm>
          <a:prstGeom prst="rect">
            <a:avLst/>
          </a:prstGeom>
          <a:solidFill>
            <a:srgbClr val="7C3AED">
              <a:alpha val="45000"/>
            </a:srgbClr>
          </a:solidFill>
          <a:ln w="12700">
            <a:solidFill>
              <a:srgbClr val="7C3AED">
                <a:alpha val="45000"/>
              </a:srgbClr>
            </a:solidFill>
            <a:prstDash val="solid"/>
          </a:ln>
        </p:spPr>
      </p:sp>
      <p:sp>
        <p:nvSpPr>
          <p:cNvPr id="60" name="Shape 58"/>
          <p:cNvSpPr/>
          <p:nvPr/>
        </p:nvSpPr>
        <p:spPr>
          <a:xfrm>
            <a:off x="7823606" y="3065532"/>
            <a:ext cx="164592" cy="592068"/>
          </a:xfrm>
          <a:prstGeom prst="rect">
            <a:avLst/>
          </a:prstGeom>
          <a:solidFill>
            <a:srgbClr val="7C3AED">
              <a:alpha val="45000"/>
            </a:srgbClr>
          </a:solidFill>
          <a:ln w="12700">
            <a:solidFill>
              <a:srgbClr val="7C3AED">
                <a:alpha val="45000"/>
              </a:srgbClr>
            </a:solidFill>
            <a:prstDash val="solid"/>
          </a:ln>
        </p:spPr>
      </p:sp>
      <p:sp>
        <p:nvSpPr>
          <p:cNvPr id="61" name="Shape 59"/>
          <p:cNvSpPr/>
          <p:nvPr/>
        </p:nvSpPr>
        <p:spPr>
          <a:xfrm>
            <a:off x="8028432" y="2891119"/>
            <a:ext cx="164592" cy="766481"/>
          </a:xfrm>
          <a:prstGeom prst="rect">
            <a:avLst/>
          </a:prstGeom>
          <a:solidFill>
            <a:srgbClr val="7C3AED">
              <a:alpha val="45000"/>
            </a:srgbClr>
          </a:solidFill>
          <a:ln w="12700">
            <a:solidFill>
              <a:srgbClr val="7C3AED">
                <a:alpha val="45000"/>
              </a:srgbClr>
            </a:solidFill>
            <a:prstDash val="solid"/>
          </a:ln>
        </p:spPr>
      </p:sp>
      <p:sp>
        <p:nvSpPr>
          <p:cNvPr id="62" name="Shape 60"/>
          <p:cNvSpPr/>
          <p:nvPr/>
        </p:nvSpPr>
        <p:spPr>
          <a:xfrm>
            <a:off x="8233258" y="2700571"/>
            <a:ext cx="164592" cy="957029"/>
          </a:xfrm>
          <a:prstGeom prst="rect">
            <a:avLst/>
          </a:prstGeom>
          <a:solidFill>
            <a:srgbClr val="7C3AED">
              <a:alpha val="45000"/>
            </a:srgbClr>
          </a:solidFill>
          <a:ln w="12700">
            <a:solidFill>
              <a:srgbClr val="7C3AED">
                <a:alpha val="45000"/>
              </a:srgbClr>
            </a:solidFill>
            <a:prstDash val="solid"/>
          </a:ln>
        </p:spPr>
      </p:sp>
      <p:sp>
        <p:nvSpPr>
          <p:cNvPr id="63" name="Shape 61"/>
          <p:cNvSpPr/>
          <p:nvPr/>
        </p:nvSpPr>
        <p:spPr>
          <a:xfrm>
            <a:off x="8438083" y="2516753"/>
            <a:ext cx="164592" cy="1140847"/>
          </a:xfrm>
          <a:prstGeom prst="rect">
            <a:avLst/>
          </a:prstGeom>
          <a:solidFill>
            <a:srgbClr val="7C3AED">
              <a:alpha val="45000"/>
            </a:srgbClr>
          </a:solidFill>
          <a:ln w="12700">
            <a:solidFill>
              <a:srgbClr val="7C3AED">
                <a:alpha val="45000"/>
              </a:srgbClr>
            </a:solidFill>
            <a:prstDash val="solid"/>
          </a:ln>
        </p:spPr>
      </p:sp>
      <p:sp>
        <p:nvSpPr>
          <p:cNvPr id="64" name="Text 62"/>
          <p:cNvSpPr/>
          <p:nvPr/>
        </p:nvSpPr>
        <p:spPr>
          <a:xfrm>
            <a:off x="4919472" y="3749040"/>
            <a:ext cx="3840480" cy="228600"/>
          </a:xfrm>
          <a:prstGeom prst="rect">
            <a:avLst/>
          </a:prstGeom>
          <a:noFill/>
          <a:ln/>
        </p:spPr>
        <p:txBody>
          <a:bodyPr wrap="square" lIns="0" tIns="0" rIns="0" bIns="0" rtlCol="0" anchor="ctr"/>
          <a:lstStyle/>
          <a:p>
            <a:pPr algn="ctr" indent="0" marL="0">
              <a:buNone/>
            </a:pPr>
            <a:r>
              <a:rPr lang="en-US" sz="800" dirty="0">
                <a:solidFill>
                  <a:srgbClr val="A0AEC0"/>
                </a:solidFill>
                <a:latin typeface="Calibri" pitchFamily="34" charset="0"/>
                <a:ea typeface="Calibri" pitchFamily="34" charset="-122"/>
                <a:cs typeface="Calibri" pitchFamily="34" charset="-120"/>
              </a:rPr>
              <a:t>18-Month Runway Projection</a:t>
            </a:r>
            <a:endParaRPr lang="en-US" sz="800" dirty="0"/>
          </a:p>
        </p:txBody>
      </p:sp>
      <p:sp>
        <p:nvSpPr>
          <p:cNvPr id="65" name="Shape 63"/>
          <p:cNvSpPr/>
          <p:nvPr/>
        </p:nvSpPr>
        <p:spPr>
          <a:xfrm>
            <a:off x="4919472" y="4023360"/>
            <a:ext cx="1188720" cy="256032"/>
          </a:xfrm>
          <a:prstGeom prst="rect">
            <a:avLst/>
          </a:prstGeom>
          <a:solidFill>
            <a:srgbClr val="7C3AED"/>
          </a:solidFill>
          <a:ln w="12700">
            <a:solidFill>
              <a:srgbClr val="7C3AED"/>
            </a:solidFill>
            <a:prstDash val="solid"/>
          </a:ln>
        </p:spPr>
      </p:sp>
      <p:sp>
        <p:nvSpPr>
          <p:cNvPr id="66" name="Text 64"/>
          <p:cNvSpPr/>
          <p:nvPr/>
        </p:nvSpPr>
        <p:spPr>
          <a:xfrm>
            <a:off x="4919472" y="402336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PWA / Offline</a:t>
            </a:r>
            <a:endParaRPr lang="en-US" sz="800" dirty="0"/>
          </a:p>
        </p:txBody>
      </p:sp>
      <p:sp>
        <p:nvSpPr>
          <p:cNvPr id="67" name="Shape 65"/>
          <p:cNvSpPr/>
          <p:nvPr/>
        </p:nvSpPr>
        <p:spPr>
          <a:xfrm>
            <a:off x="6199632" y="4023360"/>
            <a:ext cx="1188720" cy="256032"/>
          </a:xfrm>
          <a:prstGeom prst="rect">
            <a:avLst/>
          </a:prstGeom>
          <a:solidFill>
            <a:srgbClr val="14B8A6"/>
          </a:solidFill>
          <a:ln w="12700">
            <a:solidFill>
              <a:srgbClr val="14B8A6"/>
            </a:solidFill>
            <a:prstDash val="solid"/>
          </a:ln>
        </p:spPr>
      </p:sp>
      <p:sp>
        <p:nvSpPr>
          <p:cNvPr id="68" name="Text 66"/>
          <p:cNvSpPr/>
          <p:nvPr/>
        </p:nvSpPr>
        <p:spPr>
          <a:xfrm>
            <a:off x="6199632" y="402336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On-Device AI</a:t>
            </a:r>
            <a:endParaRPr lang="en-US" sz="800" dirty="0"/>
          </a:p>
        </p:txBody>
      </p:sp>
      <p:sp>
        <p:nvSpPr>
          <p:cNvPr id="69" name="Shape 67"/>
          <p:cNvSpPr/>
          <p:nvPr/>
        </p:nvSpPr>
        <p:spPr>
          <a:xfrm>
            <a:off x="7479792" y="4023360"/>
            <a:ext cx="1280160" cy="256032"/>
          </a:xfrm>
          <a:prstGeom prst="rect">
            <a:avLst/>
          </a:prstGeom>
          <a:solidFill>
            <a:srgbClr val="F59E0B"/>
          </a:solidFill>
          <a:ln w="12700">
            <a:solidFill>
              <a:srgbClr val="F59E0B"/>
            </a:solidFill>
            <a:prstDash val="solid"/>
          </a:ln>
        </p:spPr>
      </p:sp>
      <p:sp>
        <p:nvSpPr>
          <p:cNvPr id="70" name="Text 68"/>
          <p:cNvSpPr/>
          <p:nvPr/>
        </p:nvSpPr>
        <p:spPr>
          <a:xfrm>
            <a:off x="7479792" y="4023360"/>
            <a:ext cx="1280160" cy="256032"/>
          </a:xfrm>
          <a:prstGeom prst="rect">
            <a:avLst/>
          </a:prstGeom>
          <a:noFill/>
          <a:ln/>
        </p:spPr>
        <p:txBody>
          <a:bodyPr wrap="square" lIns="0" tIns="0" rIns="0" bIns="0" rtlCol="0" anchor="ctr"/>
          <a:lstStyle/>
          <a:p>
            <a:pPr algn="ctr" indent="0" marL="0">
              <a:buNone/>
            </a:pPr>
            <a:r>
              <a:rPr lang="en-US" sz="800" b="1" dirty="0">
                <a:solidFill>
                  <a:srgbClr val="0F0E27"/>
                </a:solidFill>
                <a:latin typeface="Calibri" pitchFamily="34" charset="0"/>
                <a:ea typeface="Calibri" pitchFamily="34" charset="-122"/>
                <a:cs typeface="Calibri" pitchFamily="34" charset="-120"/>
              </a:rPr>
              <a:t>Zero API Keys</a:t>
            </a:r>
            <a:endParaRPr lang="en-US" sz="800" dirty="0"/>
          </a:p>
        </p:txBody>
      </p:sp>
      <p:sp>
        <p:nvSpPr>
          <p:cNvPr id="71" name="Text 69"/>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BUSINESS MODEL</a:t>
            </a:r>
            <a:endParaRPr lang="en-US" sz="700" dirty="0"/>
          </a:p>
        </p:txBody>
      </p:sp>
      <p:sp>
        <p:nvSpPr>
          <p:cNvPr id="5" name="Text 3"/>
          <p:cNvSpPr/>
          <p:nvPr/>
        </p:nvSpPr>
        <p:spPr>
          <a:xfrm>
            <a:off x="548640" y="594360"/>
            <a:ext cx="77724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Free to win. Premium to scale.</a:t>
            </a:r>
            <a:endParaRPr lang="en-US" sz="2800" dirty="0"/>
          </a:p>
        </p:txBody>
      </p:sp>
      <p:sp>
        <p:nvSpPr>
          <p:cNvPr id="6" name="Shape 4"/>
          <p:cNvSpPr/>
          <p:nvPr/>
        </p:nvSpPr>
        <p:spPr>
          <a:xfrm>
            <a:off x="274320" y="1389888"/>
            <a:ext cx="2029968" cy="2999232"/>
          </a:xfrm>
          <a:prstGeom prst="rect">
            <a:avLst/>
          </a:prstGeom>
          <a:solidFill>
            <a:srgbClr val="16133A"/>
          </a:solidFill>
          <a:ln w="12700">
            <a:solidFill>
              <a:srgbClr val="334155"/>
            </a:solidFill>
            <a:prstDash val="solid"/>
          </a:ln>
          <a:effectLst>
            <a:outerShdw sx="100000" sy="100000" kx="0" ky="0" algn="bl" rotWithShape="0" blurRad="152400" dist="50800" dir="8100000">
              <a:srgbClr val="000000">
                <a:alpha val="25000"/>
              </a:srgbClr>
            </a:outerShdw>
          </a:effectLst>
        </p:spPr>
      </p:sp>
      <p:sp>
        <p:nvSpPr>
          <p:cNvPr id="7" name="Shape 5"/>
          <p:cNvSpPr/>
          <p:nvPr/>
        </p:nvSpPr>
        <p:spPr>
          <a:xfrm>
            <a:off x="274320" y="1389888"/>
            <a:ext cx="2029968" cy="292608"/>
          </a:xfrm>
          <a:prstGeom prst="rect">
            <a:avLst/>
          </a:prstGeom>
          <a:solidFill>
            <a:srgbClr val="334155"/>
          </a:solidFill>
          <a:ln w="12700">
            <a:solidFill>
              <a:srgbClr val="334155"/>
            </a:solidFill>
            <a:prstDash val="solid"/>
          </a:ln>
        </p:spPr>
      </p:sp>
      <p:sp>
        <p:nvSpPr>
          <p:cNvPr id="8" name="Text 6"/>
          <p:cNvSpPr/>
          <p:nvPr/>
        </p:nvSpPr>
        <p:spPr>
          <a:xfrm>
            <a:off x="347472" y="1389888"/>
            <a:ext cx="1883664"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FREE TIER</a:t>
            </a:r>
            <a:endParaRPr lang="en-US" sz="800" dirty="0"/>
          </a:p>
        </p:txBody>
      </p:sp>
      <p:sp>
        <p:nvSpPr>
          <p:cNvPr id="9" name="Text 7"/>
          <p:cNvSpPr/>
          <p:nvPr/>
        </p:nvSpPr>
        <p:spPr>
          <a:xfrm>
            <a:off x="347472" y="1737360"/>
            <a:ext cx="1883664" cy="420624"/>
          </a:xfrm>
          <a:prstGeom prst="rect">
            <a:avLst/>
          </a:prstGeom>
          <a:noFill/>
          <a:ln/>
        </p:spPr>
        <p:txBody>
          <a:bodyPr wrap="square" lIns="0" tIns="0" rIns="0" bIns="0" rtlCol="0" anchor="ctr"/>
          <a:lstStyle/>
          <a:p>
            <a:pPr indent="0" marL="0">
              <a:buNone/>
            </a:pPr>
            <a:r>
              <a:rPr lang="en-US" sz="1200" b="1" dirty="0">
                <a:solidFill>
                  <a:srgbClr val="334155"/>
                </a:solidFill>
                <a:latin typeface="Calibri" pitchFamily="34" charset="0"/>
                <a:ea typeface="Calibri" pitchFamily="34" charset="-122"/>
                <a:cs typeface="Calibri" pitchFamily="34" charset="-120"/>
              </a:rPr>
              <a:t>$0</a:t>
            </a:r>
            <a:endParaRPr lang="en-US" sz="1200" dirty="0"/>
          </a:p>
        </p:txBody>
      </p:sp>
      <p:sp>
        <p:nvSpPr>
          <p:cNvPr id="10" name="Text 8"/>
          <p:cNvSpPr/>
          <p:nvPr/>
        </p:nvSpPr>
        <p:spPr>
          <a:xfrm>
            <a:off x="347472" y="2176272"/>
            <a:ext cx="188366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Viral Distribution Engine</a:t>
            </a:r>
            <a:endParaRPr lang="en-US" sz="1000" dirty="0"/>
          </a:p>
        </p:txBody>
      </p:sp>
      <p:sp>
        <p:nvSpPr>
          <p:cNvPr id="11" name="Text 9"/>
          <p:cNvSpPr/>
          <p:nvPr/>
        </p:nvSpPr>
        <p:spPr>
          <a:xfrm>
            <a:off x="347472" y="2542032"/>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All 7 modules fully functional</a:t>
            </a:r>
            <a:endParaRPr lang="en-US" sz="850" dirty="0"/>
          </a:p>
        </p:txBody>
      </p:sp>
      <p:sp>
        <p:nvSpPr>
          <p:cNvPr id="12" name="Text 10"/>
          <p:cNvSpPr/>
          <p:nvPr/>
        </p:nvSpPr>
        <p:spPr>
          <a:xfrm>
            <a:off x="347472" y="2843784"/>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No sign-up, no API key, instant start</a:t>
            </a:r>
            <a:endParaRPr lang="en-US" sz="850" dirty="0"/>
          </a:p>
        </p:txBody>
      </p:sp>
      <p:sp>
        <p:nvSpPr>
          <p:cNvPr id="13" name="Text 11"/>
          <p:cNvSpPr/>
          <p:nvPr/>
        </p:nvSpPr>
        <p:spPr>
          <a:xfrm>
            <a:off x="347472" y="3145536"/>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PWA / offline support</a:t>
            </a:r>
            <a:endParaRPr lang="en-US" sz="850" dirty="0"/>
          </a:p>
        </p:txBody>
      </p:sp>
      <p:sp>
        <p:nvSpPr>
          <p:cNvPr id="14" name="Text 12"/>
          <p:cNvSpPr/>
          <p:nvPr/>
        </p:nvSpPr>
        <p:spPr>
          <a:xfrm>
            <a:off x="347472" y="3447288"/>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GitHub Pages hosted — $0 infra cost</a:t>
            </a:r>
            <a:endParaRPr lang="en-US" sz="850" dirty="0"/>
          </a:p>
        </p:txBody>
      </p:sp>
      <p:sp>
        <p:nvSpPr>
          <p:cNvPr id="15" name="Shape 13"/>
          <p:cNvSpPr/>
          <p:nvPr/>
        </p:nvSpPr>
        <p:spPr>
          <a:xfrm>
            <a:off x="329184" y="4151376"/>
            <a:ext cx="1920240" cy="201168"/>
          </a:xfrm>
          <a:prstGeom prst="rect">
            <a:avLst/>
          </a:prstGeom>
          <a:solidFill>
            <a:srgbClr val="334155">
              <a:alpha val="25000"/>
            </a:srgbClr>
          </a:solidFill>
          <a:ln w="12700">
            <a:solidFill>
              <a:srgbClr val="334155"/>
            </a:solidFill>
            <a:prstDash val="solid"/>
          </a:ln>
        </p:spPr>
      </p:sp>
      <p:sp>
        <p:nvSpPr>
          <p:cNvPr id="16" name="Text 14"/>
          <p:cNvSpPr/>
          <p:nvPr/>
        </p:nvSpPr>
        <p:spPr>
          <a:xfrm>
            <a:off x="329184" y="4151376"/>
            <a:ext cx="192024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100% of current users</a:t>
            </a:r>
            <a:endParaRPr lang="en-US" sz="800" dirty="0"/>
          </a:p>
        </p:txBody>
      </p:sp>
      <p:sp>
        <p:nvSpPr>
          <p:cNvPr id="17" name="Shape 15"/>
          <p:cNvSpPr/>
          <p:nvPr/>
        </p:nvSpPr>
        <p:spPr>
          <a:xfrm>
            <a:off x="2450592" y="1389888"/>
            <a:ext cx="2029968" cy="2999232"/>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18" name="Shape 16"/>
          <p:cNvSpPr/>
          <p:nvPr/>
        </p:nvSpPr>
        <p:spPr>
          <a:xfrm>
            <a:off x="2450592" y="1389888"/>
            <a:ext cx="2029968" cy="292608"/>
          </a:xfrm>
          <a:prstGeom prst="rect">
            <a:avLst/>
          </a:prstGeom>
          <a:solidFill>
            <a:srgbClr val="7C3AED"/>
          </a:solidFill>
          <a:ln w="12700">
            <a:solidFill>
              <a:srgbClr val="7C3AED"/>
            </a:solidFill>
            <a:prstDash val="solid"/>
          </a:ln>
        </p:spPr>
      </p:sp>
      <p:sp>
        <p:nvSpPr>
          <p:cNvPr id="19" name="Text 17"/>
          <p:cNvSpPr/>
          <p:nvPr/>
        </p:nvSpPr>
        <p:spPr>
          <a:xfrm>
            <a:off x="2523744" y="1389888"/>
            <a:ext cx="1883664"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B2B WHITE-LABEL</a:t>
            </a:r>
            <a:endParaRPr lang="en-US" sz="800" dirty="0"/>
          </a:p>
        </p:txBody>
      </p:sp>
      <p:sp>
        <p:nvSpPr>
          <p:cNvPr id="20" name="Text 18"/>
          <p:cNvSpPr/>
          <p:nvPr/>
        </p:nvSpPr>
        <p:spPr>
          <a:xfrm>
            <a:off x="2523744" y="1737360"/>
            <a:ext cx="1883664" cy="420624"/>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$2,500–$5,000/mo</a:t>
            </a:r>
            <a:endParaRPr lang="en-US" sz="1200" dirty="0"/>
          </a:p>
        </p:txBody>
      </p:sp>
      <p:sp>
        <p:nvSpPr>
          <p:cNvPr id="21" name="Text 19"/>
          <p:cNvSpPr/>
          <p:nvPr/>
        </p:nvSpPr>
        <p:spPr>
          <a:xfrm>
            <a:off x="2523744" y="2176272"/>
            <a:ext cx="188366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For VCs &amp; Accelerators</a:t>
            </a:r>
            <a:endParaRPr lang="en-US" sz="1000" dirty="0"/>
          </a:p>
        </p:txBody>
      </p:sp>
      <p:sp>
        <p:nvSpPr>
          <p:cNvPr id="22" name="Text 20"/>
          <p:cNvSpPr/>
          <p:nvPr/>
        </p:nvSpPr>
        <p:spPr>
          <a:xfrm>
            <a:off x="2523744" y="2542032"/>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Custom branding + domain</a:t>
            </a:r>
            <a:endParaRPr lang="en-US" sz="850" dirty="0"/>
          </a:p>
        </p:txBody>
      </p:sp>
      <p:sp>
        <p:nvSpPr>
          <p:cNvPr id="23" name="Text 21"/>
          <p:cNvSpPr/>
          <p:nvPr/>
        </p:nvSpPr>
        <p:spPr>
          <a:xfrm>
            <a:off x="2523744" y="2843784"/>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Portfolio company onboarding</a:t>
            </a:r>
            <a:endParaRPr lang="en-US" sz="850" dirty="0"/>
          </a:p>
        </p:txBody>
      </p:sp>
      <p:sp>
        <p:nvSpPr>
          <p:cNvPr id="24" name="Text 22"/>
          <p:cNvSpPr/>
          <p:nvPr/>
        </p:nvSpPr>
        <p:spPr>
          <a:xfrm>
            <a:off x="2523744" y="3145536"/>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Cohort analytics dashboard</a:t>
            </a:r>
            <a:endParaRPr lang="en-US" sz="850" dirty="0"/>
          </a:p>
        </p:txBody>
      </p:sp>
      <p:sp>
        <p:nvSpPr>
          <p:cNvPr id="25" name="Text 23"/>
          <p:cNvSpPr/>
          <p:nvPr/>
        </p:nvSpPr>
        <p:spPr>
          <a:xfrm>
            <a:off x="2523744" y="3447288"/>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Dedicated support + custom modules</a:t>
            </a:r>
            <a:endParaRPr lang="en-US" sz="850" dirty="0"/>
          </a:p>
        </p:txBody>
      </p:sp>
      <p:sp>
        <p:nvSpPr>
          <p:cNvPr id="26" name="Shape 24"/>
          <p:cNvSpPr/>
          <p:nvPr/>
        </p:nvSpPr>
        <p:spPr>
          <a:xfrm>
            <a:off x="2505456" y="4151376"/>
            <a:ext cx="1920240" cy="201168"/>
          </a:xfrm>
          <a:prstGeom prst="rect">
            <a:avLst/>
          </a:prstGeom>
          <a:solidFill>
            <a:srgbClr val="7C3AED">
              <a:alpha val="25000"/>
            </a:srgbClr>
          </a:solidFill>
          <a:ln w="12700">
            <a:solidFill>
              <a:srgbClr val="7C3AED"/>
            </a:solidFill>
            <a:prstDash val="solid"/>
          </a:ln>
        </p:spPr>
      </p:sp>
      <p:sp>
        <p:nvSpPr>
          <p:cNvPr id="27" name="Text 25"/>
          <p:cNvSpPr/>
          <p:nvPr/>
        </p:nvSpPr>
        <p:spPr>
          <a:xfrm>
            <a:off x="2505456" y="4151376"/>
            <a:ext cx="192024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Primary revenue driver</a:t>
            </a:r>
            <a:endParaRPr lang="en-US" sz="800" dirty="0"/>
          </a:p>
        </p:txBody>
      </p:sp>
      <p:sp>
        <p:nvSpPr>
          <p:cNvPr id="28" name="Shape 26"/>
          <p:cNvSpPr/>
          <p:nvPr/>
        </p:nvSpPr>
        <p:spPr>
          <a:xfrm>
            <a:off x="4626864" y="1389888"/>
            <a:ext cx="2029968" cy="2999232"/>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29" name="Shape 27"/>
          <p:cNvSpPr/>
          <p:nvPr/>
        </p:nvSpPr>
        <p:spPr>
          <a:xfrm>
            <a:off x="4626864" y="1389888"/>
            <a:ext cx="2029968" cy="292608"/>
          </a:xfrm>
          <a:prstGeom prst="rect">
            <a:avLst/>
          </a:prstGeom>
          <a:solidFill>
            <a:srgbClr val="14B8A6"/>
          </a:solidFill>
          <a:ln w="12700">
            <a:solidFill>
              <a:srgbClr val="14B8A6"/>
            </a:solidFill>
            <a:prstDash val="solid"/>
          </a:ln>
        </p:spPr>
      </p:sp>
      <p:sp>
        <p:nvSpPr>
          <p:cNvPr id="30" name="Text 28"/>
          <p:cNvSpPr/>
          <p:nvPr/>
        </p:nvSpPr>
        <p:spPr>
          <a:xfrm>
            <a:off x="4700016" y="1389888"/>
            <a:ext cx="1883664"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API ACCESS</a:t>
            </a:r>
            <a:endParaRPr lang="en-US" sz="800" dirty="0"/>
          </a:p>
        </p:txBody>
      </p:sp>
      <p:sp>
        <p:nvSpPr>
          <p:cNvPr id="31" name="Text 29"/>
          <p:cNvSpPr/>
          <p:nvPr/>
        </p:nvSpPr>
        <p:spPr>
          <a:xfrm>
            <a:off x="4700016" y="1737360"/>
            <a:ext cx="1883664" cy="420624"/>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$500–$2,500/mo</a:t>
            </a:r>
            <a:endParaRPr lang="en-US" sz="1200" dirty="0"/>
          </a:p>
        </p:txBody>
      </p:sp>
      <p:sp>
        <p:nvSpPr>
          <p:cNvPr id="32" name="Text 30"/>
          <p:cNvSpPr/>
          <p:nvPr/>
        </p:nvSpPr>
        <p:spPr>
          <a:xfrm>
            <a:off x="4700016" y="2176272"/>
            <a:ext cx="188366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Developer &amp; Platform Tier</a:t>
            </a:r>
            <a:endParaRPr lang="en-US" sz="1000" dirty="0"/>
          </a:p>
        </p:txBody>
      </p:sp>
      <p:sp>
        <p:nvSpPr>
          <p:cNvPr id="33" name="Text 31"/>
          <p:cNvSpPr/>
          <p:nvPr/>
        </p:nvSpPr>
        <p:spPr>
          <a:xfrm>
            <a:off x="4700016" y="2542032"/>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REST API for metrics &amp; signals</a:t>
            </a:r>
            <a:endParaRPr lang="en-US" sz="850" dirty="0"/>
          </a:p>
        </p:txBody>
      </p:sp>
      <p:sp>
        <p:nvSpPr>
          <p:cNvPr id="34" name="Text 32"/>
          <p:cNvSpPr/>
          <p:nvPr/>
        </p:nvSpPr>
        <p:spPr>
          <a:xfrm>
            <a:off x="4700016" y="2843784"/>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Webhook events for stage changes</a:t>
            </a:r>
            <a:endParaRPr lang="en-US" sz="850" dirty="0"/>
          </a:p>
        </p:txBody>
      </p:sp>
      <p:sp>
        <p:nvSpPr>
          <p:cNvPr id="35" name="Text 33"/>
          <p:cNvSpPr/>
          <p:nvPr/>
        </p:nvSpPr>
        <p:spPr>
          <a:xfrm>
            <a:off x="4700016" y="3145536"/>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Embed widgets in partner tools</a:t>
            </a:r>
            <a:endParaRPr lang="en-US" sz="850" dirty="0"/>
          </a:p>
        </p:txBody>
      </p:sp>
      <p:sp>
        <p:nvSpPr>
          <p:cNvPr id="36" name="Text 34"/>
          <p:cNvSpPr/>
          <p:nvPr/>
        </p:nvSpPr>
        <p:spPr>
          <a:xfrm>
            <a:off x="4700016" y="3447288"/>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Rate-limited free tier available</a:t>
            </a:r>
            <a:endParaRPr lang="en-US" sz="850" dirty="0"/>
          </a:p>
        </p:txBody>
      </p:sp>
      <p:sp>
        <p:nvSpPr>
          <p:cNvPr id="37" name="Shape 35"/>
          <p:cNvSpPr/>
          <p:nvPr/>
        </p:nvSpPr>
        <p:spPr>
          <a:xfrm>
            <a:off x="4681728" y="4151376"/>
            <a:ext cx="1920240" cy="201168"/>
          </a:xfrm>
          <a:prstGeom prst="rect">
            <a:avLst/>
          </a:prstGeom>
          <a:solidFill>
            <a:srgbClr val="14B8A6">
              <a:alpha val="25000"/>
            </a:srgbClr>
          </a:solidFill>
          <a:ln w="12700">
            <a:solidFill>
              <a:srgbClr val="14B8A6"/>
            </a:solidFill>
            <a:prstDash val="solid"/>
          </a:ln>
        </p:spPr>
      </p:sp>
      <p:sp>
        <p:nvSpPr>
          <p:cNvPr id="38" name="Text 36"/>
          <p:cNvSpPr/>
          <p:nvPr/>
        </p:nvSpPr>
        <p:spPr>
          <a:xfrm>
            <a:off x="4681728" y="4151376"/>
            <a:ext cx="192024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Year 2+ launch</a:t>
            </a:r>
            <a:endParaRPr lang="en-US" sz="800" dirty="0"/>
          </a:p>
        </p:txBody>
      </p:sp>
      <p:sp>
        <p:nvSpPr>
          <p:cNvPr id="39" name="Shape 37"/>
          <p:cNvSpPr/>
          <p:nvPr/>
        </p:nvSpPr>
        <p:spPr>
          <a:xfrm>
            <a:off x="6803136" y="1389888"/>
            <a:ext cx="2029968" cy="2999232"/>
          </a:xfrm>
          <a:prstGeom prst="rect">
            <a:avLst/>
          </a:prstGeom>
          <a:solidFill>
            <a:srgbClr val="16133A"/>
          </a:solidFill>
          <a:ln w="12700">
            <a:solidFill>
              <a:srgbClr val="F59E0B"/>
            </a:solidFill>
            <a:prstDash val="solid"/>
          </a:ln>
          <a:effectLst>
            <a:outerShdw sx="100000" sy="100000" kx="0" ky="0" algn="bl" rotWithShape="0" blurRad="152400" dist="50800" dir="8100000">
              <a:srgbClr val="000000">
                <a:alpha val="25000"/>
              </a:srgbClr>
            </a:outerShdw>
          </a:effectLst>
        </p:spPr>
      </p:sp>
      <p:sp>
        <p:nvSpPr>
          <p:cNvPr id="40" name="Shape 38"/>
          <p:cNvSpPr/>
          <p:nvPr/>
        </p:nvSpPr>
        <p:spPr>
          <a:xfrm>
            <a:off x="6803136" y="1389888"/>
            <a:ext cx="2029968" cy="292608"/>
          </a:xfrm>
          <a:prstGeom prst="rect">
            <a:avLst/>
          </a:prstGeom>
          <a:solidFill>
            <a:srgbClr val="F59E0B"/>
          </a:solidFill>
          <a:ln w="12700">
            <a:solidFill>
              <a:srgbClr val="F59E0B"/>
            </a:solidFill>
            <a:prstDash val="solid"/>
          </a:ln>
        </p:spPr>
      </p:sp>
      <p:sp>
        <p:nvSpPr>
          <p:cNvPr id="41" name="Text 39"/>
          <p:cNvSpPr/>
          <p:nvPr/>
        </p:nvSpPr>
        <p:spPr>
          <a:xfrm>
            <a:off x="6876288" y="1389888"/>
            <a:ext cx="1883664"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BENCHMARK REPORTS</a:t>
            </a:r>
            <a:endParaRPr lang="en-US" sz="800" dirty="0"/>
          </a:p>
        </p:txBody>
      </p:sp>
      <p:sp>
        <p:nvSpPr>
          <p:cNvPr id="42" name="Text 40"/>
          <p:cNvSpPr/>
          <p:nvPr/>
        </p:nvSpPr>
        <p:spPr>
          <a:xfrm>
            <a:off x="6876288" y="1737360"/>
            <a:ext cx="1883664" cy="420624"/>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$299–$999/report</a:t>
            </a:r>
            <a:endParaRPr lang="en-US" sz="1200" dirty="0"/>
          </a:p>
        </p:txBody>
      </p:sp>
      <p:sp>
        <p:nvSpPr>
          <p:cNvPr id="43" name="Text 41"/>
          <p:cNvSpPr/>
          <p:nvPr/>
        </p:nvSpPr>
        <p:spPr>
          <a:xfrm>
            <a:off x="6876288" y="2176272"/>
            <a:ext cx="1883664"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Data &amp; Intelligence Products</a:t>
            </a:r>
            <a:endParaRPr lang="en-US" sz="1000" dirty="0"/>
          </a:p>
        </p:txBody>
      </p:sp>
      <p:sp>
        <p:nvSpPr>
          <p:cNvPr id="44" name="Text 42"/>
          <p:cNvSpPr/>
          <p:nvPr/>
        </p:nvSpPr>
        <p:spPr>
          <a:xfrm>
            <a:off x="6876288" y="2542032"/>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Quarterly VC metrics benchmarks</a:t>
            </a:r>
            <a:endParaRPr lang="en-US" sz="850" dirty="0"/>
          </a:p>
        </p:txBody>
      </p:sp>
      <p:sp>
        <p:nvSpPr>
          <p:cNvPr id="45" name="Text 43"/>
          <p:cNvSpPr/>
          <p:nvPr/>
        </p:nvSpPr>
        <p:spPr>
          <a:xfrm>
            <a:off x="6876288" y="2843784"/>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Sector-specific deep dives</a:t>
            </a:r>
            <a:endParaRPr lang="en-US" sz="850" dirty="0"/>
          </a:p>
        </p:txBody>
      </p:sp>
      <p:sp>
        <p:nvSpPr>
          <p:cNvPr id="46" name="Text 44"/>
          <p:cNvSpPr/>
          <p:nvPr/>
        </p:nvSpPr>
        <p:spPr>
          <a:xfrm>
            <a:off x="6876288" y="3145536"/>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Anonymized aggregated insights</a:t>
            </a:r>
            <a:endParaRPr lang="en-US" sz="850" dirty="0"/>
          </a:p>
        </p:txBody>
      </p:sp>
      <p:sp>
        <p:nvSpPr>
          <p:cNvPr id="47" name="Text 45"/>
          <p:cNvSpPr/>
          <p:nvPr/>
        </p:nvSpPr>
        <p:spPr>
          <a:xfrm>
            <a:off x="6876288" y="3447288"/>
            <a:ext cx="1883664" cy="274320"/>
          </a:xfrm>
          <a:prstGeom prst="rect">
            <a:avLst/>
          </a:prstGeom>
          <a:noFill/>
          <a:ln/>
        </p:spPr>
        <p:txBody>
          <a:bodyPr wrap="square" lIns="0" tIns="0" rIns="0" bIns="0" rtlCol="0" anchor="ctr"/>
          <a:lstStyle/>
          <a:p>
            <a:pPr indent="0" marL="0">
              <a:buNone/>
            </a:pPr>
            <a:r>
              <a:rPr lang="en-US" sz="850" dirty="0">
                <a:solidFill>
                  <a:srgbClr val="A0AEC0"/>
                </a:solidFill>
                <a:latin typeface="Calibri" pitchFamily="34" charset="0"/>
                <a:ea typeface="Calibri" pitchFamily="34" charset="-122"/>
                <a:cs typeface="Calibri" pitchFamily="34" charset="-120"/>
              </a:rPr>
              <a:t>✓ Sold to VCs, PE firms, CFOs</a:t>
            </a:r>
            <a:endParaRPr lang="en-US" sz="850" dirty="0"/>
          </a:p>
        </p:txBody>
      </p:sp>
      <p:sp>
        <p:nvSpPr>
          <p:cNvPr id="48" name="Shape 46"/>
          <p:cNvSpPr/>
          <p:nvPr/>
        </p:nvSpPr>
        <p:spPr>
          <a:xfrm>
            <a:off x="6858000" y="4151376"/>
            <a:ext cx="1920240" cy="201168"/>
          </a:xfrm>
          <a:prstGeom prst="rect">
            <a:avLst/>
          </a:prstGeom>
          <a:solidFill>
            <a:srgbClr val="F59E0B">
              <a:alpha val="25000"/>
            </a:srgbClr>
          </a:solidFill>
          <a:ln w="12700">
            <a:solidFill>
              <a:srgbClr val="F59E0B"/>
            </a:solidFill>
            <a:prstDash val="solid"/>
          </a:ln>
        </p:spPr>
      </p:sp>
      <p:sp>
        <p:nvSpPr>
          <p:cNvPr id="49" name="Text 47"/>
          <p:cNvSpPr/>
          <p:nvPr/>
        </p:nvSpPr>
        <p:spPr>
          <a:xfrm>
            <a:off x="6858000" y="4151376"/>
            <a:ext cx="192024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Asset-light, high margin</a:t>
            </a:r>
            <a:endParaRPr lang="en-US" sz="800" dirty="0"/>
          </a:p>
        </p:txBody>
      </p:sp>
      <p:sp>
        <p:nvSpPr>
          <p:cNvPr id="50" name="Text 48"/>
          <p:cNvSpPr/>
          <p:nvPr/>
        </p:nvSpPr>
        <p:spPr>
          <a:xfrm>
            <a:off x="274320" y="4553712"/>
            <a:ext cx="8595360" cy="237744"/>
          </a:xfrm>
          <a:prstGeom prst="rect">
            <a:avLst/>
          </a:prstGeom>
          <a:noFill/>
          <a:ln/>
        </p:spPr>
        <p:txBody>
          <a:bodyPr wrap="square" lIns="0" tIns="0" rIns="0" bIns="0" rtlCol="0" anchor="ctr"/>
          <a:lstStyle/>
          <a:p>
            <a:pPr algn="ctr" indent="0" marL="0">
              <a:buNone/>
            </a:pPr>
            <a:r>
              <a:rPr lang="en-US" sz="950" i="1" dirty="0">
                <a:solidFill>
                  <a:srgbClr val="F59E0B"/>
                </a:solidFill>
                <a:latin typeface="Calibri" pitchFamily="34" charset="0"/>
                <a:ea typeface="Calibri" pitchFamily="34" charset="-122"/>
                <a:cs typeface="Calibri" pitchFamily="34" charset="-120"/>
              </a:rPr>
              <a:t>Blended LTV:CAC &gt; 8:1 at scale  ·  B2B Gross Margin ~85%  ·  Free tier CAC = $0</a:t>
            </a:r>
            <a:endParaRPr lang="en-US" sz="950" dirty="0"/>
          </a:p>
        </p:txBody>
      </p:sp>
      <p:sp>
        <p:nvSpPr>
          <p:cNvPr id="51" name="Text 49"/>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COMPETITIVE LANDSCAPE</a:t>
            </a:r>
            <a:endParaRPr lang="en-US" sz="700" dirty="0"/>
          </a:p>
        </p:txBody>
      </p:sp>
      <p:sp>
        <p:nvSpPr>
          <p:cNvPr id="5" name="Text 3"/>
          <p:cNvSpPr/>
          <p:nvPr/>
        </p:nvSpPr>
        <p:spPr>
          <a:xfrm>
            <a:off x="548640" y="594360"/>
            <a:ext cx="777240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Competitors charge for what we give away.</a:t>
            </a:r>
            <a:endParaRPr lang="en-US" sz="2600" dirty="0"/>
          </a:p>
        </p:txBody>
      </p:sp>
      <p:sp>
        <p:nvSpPr>
          <p:cNvPr id="6" name="Shape 4"/>
          <p:cNvSpPr/>
          <p:nvPr/>
        </p:nvSpPr>
        <p:spPr>
          <a:xfrm>
            <a:off x="891540" y="1371600"/>
            <a:ext cx="1920240" cy="347472"/>
          </a:xfrm>
          <a:prstGeom prst="rect">
            <a:avLst/>
          </a:prstGeom>
          <a:solidFill>
            <a:srgbClr val="334155"/>
          </a:solidFill>
          <a:ln w="12700">
            <a:solidFill>
              <a:srgbClr val="334155"/>
            </a:solidFill>
            <a:prstDash val="solid"/>
          </a:ln>
        </p:spPr>
      </p:sp>
      <p:sp>
        <p:nvSpPr>
          <p:cNvPr id="7" name="Text 5"/>
          <p:cNvSpPr/>
          <p:nvPr/>
        </p:nvSpPr>
        <p:spPr>
          <a:xfrm>
            <a:off x="937260" y="1371600"/>
            <a:ext cx="1828800" cy="347472"/>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p>
        </p:txBody>
      </p:sp>
      <p:sp>
        <p:nvSpPr>
          <p:cNvPr id="8" name="Shape 6"/>
          <p:cNvSpPr/>
          <p:nvPr/>
        </p:nvSpPr>
        <p:spPr>
          <a:xfrm>
            <a:off x="2811780" y="1371600"/>
            <a:ext cx="1371600" cy="347472"/>
          </a:xfrm>
          <a:prstGeom prst="rect">
            <a:avLst/>
          </a:prstGeom>
          <a:solidFill>
            <a:srgbClr val="7C3AED"/>
          </a:solidFill>
          <a:ln w="12700">
            <a:solidFill>
              <a:srgbClr val="7C3AED"/>
            </a:solidFill>
            <a:prstDash val="solid"/>
          </a:ln>
        </p:spPr>
      </p:sp>
      <p:sp>
        <p:nvSpPr>
          <p:cNvPr id="9" name="Text 7"/>
          <p:cNvSpPr/>
          <p:nvPr/>
        </p:nvSpPr>
        <p:spPr>
          <a:xfrm>
            <a:off x="2857500" y="1371600"/>
            <a:ext cx="12801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VenturePilot</a:t>
            </a:r>
            <a:endParaRPr lang="en-US" sz="900" dirty="0"/>
          </a:p>
        </p:txBody>
      </p:sp>
      <p:sp>
        <p:nvSpPr>
          <p:cNvPr id="10" name="Shape 8"/>
          <p:cNvSpPr/>
          <p:nvPr/>
        </p:nvSpPr>
        <p:spPr>
          <a:xfrm>
            <a:off x="4183380" y="1371600"/>
            <a:ext cx="1188720" cy="347472"/>
          </a:xfrm>
          <a:prstGeom prst="rect">
            <a:avLst/>
          </a:prstGeom>
          <a:solidFill>
            <a:srgbClr val="334155"/>
          </a:solidFill>
          <a:ln w="12700">
            <a:solidFill>
              <a:srgbClr val="334155"/>
            </a:solidFill>
            <a:prstDash val="solid"/>
          </a:ln>
        </p:spPr>
      </p:sp>
      <p:sp>
        <p:nvSpPr>
          <p:cNvPr id="11" name="Text 9"/>
          <p:cNvSpPr/>
          <p:nvPr/>
        </p:nvSpPr>
        <p:spPr>
          <a:xfrm>
            <a:off x="4229100" y="1371600"/>
            <a:ext cx="109728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Visible.vc</a:t>
            </a:r>
            <a:endParaRPr lang="en-US" sz="900" dirty="0"/>
          </a:p>
        </p:txBody>
      </p:sp>
      <p:sp>
        <p:nvSpPr>
          <p:cNvPr id="12" name="Shape 10"/>
          <p:cNvSpPr/>
          <p:nvPr/>
        </p:nvSpPr>
        <p:spPr>
          <a:xfrm>
            <a:off x="5372100" y="1371600"/>
            <a:ext cx="914400" cy="347472"/>
          </a:xfrm>
          <a:prstGeom prst="rect">
            <a:avLst/>
          </a:prstGeom>
          <a:solidFill>
            <a:srgbClr val="334155"/>
          </a:solidFill>
          <a:ln w="12700">
            <a:solidFill>
              <a:srgbClr val="334155"/>
            </a:solidFill>
            <a:prstDash val="solid"/>
          </a:ln>
        </p:spPr>
      </p:sp>
      <p:sp>
        <p:nvSpPr>
          <p:cNvPr id="13" name="Text 11"/>
          <p:cNvSpPr/>
          <p:nvPr/>
        </p:nvSpPr>
        <p:spPr>
          <a:xfrm>
            <a:off x="5417820" y="1371600"/>
            <a:ext cx="8229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Cabal</a:t>
            </a:r>
            <a:endParaRPr lang="en-US" sz="900" dirty="0"/>
          </a:p>
        </p:txBody>
      </p:sp>
      <p:sp>
        <p:nvSpPr>
          <p:cNvPr id="14" name="Shape 12"/>
          <p:cNvSpPr/>
          <p:nvPr/>
        </p:nvSpPr>
        <p:spPr>
          <a:xfrm>
            <a:off x="6286500" y="1371600"/>
            <a:ext cx="1051560" cy="347472"/>
          </a:xfrm>
          <a:prstGeom prst="rect">
            <a:avLst/>
          </a:prstGeom>
          <a:solidFill>
            <a:srgbClr val="334155"/>
          </a:solidFill>
          <a:ln w="12700">
            <a:solidFill>
              <a:srgbClr val="334155"/>
            </a:solidFill>
            <a:prstDash val="solid"/>
          </a:ln>
        </p:spPr>
      </p:sp>
      <p:sp>
        <p:nvSpPr>
          <p:cNvPr id="15" name="Text 13"/>
          <p:cNvSpPr/>
          <p:nvPr/>
        </p:nvSpPr>
        <p:spPr>
          <a:xfrm>
            <a:off x="6332220" y="1371600"/>
            <a:ext cx="9601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Runway</a:t>
            </a:r>
            <a:endParaRPr lang="en-US" sz="900" dirty="0"/>
          </a:p>
        </p:txBody>
      </p:sp>
      <p:sp>
        <p:nvSpPr>
          <p:cNvPr id="16" name="Shape 14"/>
          <p:cNvSpPr/>
          <p:nvPr/>
        </p:nvSpPr>
        <p:spPr>
          <a:xfrm>
            <a:off x="7338060" y="1371600"/>
            <a:ext cx="914400" cy="347472"/>
          </a:xfrm>
          <a:prstGeom prst="rect">
            <a:avLst/>
          </a:prstGeom>
          <a:solidFill>
            <a:srgbClr val="334155"/>
          </a:solidFill>
          <a:ln w="12700">
            <a:solidFill>
              <a:srgbClr val="334155"/>
            </a:solidFill>
            <a:prstDash val="solid"/>
          </a:ln>
        </p:spPr>
      </p:sp>
      <p:sp>
        <p:nvSpPr>
          <p:cNvPr id="17" name="Text 15"/>
          <p:cNvSpPr/>
          <p:nvPr/>
        </p:nvSpPr>
        <p:spPr>
          <a:xfrm>
            <a:off x="7383780" y="1371600"/>
            <a:ext cx="8229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Notion</a:t>
            </a:r>
            <a:endParaRPr lang="en-US" sz="900" dirty="0"/>
          </a:p>
        </p:txBody>
      </p:sp>
      <p:sp>
        <p:nvSpPr>
          <p:cNvPr id="18" name="Shape 16"/>
          <p:cNvSpPr/>
          <p:nvPr/>
        </p:nvSpPr>
        <p:spPr>
          <a:xfrm>
            <a:off x="891540" y="1719072"/>
            <a:ext cx="1920240" cy="347472"/>
          </a:xfrm>
          <a:prstGeom prst="rect">
            <a:avLst/>
          </a:prstGeom>
          <a:solidFill>
            <a:srgbClr val="16133A"/>
          </a:solidFill>
          <a:ln w="12700">
            <a:solidFill>
              <a:srgbClr val="16133A"/>
            </a:solidFill>
            <a:prstDash val="solid"/>
          </a:ln>
        </p:spPr>
      </p:sp>
      <p:sp>
        <p:nvSpPr>
          <p:cNvPr id="19" name="Text 17"/>
          <p:cNvSpPr/>
          <p:nvPr/>
        </p:nvSpPr>
        <p:spPr>
          <a:xfrm>
            <a:off x="964692" y="1719072"/>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AI Strategy Engine</a:t>
            </a:r>
            <a:endParaRPr lang="en-US" sz="950" dirty="0"/>
          </a:p>
        </p:txBody>
      </p:sp>
      <p:sp>
        <p:nvSpPr>
          <p:cNvPr id="20" name="Shape 18"/>
          <p:cNvSpPr/>
          <p:nvPr/>
        </p:nvSpPr>
        <p:spPr>
          <a:xfrm>
            <a:off x="2811780" y="1719072"/>
            <a:ext cx="1371600" cy="347472"/>
          </a:xfrm>
          <a:prstGeom prst="rect">
            <a:avLst/>
          </a:prstGeom>
          <a:solidFill>
            <a:srgbClr val="16133A"/>
          </a:solidFill>
          <a:ln w="12700">
            <a:solidFill>
              <a:srgbClr val="16133A"/>
            </a:solidFill>
            <a:prstDash val="solid"/>
          </a:ln>
        </p:spPr>
      </p:sp>
      <p:sp>
        <p:nvSpPr>
          <p:cNvPr id="21" name="Shape 19"/>
          <p:cNvSpPr/>
          <p:nvPr/>
        </p:nvSpPr>
        <p:spPr>
          <a:xfrm>
            <a:off x="2811780" y="1719072"/>
            <a:ext cx="36576" cy="347472"/>
          </a:xfrm>
          <a:prstGeom prst="rect">
            <a:avLst/>
          </a:prstGeom>
          <a:solidFill>
            <a:srgbClr val="7C3AED"/>
          </a:solidFill>
          <a:ln w="12700">
            <a:solidFill>
              <a:srgbClr val="7C3AED"/>
            </a:solidFill>
            <a:prstDash val="solid"/>
          </a:ln>
        </p:spPr>
      </p:sp>
      <p:sp>
        <p:nvSpPr>
          <p:cNvPr id="22" name="Text 20"/>
          <p:cNvSpPr/>
          <p:nvPr/>
        </p:nvSpPr>
        <p:spPr>
          <a:xfrm>
            <a:off x="2857500" y="1719072"/>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On-device</a:t>
            </a:r>
            <a:endParaRPr lang="en-US" sz="900" dirty="0"/>
          </a:p>
        </p:txBody>
      </p:sp>
      <p:sp>
        <p:nvSpPr>
          <p:cNvPr id="23" name="Shape 21"/>
          <p:cNvSpPr/>
          <p:nvPr/>
        </p:nvSpPr>
        <p:spPr>
          <a:xfrm>
            <a:off x="4183380" y="1719072"/>
            <a:ext cx="1188720" cy="347472"/>
          </a:xfrm>
          <a:prstGeom prst="rect">
            <a:avLst/>
          </a:prstGeom>
          <a:solidFill>
            <a:srgbClr val="16133A"/>
          </a:solidFill>
          <a:ln w="12700">
            <a:solidFill>
              <a:srgbClr val="16133A"/>
            </a:solidFill>
            <a:prstDash val="solid"/>
          </a:ln>
        </p:spPr>
      </p:sp>
      <p:sp>
        <p:nvSpPr>
          <p:cNvPr id="24" name="Text 22"/>
          <p:cNvSpPr/>
          <p:nvPr/>
        </p:nvSpPr>
        <p:spPr>
          <a:xfrm>
            <a:off x="4229100" y="1719072"/>
            <a:ext cx="109728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25" name="Shape 23"/>
          <p:cNvSpPr/>
          <p:nvPr/>
        </p:nvSpPr>
        <p:spPr>
          <a:xfrm>
            <a:off x="5372100" y="1719072"/>
            <a:ext cx="914400" cy="347472"/>
          </a:xfrm>
          <a:prstGeom prst="rect">
            <a:avLst/>
          </a:prstGeom>
          <a:solidFill>
            <a:srgbClr val="16133A"/>
          </a:solidFill>
          <a:ln w="12700">
            <a:solidFill>
              <a:srgbClr val="16133A"/>
            </a:solidFill>
            <a:prstDash val="solid"/>
          </a:ln>
        </p:spPr>
      </p:sp>
      <p:sp>
        <p:nvSpPr>
          <p:cNvPr id="26" name="Text 24"/>
          <p:cNvSpPr/>
          <p:nvPr/>
        </p:nvSpPr>
        <p:spPr>
          <a:xfrm>
            <a:off x="5417820" y="1719072"/>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27" name="Shape 25"/>
          <p:cNvSpPr/>
          <p:nvPr/>
        </p:nvSpPr>
        <p:spPr>
          <a:xfrm>
            <a:off x="6286500" y="1719072"/>
            <a:ext cx="1051560" cy="347472"/>
          </a:xfrm>
          <a:prstGeom prst="rect">
            <a:avLst/>
          </a:prstGeom>
          <a:solidFill>
            <a:srgbClr val="16133A"/>
          </a:solidFill>
          <a:ln w="12700">
            <a:solidFill>
              <a:srgbClr val="16133A"/>
            </a:solidFill>
            <a:prstDash val="solid"/>
          </a:ln>
        </p:spPr>
      </p:sp>
      <p:sp>
        <p:nvSpPr>
          <p:cNvPr id="28" name="Text 26"/>
          <p:cNvSpPr/>
          <p:nvPr/>
        </p:nvSpPr>
        <p:spPr>
          <a:xfrm>
            <a:off x="6332220" y="1719072"/>
            <a:ext cx="96012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29" name="Shape 27"/>
          <p:cNvSpPr/>
          <p:nvPr/>
        </p:nvSpPr>
        <p:spPr>
          <a:xfrm>
            <a:off x="7338060" y="1719072"/>
            <a:ext cx="914400" cy="347472"/>
          </a:xfrm>
          <a:prstGeom prst="rect">
            <a:avLst/>
          </a:prstGeom>
          <a:solidFill>
            <a:srgbClr val="16133A"/>
          </a:solidFill>
          <a:ln w="12700">
            <a:solidFill>
              <a:srgbClr val="16133A"/>
            </a:solidFill>
            <a:prstDash val="solid"/>
          </a:ln>
        </p:spPr>
      </p:sp>
      <p:sp>
        <p:nvSpPr>
          <p:cNvPr id="30" name="Text 28"/>
          <p:cNvSpPr/>
          <p:nvPr/>
        </p:nvSpPr>
        <p:spPr>
          <a:xfrm>
            <a:off x="7383780" y="1719072"/>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31" name="Shape 29"/>
          <p:cNvSpPr/>
          <p:nvPr/>
        </p:nvSpPr>
        <p:spPr>
          <a:xfrm>
            <a:off x="891540" y="2066544"/>
            <a:ext cx="1920240" cy="347472"/>
          </a:xfrm>
          <a:prstGeom prst="rect">
            <a:avLst/>
          </a:prstGeom>
          <a:solidFill>
            <a:srgbClr val="0F0E27"/>
          </a:solidFill>
          <a:ln w="12700">
            <a:solidFill>
              <a:srgbClr val="0F0E27"/>
            </a:solidFill>
            <a:prstDash val="solid"/>
          </a:ln>
        </p:spPr>
      </p:sp>
      <p:sp>
        <p:nvSpPr>
          <p:cNvPr id="32" name="Text 30"/>
          <p:cNvSpPr/>
          <p:nvPr/>
        </p:nvSpPr>
        <p:spPr>
          <a:xfrm>
            <a:off x="964692" y="2066544"/>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Auto Pitch Deck</a:t>
            </a:r>
            <a:endParaRPr lang="en-US" sz="950" dirty="0"/>
          </a:p>
        </p:txBody>
      </p:sp>
      <p:sp>
        <p:nvSpPr>
          <p:cNvPr id="33" name="Shape 31"/>
          <p:cNvSpPr/>
          <p:nvPr/>
        </p:nvSpPr>
        <p:spPr>
          <a:xfrm>
            <a:off x="2811780" y="2066544"/>
            <a:ext cx="1371600" cy="347472"/>
          </a:xfrm>
          <a:prstGeom prst="rect">
            <a:avLst/>
          </a:prstGeom>
          <a:solidFill>
            <a:srgbClr val="16133A"/>
          </a:solidFill>
          <a:ln w="12700">
            <a:solidFill>
              <a:srgbClr val="16133A"/>
            </a:solidFill>
            <a:prstDash val="solid"/>
          </a:ln>
        </p:spPr>
      </p:sp>
      <p:sp>
        <p:nvSpPr>
          <p:cNvPr id="34" name="Shape 32"/>
          <p:cNvSpPr/>
          <p:nvPr/>
        </p:nvSpPr>
        <p:spPr>
          <a:xfrm>
            <a:off x="2811780" y="2066544"/>
            <a:ext cx="36576" cy="347472"/>
          </a:xfrm>
          <a:prstGeom prst="rect">
            <a:avLst/>
          </a:prstGeom>
          <a:solidFill>
            <a:srgbClr val="7C3AED"/>
          </a:solidFill>
          <a:ln w="12700">
            <a:solidFill>
              <a:srgbClr val="7C3AED"/>
            </a:solidFill>
            <a:prstDash val="solid"/>
          </a:ln>
        </p:spPr>
      </p:sp>
      <p:sp>
        <p:nvSpPr>
          <p:cNvPr id="35" name="Text 33"/>
          <p:cNvSpPr/>
          <p:nvPr/>
        </p:nvSpPr>
        <p:spPr>
          <a:xfrm>
            <a:off x="2857500" y="2066544"/>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Free</a:t>
            </a:r>
            <a:endParaRPr lang="en-US" sz="900" dirty="0"/>
          </a:p>
        </p:txBody>
      </p:sp>
      <p:sp>
        <p:nvSpPr>
          <p:cNvPr id="36" name="Shape 34"/>
          <p:cNvSpPr/>
          <p:nvPr/>
        </p:nvSpPr>
        <p:spPr>
          <a:xfrm>
            <a:off x="4183380" y="2066544"/>
            <a:ext cx="1188720" cy="347472"/>
          </a:xfrm>
          <a:prstGeom prst="rect">
            <a:avLst/>
          </a:prstGeom>
          <a:solidFill>
            <a:srgbClr val="0F0E27"/>
          </a:solidFill>
          <a:ln w="12700">
            <a:solidFill>
              <a:srgbClr val="0F0E27"/>
            </a:solidFill>
            <a:prstDash val="solid"/>
          </a:ln>
        </p:spPr>
      </p:sp>
      <p:sp>
        <p:nvSpPr>
          <p:cNvPr id="37" name="Text 35"/>
          <p:cNvSpPr/>
          <p:nvPr/>
        </p:nvSpPr>
        <p:spPr>
          <a:xfrm>
            <a:off x="4229100" y="2066544"/>
            <a:ext cx="109728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38" name="Shape 36"/>
          <p:cNvSpPr/>
          <p:nvPr/>
        </p:nvSpPr>
        <p:spPr>
          <a:xfrm>
            <a:off x="5372100" y="2066544"/>
            <a:ext cx="914400" cy="347472"/>
          </a:xfrm>
          <a:prstGeom prst="rect">
            <a:avLst/>
          </a:prstGeom>
          <a:solidFill>
            <a:srgbClr val="0F0E27"/>
          </a:solidFill>
          <a:ln w="12700">
            <a:solidFill>
              <a:srgbClr val="0F0E27"/>
            </a:solidFill>
            <a:prstDash val="solid"/>
          </a:ln>
        </p:spPr>
      </p:sp>
      <p:sp>
        <p:nvSpPr>
          <p:cNvPr id="39" name="Text 37"/>
          <p:cNvSpPr/>
          <p:nvPr/>
        </p:nvSpPr>
        <p:spPr>
          <a:xfrm>
            <a:off x="5417820" y="2066544"/>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40" name="Shape 38"/>
          <p:cNvSpPr/>
          <p:nvPr/>
        </p:nvSpPr>
        <p:spPr>
          <a:xfrm>
            <a:off x="6286500" y="2066544"/>
            <a:ext cx="1051560" cy="347472"/>
          </a:xfrm>
          <a:prstGeom prst="rect">
            <a:avLst/>
          </a:prstGeom>
          <a:solidFill>
            <a:srgbClr val="0F0E27"/>
          </a:solidFill>
          <a:ln w="12700">
            <a:solidFill>
              <a:srgbClr val="0F0E27"/>
            </a:solidFill>
            <a:prstDash val="solid"/>
          </a:ln>
        </p:spPr>
      </p:sp>
      <p:sp>
        <p:nvSpPr>
          <p:cNvPr id="41" name="Text 39"/>
          <p:cNvSpPr/>
          <p:nvPr/>
        </p:nvSpPr>
        <p:spPr>
          <a:xfrm>
            <a:off x="6332220" y="2066544"/>
            <a:ext cx="96012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42" name="Shape 40"/>
          <p:cNvSpPr/>
          <p:nvPr/>
        </p:nvSpPr>
        <p:spPr>
          <a:xfrm>
            <a:off x="7338060" y="2066544"/>
            <a:ext cx="914400" cy="347472"/>
          </a:xfrm>
          <a:prstGeom prst="rect">
            <a:avLst/>
          </a:prstGeom>
          <a:solidFill>
            <a:srgbClr val="0F0E27"/>
          </a:solidFill>
          <a:ln w="12700">
            <a:solidFill>
              <a:srgbClr val="0F0E27"/>
            </a:solidFill>
            <a:prstDash val="solid"/>
          </a:ln>
        </p:spPr>
      </p:sp>
      <p:sp>
        <p:nvSpPr>
          <p:cNvPr id="43" name="Text 41"/>
          <p:cNvSpPr/>
          <p:nvPr/>
        </p:nvSpPr>
        <p:spPr>
          <a:xfrm>
            <a:off x="7383780" y="2066544"/>
            <a:ext cx="822960" cy="347472"/>
          </a:xfrm>
          <a:prstGeom prst="rect">
            <a:avLst/>
          </a:prstGeom>
          <a:noFill/>
          <a:ln/>
        </p:spPr>
        <p:txBody>
          <a:bodyPr wrap="square" lIns="0" tIns="0" rIns="0" bIns="0" rtlCol="0" anchor="ctr"/>
          <a:lstStyle/>
          <a:p>
            <a:pPr algn="ctr" indent="0" marL="0">
              <a:buNone/>
            </a:pPr>
            <a:r>
              <a:rPr lang="en-US" sz="900" dirty="0">
                <a:solidFill>
                  <a:srgbClr val="F59E0B"/>
                </a:solidFill>
                <a:latin typeface="Calibri" pitchFamily="34" charset="0"/>
                <a:ea typeface="Calibri" pitchFamily="34" charset="-122"/>
                <a:cs typeface="Calibri" pitchFamily="34" charset="-120"/>
              </a:rPr>
              <a:t>⚠️ Manual</a:t>
            </a:r>
            <a:endParaRPr lang="en-US" sz="900" dirty="0"/>
          </a:p>
        </p:txBody>
      </p:sp>
      <p:sp>
        <p:nvSpPr>
          <p:cNvPr id="44" name="Shape 42"/>
          <p:cNvSpPr/>
          <p:nvPr/>
        </p:nvSpPr>
        <p:spPr>
          <a:xfrm>
            <a:off x="891540" y="2414016"/>
            <a:ext cx="1920240" cy="347472"/>
          </a:xfrm>
          <a:prstGeom prst="rect">
            <a:avLst/>
          </a:prstGeom>
          <a:solidFill>
            <a:srgbClr val="16133A"/>
          </a:solidFill>
          <a:ln w="12700">
            <a:solidFill>
              <a:srgbClr val="16133A"/>
            </a:solidFill>
            <a:prstDash val="solid"/>
          </a:ln>
        </p:spPr>
      </p:sp>
      <p:sp>
        <p:nvSpPr>
          <p:cNvPr id="45" name="Text 43"/>
          <p:cNvSpPr/>
          <p:nvPr/>
        </p:nvSpPr>
        <p:spPr>
          <a:xfrm>
            <a:off x="964692" y="2414016"/>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Valuation Modeler</a:t>
            </a:r>
            <a:endParaRPr lang="en-US" sz="950" dirty="0"/>
          </a:p>
        </p:txBody>
      </p:sp>
      <p:sp>
        <p:nvSpPr>
          <p:cNvPr id="46" name="Shape 44"/>
          <p:cNvSpPr/>
          <p:nvPr/>
        </p:nvSpPr>
        <p:spPr>
          <a:xfrm>
            <a:off x="2811780" y="2414016"/>
            <a:ext cx="1371600" cy="347472"/>
          </a:xfrm>
          <a:prstGeom prst="rect">
            <a:avLst/>
          </a:prstGeom>
          <a:solidFill>
            <a:srgbClr val="16133A"/>
          </a:solidFill>
          <a:ln w="12700">
            <a:solidFill>
              <a:srgbClr val="16133A"/>
            </a:solidFill>
            <a:prstDash val="solid"/>
          </a:ln>
        </p:spPr>
      </p:sp>
      <p:sp>
        <p:nvSpPr>
          <p:cNvPr id="47" name="Shape 45"/>
          <p:cNvSpPr/>
          <p:nvPr/>
        </p:nvSpPr>
        <p:spPr>
          <a:xfrm>
            <a:off x="2811780" y="2414016"/>
            <a:ext cx="36576" cy="347472"/>
          </a:xfrm>
          <a:prstGeom prst="rect">
            <a:avLst/>
          </a:prstGeom>
          <a:solidFill>
            <a:srgbClr val="7C3AED"/>
          </a:solidFill>
          <a:ln w="12700">
            <a:solidFill>
              <a:srgbClr val="7C3AED"/>
            </a:solidFill>
            <a:prstDash val="solid"/>
          </a:ln>
        </p:spPr>
      </p:sp>
      <p:sp>
        <p:nvSpPr>
          <p:cNvPr id="48" name="Text 46"/>
          <p:cNvSpPr/>
          <p:nvPr/>
        </p:nvSpPr>
        <p:spPr>
          <a:xfrm>
            <a:off x="2857500" y="2414016"/>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Built-in</a:t>
            </a:r>
            <a:endParaRPr lang="en-US" sz="900" dirty="0"/>
          </a:p>
        </p:txBody>
      </p:sp>
      <p:sp>
        <p:nvSpPr>
          <p:cNvPr id="49" name="Shape 47"/>
          <p:cNvSpPr/>
          <p:nvPr/>
        </p:nvSpPr>
        <p:spPr>
          <a:xfrm>
            <a:off x="4183380" y="2414016"/>
            <a:ext cx="1188720" cy="347472"/>
          </a:xfrm>
          <a:prstGeom prst="rect">
            <a:avLst/>
          </a:prstGeom>
          <a:solidFill>
            <a:srgbClr val="16133A"/>
          </a:solidFill>
          <a:ln w="12700">
            <a:solidFill>
              <a:srgbClr val="16133A"/>
            </a:solidFill>
            <a:prstDash val="solid"/>
          </a:ln>
        </p:spPr>
      </p:sp>
      <p:sp>
        <p:nvSpPr>
          <p:cNvPr id="50" name="Text 48"/>
          <p:cNvSpPr/>
          <p:nvPr/>
        </p:nvSpPr>
        <p:spPr>
          <a:xfrm>
            <a:off x="4229100" y="2414016"/>
            <a:ext cx="109728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51" name="Shape 49"/>
          <p:cNvSpPr/>
          <p:nvPr/>
        </p:nvSpPr>
        <p:spPr>
          <a:xfrm>
            <a:off x="5372100" y="2414016"/>
            <a:ext cx="914400" cy="347472"/>
          </a:xfrm>
          <a:prstGeom prst="rect">
            <a:avLst/>
          </a:prstGeom>
          <a:solidFill>
            <a:srgbClr val="16133A"/>
          </a:solidFill>
          <a:ln w="12700">
            <a:solidFill>
              <a:srgbClr val="16133A"/>
            </a:solidFill>
            <a:prstDash val="solid"/>
          </a:ln>
        </p:spPr>
      </p:sp>
      <p:sp>
        <p:nvSpPr>
          <p:cNvPr id="52" name="Text 50"/>
          <p:cNvSpPr/>
          <p:nvPr/>
        </p:nvSpPr>
        <p:spPr>
          <a:xfrm>
            <a:off x="5417820" y="2414016"/>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53" name="Shape 51"/>
          <p:cNvSpPr/>
          <p:nvPr/>
        </p:nvSpPr>
        <p:spPr>
          <a:xfrm>
            <a:off x="6286500" y="2414016"/>
            <a:ext cx="1051560" cy="347472"/>
          </a:xfrm>
          <a:prstGeom prst="rect">
            <a:avLst/>
          </a:prstGeom>
          <a:solidFill>
            <a:srgbClr val="16133A"/>
          </a:solidFill>
          <a:ln w="12700">
            <a:solidFill>
              <a:srgbClr val="16133A"/>
            </a:solidFill>
            <a:prstDash val="solid"/>
          </a:ln>
        </p:spPr>
      </p:sp>
      <p:sp>
        <p:nvSpPr>
          <p:cNvPr id="54" name="Text 52"/>
          <p:cNvSpPr/>
          <p:nvPr/>
        </p:nvSpPr>
        <p:spPr>
          <a:xfrm>
            <a:off x="6332220" y="2414016"/>
            <a:ext cx="960120" cy="347472"/>
          </a:xfrm>
          <a:prstGeom prst="rect">
            <a:avLst/>
          </a:prstGeom>
          <a:noFill/>
          <a:ln/>
        </p:spPr>
        <p:txBody>
          <a:bodyPr wrap="square" lIns="0" tIns="0" rIns="0" bIns="0" rtlCol="0" anchor="ctr"/>
          <a:lstStyle/>
          <a:p>
            <a:pPr algn="ctr" indent="0" marL="0">
              <a:buNone/>
            </a:pPr>
            <a:r>
              <a:rPr lang="en-US" sz="900" dirty="0">
                <a:solidFill>
                  <a:srgbClr val="F59E0B"/>
                </a:solidFill>
                <a:latin typeface="Calibri" pitchFamily="34" charset="0"/>
                <a:ea typeface="Calibri" pitchFamily="34" charset="-122"/>
                <a:cs typeface="Calibri" pitchFamily="34" charset="-120"/>
              </a:rPr>
              <a:t>⚠️ Basic</a:t>
            </a:r>
            <a:endParaRPr lang="en-US" sz="900" dirty="0"/>
          </a:p>
        </p:txBody>
      </p:sp>
      <p:sp>
        <p:nvSpPr>
          <p:cNvPr id="55" name="Shape 53"/>
          <p:cNvSpPr/>
          <p:nvPr/>
        </p:nvSpPr>
        <p:spPr>
          <a:xfrm>
            <a:off x="7338060" y="2414016"/>
            <a:ext cx="914400" cy="347472"/>
          </a:xfrm>
          <a:prstGeom prst="rect">
            <a:avLst/>
          </a:prstGeom>
          <a:solidFill>
            <a:srgbClr val="16133A"/>
          </a:solidFill>
          <a:ln w="12700">
            <a:solidFill>
              <a:srgbClr val="16133A"/>
            </a:solidFill>
            <a:prstDash val="solid"/>
          </a:ln>
        </p:spPr>
      </p:sp>
      <p:sp>
        <p:nvSpPr>
          <p:cNvPr id="56" name="Text 54"/>
          <p:cNvSpPr/>
          <p:nvPr/>
        </p:nvSpPr>
        <p:spPr>
          <a:xfrm>
            <a:off x="7383780" y="2414016"/>
            <a:ext cx="822960" cy="347472"/>
          </a:xfrm>
          <a:prstGeom prst="rect">
            <a:avLst/>
          </a:prstGeom>
          <a:noFill/>
          <a:ln/>
        </p:spPr>
        <p:txBody>
          <a:bodyPr wrap="square" lIns="0" tIns="0" rIns="0" bIns="0" rtlCol="0" anchor="ctr"/>
          <a:lstStyle/>
          <a:p>
            <a:pPr algn="ctr" indent="0" marL="0">
              <a:buNone/>
            </a:pPr>
            <a:r>
              <a:rPr lang="en-US" sz="900" dirty="0">
                <a:solidFill>
                  <a:srgbClr val="F59E0B"/>
                </a:solidFill>
                <a:latin typeface="Calibri" pitchFamily="34" charset="0"/>
                <a:ea typeface="Calibri" pitchFamily="34" charset="-122"/>
                <a:cs typeface="Calibri" pitchFamily="34" charset="-120"/>
              </a:rPr>
              <a:t>⚠️ Template</a:t>
            </a:r>
            <a:endParaRPr lang="en-US" sz="900" dirty="0"/>
          </a:p>
        </p:txBody>
      </p:sp>
      <p:sp>
        <p:nvSpPr>
          <p:cNvPr id="57" name="Shape 55"/>
          <p:cNvSpPr/>
          <p:nvPr/>
        </p:nvSpPr>
        <p:spPr>
          <a:xfrm>
            <a:off x="891540" y="2761488"/>
            <a:ext cx="1920240" cy="347472"/>
          </a:xfrm>
          <a:prstGeom prst="rect">
            <a:avLst/>
          </a:prstGeom>
          <a:solidFill>
            <a:srgbClr val="0F0E27"/>
          </a:solidFill>
          <a:ln w="12700">
            <a:solidFill>
              <a:srgbClr val="0F0E27"/>
            </a:solidFill>
            <a:prstDash val="solid"/>
          </a:ln>
        </p:spPr>
      </p:sp>
      <p:sp>
        <p:nvSpPr>
          <p:cNvPr id="58" name="Text 56"/>
          <p:cNvSpPr/>
          <p:nvPr/>
        </p:nvSpPr>
        <p:spPr>
          <a:xfrm>
            <a:off x="964692" y="2761488"/>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Investor CRM</a:t>
            </a:r>
            <a:endParaRPr lang="en-US" sz="950" dirty="0"/>
          </a:p>
        </p:txBody>
      </p:sp>
      <p:sp>
        <p:nvSpPr>
          <p:cNvPr id="59" name="Shape 57"/>
          <p:cNvSpPr/>
          <p:nvPr/>
        </p:nvSpPr>
        <p:spPr>
          <a:xfrm>
            <a:off x="2811780" y="2761488"/>
            <a:ext cx="1371600" cy="347472"/>
          </a:xfrm>
          <a:prstGeom prst="rect">
            <a:avLst/>
          </a:prstGeom>
          <a:solidFill>
            <a:srgbClr val="16133A"/>
          </a:solidFill>
          <a:ln w="12700">
            <a:solidFill>
              <a:srgbClr val="16133A"/>
            </a:solidFill>
            <a:prstDash val="solid"/>
          </a:ln>
        </p:spPr>
      </p:sp>
      <p:sp>
        <p:nvSpPr>
          <p:cNvPr id="60" name="Shape 58"/>
          <p:cNvSpPr/>
          <p:nvPr/>
        </p:nvSpPr>
        <p:spPr>
          <a:xfrm>
            <a:off x="2811780" y="2761488"/>
            <a:ext cx="36576" cy="347472"/>
          </a:xfrm>
          <a:prstGeom prst="rect">
            <a:avLst/>
          </a:prstGeom>
          <a:solidFill>
            <a:srgbClr val="7C3AED"/>
          </a:solidFill>
          <a:ln w="12700">
            <a:solidFill>
              <a:srgbClr val="7C3AED"/>
            </a:solidFill>
            <a:prstDash val="solid"/>
          </a:ln>
        </p:spPr>
      </p:sp>
      <p:sp>
        <p:nvSpPr>
          <p:cNvPr id="61" name="Text 59"/>
          <p:cNvSpPr/>
          <p:nvPr/>
        </p:nvSpPr>
        <p:spPr>
          <a:xfrm>
            <a:off x="2857500" y="2761488"/>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Built-in</a:t>
            </a:r>
            <a:endParaRPr lang="en-US" sz="900" dirty="0"/>
          </a:p>
        </p:txBody>
      </p:sp>
      <p:sp>
        <p:nvSpPr>
          <p:cNvPr id="62" name="Shape 60"/>
          <p:cNvSpPr/>
          <p:nvPr/>
        </p:nvSpPr>
        <p:spPr>
          <a:xfrm>
            <a:off x="4183380" y="2761488"/>
            <a:ext cx="1188720" cy="347472"/>
          </a:xfrm>
          <a:prstGeom prst="rect">
            <a:avLst/>
          </a:prstGeom>
          <a:solidFill>
            <a:srgbClr val="0F0E27"/>
          </a:solidFill>
          <a:ln w="12700">
            <a:solidFill>
              <a:srgbClr val="0F0E27"/>
            </a:solidFill>
            <a:prstDash val="solid"/>
          </a:ln>
        </p:spPr>
      </p:sp>
      <p:sp>
        <p:nvSpPr>
          <p:cNvPr id="63" name="Text 61"/>
          <p:cNvSpPr/>
          <p:nvPr/>
        </p:nvSpPr>
        <p:spPr>
          <a:xfrm>
            <a:off x="4229100" y="2761488"/>
            <a:ext cx="1097280" cy="347472"/>
          </a:xfrm>
          <a:prstGeom prst="rect">
            <a:avLst/>
          </a:prstGeom>
          <a:noFill/>
          <a:ln/>
        </p:spPr>
        <p:txBody>
          <a:bodyPr wrap="square" lIns="0" tIns="0" rIns="0" bIns="0" rtlCol="0" anchor="ctr"/>
          <a:lstStyle/>
          <a:p>
            <a:pPr algn="ctr" indent="0" marL="0">
              <a:buNone/>
            </a:pPr>
            <a:r>
              <a:rPr lang="en-US" sz="900" dirty="0">
                <a:solidFill>
                  <a:srgbClr val="10B981"/>
                </a:solidFill>
                <a:latin typeface="Calibri" pitchFamily="34" charset="0"/>
                <a:ea typeface="Calibri" pitchFamily="34" charset="-122"/>
                <a:cs typeface="Calibri" pitchFamily="34" charset="-120"/>
              </a:rPr>
              <a:t>✅ $500/mo</a:t>
            </a:r>
            <a:endParaRPr lang="en-US" sz="900" dirty="0"/>
          </a:p>
        </p:txBody>
      </p:sp>
      <p:sp>
        <p:nvSpPr>
          <p:cNvPr id="64" name="Shape 62"/>
          <p:cNvSpPr/>
          <p:nvPr/>
        </p:nvSpPr>
        <p:spPr>
          <a:xfrm>
            <a:off x="5372100" y="2761488"/>
            <a:ext cx="914400" cy="347472"/>
          </a:xfrm>
          <a:prstGeom prst="rect">
            <a:avLst/>
          </a:prstGeom>
          <a:solidFill>
            <a:srgbClr val="0F0E27"/>
          </a:solidFill>
          <a:ln w="12700">
            <a:solidFill>
              <a:srgbClr val="0F0E27"/>
            </a:solidFill>
            <a:prstDash val="solid"/>
          </a:ln>
        </p:spPr>
      </p:sp>
      <p:sp>
        <p:nvSpPr>
          <p:cNvPr id="65" name="Text 63"/>
          <p:cNvSpPr/>
          <p:nvPr/>
        </p:nvSpPr>
        <p:spPr>
          <a:xfrm>
            <a:off x="5417820" y="2761488"/>
            <a:ext cx="822960" cy="347472"/>
          </a:xfrm>
          <a:prstGeom prst="rect">
            <a:avLst/>
          </a:prstGeom>
          <a:noFill/>
          <a:ln/>
        </p:spPr>
        <p:txBody>
          <a:bodyPr wrap="square" lIns="0" tIns="0" rIns="0" bIns="0" rtlCol="0" anchor="ctr"/>
          <a:lstStyle/>
          <a:p>
            <a:pPr algn="ctr" indent="0" marL="0">
              <a:buNone/>
            </a:pPr>
            <a:r>
              <a:rPr lang="en-US" sz="900" dirty="0">
                <a:solidFill>
                  <a:srgbClr val="10B981"/>
                </a:solidFill>
                <a:latin typeface="Calibri" pitchFamily="34" charset="0"/>
                <a:ea typeface="Calibri" pitchFamily="34" charset="-122"/>
                <a:cs typeface="Calibri" pitchFamily="34" charset="-120"/>
              </a:rPr>
              <a:t>✅ $300/mo</a:t>
            </a:r>
            <a:endParaRPr lang="en-US" sz="900" dirty="0"/>
          </a:p>
        </p:txBody>
      </p:sp>
      <p:sp>
        <p:nvSpPr>
          <p:cNvPr id="66" name="Shape 64"/>
          <p:cNvSpPr/>
          <p:nvPr/>
        </p:nvSpPr>
        <p:spPr>
          <a:xfrm>
            <a:off x="6286500" y="2761488"/>
            <a:ext cx="1051560" cy="347472"/>
          </a:xfrm>
          <a:prstGeom prst="rect">
            <a:avLst/>
          </a:prstGeom>
          <a:solidFill>
            <a:srgbClr val="0F0E27"/>
          </a:solidFill>
          <a:ln w="12700">
            <a:solidFill>
              <a:srgbClr val="0F0E27"/>
            </a:solidFill>
            <a:prstDash val="solid"/>
          </a:ln>
        </p:spPr>
      </p:sp>
      <p:sp>
        <p:nvSpPr>
          <p:cNvPr id="67" name="Text 65"/>
          <p:cNvSpPr/>
          <p:nvPr/>
        </p:nvSpPr>
        <p:spPr>
          <a:xfrm>
            <a:off x="6332220" y="2761488"/>
            <a:ext cx="96012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68" name="Shape 66"/>
          <p:cNvSpPr/>
          <p:nvPr/>
        </p:nvSpPr>
        <p:spPr>
          <a:xfrm>
            <a:off x="7338060" y="2761488"/>
            <a:ext cx="914400" cy="347472"/>
          </a:xfrm>
          <a:prstGeom prst="rect">
            <a:avLst/>
          </a:prstGeom>
          <a:solidFill>
            <a:srgbClr val="0F0E27"/>
          </a:solidFill>
          <a:ln w="12700">
            <a:solidFill>
              <a:srgbClr val="0F0E27"/>
            </a:solidFill>
            <a:prstDash val="solid"/>
          </a:ln>
        </p:spPr>
      </p:sp>
      <p:sp>
        <p:nvSpPr>
          <p:cNvPr id="69" name="Text 67"/>
          <p:cNvSpPr/>
          <p:nvPr/>
        </p:nvSpPr>
        <p:spPr>
          <a:xfrm>
            <a:off x="7383780" y="2761488"/>
            <a:ext cx="822960" cy="347472"/>
          </a:xfrm>
          <a:prstGeom prst="rect">
            <a:avLst/>
          </a:prstGeom>
          <a:noFill/>
          <a:ln/>
        </p:spPr>
        <p:txBody>
          <a:bodyPr wrap="square" lIns="0" tIns="0" rIns="0" bIns="0" rtlCol="0" anchor="ctr"/>
          <a:lstStyle/>
          <a:p>
            <a:pPr algn="ctr" indent="0" marL="0">
              <a:buNone/>
            </a:pPr>
            <a:r>
              <a:rPr lang="en-US" sz="900" dirty="0">
                <a:solidFill>
                  <a:srgbClr val="F59E0B"/>
                </a:solidFill>
                <a:latin typeface="Calibri" pitchFamily="34" charset="0"/>
                <a:ea typeface="Calibri" pitchFamily="34" charset="-122"/>
                <a:cs typeface="Calibri" pitchFamily="34" charset="-120"/>
              </a:rPr>
              <a:t>⚠️ Template</a:t>
            </a:r>
            <a:endParaRPr lang="en-US" sz="900" dirty="0"/>
          </a:p>
        </p:txBody>
      </p:sp>
      <p:sp>
        <p:nvSpPr>
          <p:cNvPr id="70" name="Shape 68"/>
          <p:cNvSpPr/>
          <p:nvPr/>
        </p:nvSpPr>
        <p:spPr>
          <a:xfrm>
            <a:off x="891540" y="3108960"/>
            <a:ext cx="1920240" cy="347472"/>
          </a:xfrm>
          <a:prstGeom prst="rect">
            <a:avLst/>
          </a:prstGeom>
          <a:solidFill>
            <a:srgbClr val="16133A"/>
          </a:solidFill>
          <a:ln w="12700">
            <a:solidFill>
              <a:srgbClr val="16133A"/>
            </a:solidFill>
            <a:prstDash val="solid"/>
          </a:ln>
        </p:spPr>
      </p:sp>
      <p:sp>
        <p:nvSpPr>
          <p:cNvPr id="71" name="Text 69"/>
          <p:cNvSpPr/>
          <p:nvPr/>
        </p:nvSpPr>
        <p:spPr>
          <a:xfrm>
            <a:off x="964692" y="3108960"/>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Market Benchmarks</a:t>
            </a:r>
            <a:endParaRPr lang="en-US" sz="950" dirty="0"/>
          </a:p>
        </p:txBody>
      </p:sp>
      <p:sp>
        <p:nvSpPr>
          <p:cNvPr id="72" name="Shape 70"/>
          <p:cNvSpPr/>
          <p:nvPr/>
        </p:nvSpPr>
        <p:spPr>
          <a:xfrm>
            <a:off x="2811780" y="3108960"/>
            <a:ext cx="1371600" cy="347472"/>
          </a:xfrm>
          <a:prstGeom prst="rect">
            <a:avLst/>
          </a:prstGeom>
          <a:solidFill>
            <a:srgbClr val="16133A"/>
          </a:solidFill>
          <a:ln w="12700">
            <a:solidFill>
              <a:srgbClr val="16133A"/>
            </a:solidFill>
            <a:prstDash val="solid"/>
          </a:ln>
        </p:spPr>
      </p:sp>
      <p:sp>
        <p:nvSpPr>
          <p:cNvPr id="73" name="Shape 71"/>
          <p:cNvSpPr/>
          <p:nvPr/>
        </p:nvSpPr>
        <p:spPr>
          <a:xfrm>
            <a:off x="2811780" y="3108960"/>
            <a:ext cx="36576" cy="347472"/>
          </a:xfrm>
          <a:prstGeom prst="rect">
            <a:avLst/>
          </a:prstGeom>
          <a:solidFill>
            <a:srgbClr val="7C3AED"/>
          </a:solidFill>
          <a:ln w="12700">
            <a:solidFill>
              <a:srgbClr val="7C3AED"/>
            </a:solidFill>
            <a:prstDash val="solid"/>
          </a:ln>
        </p:spPr>
      </p:sp>
      <p:sp>
        <p:nvSpPr>
          <p:cNvPr id="74" name="Text 72"/>
          <p:cNvSpPr/>
          <p:nvPr/>
        </p:nvSpPr>
        <p:spPr>
          <a:xfrm>
            <a:off x="2857500" y="3108960"/>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Built-in</a:t>
            </a:r>
            <a:endParaRPr lang="en-US" sz="900" dirty="0"/>
          </a:p>
        </p:txBody>
      </p:sp>
      <p:sp>
        <p:nvSpPr>
          <p:cNvPr id="75" name="Shape 73"/>
          <p:cNvSpPr/>
          <p:nvPr/>
        </p:nvSpPr>
        <p:spPr>
          <a:xfrm>
            <a:off x="4183380" y="3108960"/>
            <a:ext cx="1188720" cy="347472"/>
          </a:xfrm>
          <a:prstGeom prst="rect">
            <a:avLst/>
          </a:prstGeom>
          <a:solidFill>
            <a:srgbClr val="16133A"/>
          </a:solidFill>
          <a:ln w="12700">
            <a:solidFill>
              <a:srgbClr val="16133A"/>
            </a:solidFill>
            <a:prstDash val="solid"/>
          </a:ln>
        </p:spPr>
      </p:sp>
      <p:sp>
        <p:nvSpPr>
          <p:cNvPr id="76" name="Text 74"/>
          <p:cNvSpPr/>
          <p:nvPr/>
        </p:nvSpPr>
        <p:spPr>
          <a:xfrm>
            <a:off x="4229100" y="3108960"/>
            <a:ext cx="109728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77" name="Shape 75"/>
          <p:cNvSpPr/>
          <p:nvPr/>
        </p:nvSpPr>
        <p:spPr>
          <a:xfrm>
            <a:off x="5372100" y="3108960"/>
            <a:ext cx="914400" cy="347472"/>
          </a:xfrm>
          <a:prstGeom prst="rect">
            <a:avLst/>
          </a:prstGeom>
          <a:solidFill>
            <a:srgbClr val="16133A"/>
          </a:solidFill>
          <a:ln w="12700">
            <a:solidFill>
              <a:srgbClr val="16133A"/>
            </a:solidFill>
            <a:prstDash val="solid"/>
          </a:ln>
        </p:spPr>
      </p:sp>
      <p:sp>
        <p:nvSpPr>
          <p:cNvPr id="78" name="Text 76"/>
          <p:cNvSpPr/>
          <p:nvPr/>
        </p:nvSpPr>
        <p:spPr>
          <a:xfrm>
            <a:off x="5417820" y="3108960"/>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79" name="Shape 77"/>
          <p:cNvSpPr/>
          <p:nvPr/>
        </p:nvSpPr>
        <p:spPr>
          <a:xfrm>
            <a:off x="6286500" y="3108960"/>
            <a:ext cx="1051560" cy="347472"/>
          </a:xfrm>
          <a:prstGeom prst="rect">
            <a:avLst/>
          </a:prstGeom>
          <a:solidFill>
            <a:srgbClr val="16133A"/>
          </a:solidFill>
          <a:ln w="12700">
            <a:solidFill>
              <a:srgbClr val="16133A"/>
            </a:solidFill>
            <a:prstDash val="solid"/>
          </a:ln>
        </p:spPr>
      </p:sp>
      <p:sp>
        <p:nvSpPr>
          <p:cNvPr id="80" name="Text 78"/>
          <p:cNvSpPr/>
          <p:nvPr/>
        </p:nvSpPr>
        <p:spPr>
          <a:xfrm>
            <a:off x="6332220" y="3108960"/>
            <a:ext cx="96012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81" name="Shape 79"/>
          <p:cNvSpPr/>
          <p:nvPr/>
        </p:nvSpPr>
        <p:spPr>
          <a:xfrm>
            <a:off x="7338060" y="3108960"/>
            <a:ext cx="914400" cy="347472"/>
          </a:xfrm>
          <a:prstGeom prst="rect">
            <a:avLst/>
          </a:prstGeom>
          <a:solidFill>
            <a:srgbClr val="16133A"/>
          </a:solidFill>
          <a:ln w="12700">
            <a:solidFill>
              <a:srgbClr val="16133A"/>
            </a:solidFill>
            <a:prstDash val="solid"/>
          </a:ln>
        </p:spPr>
      </p:sp>
      <p:sp>
        <p:nvSpPr>
          <p:cNvPr id="82" name="Text 80"/>
          <p:cNvSpPr/>
          <p:nvPr/>
        </p:nvSpPr>
        <p:spPr>
          <a:xfrm>
            <a:off x="7383780" y="3108960"/>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83" name="Shape 81"/>
          <p:cNvSpPr/>
          <p:nvPr/>
        </p:nvSpPr>
        <p:spPr>
          <a:xfrm>
            <a:off x="891540" y="3456432"/>
            <a:ext cx="1920240" cy="347472"/>
          </a:xfrm>
          <a:prstGeom prst="rect">
            <a:avLst/>
          </a:prstGeom>
          <a:solidFill>
            <a:srgbClr val="0F0E27"/>
          </a:solidFill>
          <a:ln w="12700">
            <a:solidFill>
              <a:srgbClr val="0F0E27"/>
            </a:solidFill>
            <a:prstDash val="solid"/>
          </a:ln>
        </p:spPr>
      </p:sp>
      <p:sp>
        <p:nvSpPr>
          <p:cNvPr id="84" name="Text 82"/>
          <p:cNvSpPr/>
          <p:nvPr/>
        </p:nvSpPr>
        <p:spPr>
          <a:xfrm>
            <a:off x="964692" y="3456432"/>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No Sign-Up Required</a:t>
            </a:r>
            <a:endParaRPr lang="en-US" sz="950" dirty="0"/>
          </a:p>
        </p:txBody>
      </p:sp>
      <p:sp>
        <p:nvSpPr>
          <p:cNvPr id="85" name="Shape 83"/>
          <p:cNvSpPr/>
          <p:nvPr/>
        </p:nvSpPr>
        <p:spPr>
          <a:xfrm>
            <a:off x="2811780" y="3456432"/>
            <a:ext cx="1371600" cy="347472"/>
          </a:xfrm>
          <a:prstGeom prst="rect">
            <a:avLst/>
          </a:prstGeom>
          <a:solidFill>
            <a:srgbClr val="16133A"/>
          </a:solidFill>
          <a:ln w="12700">
            <a:solidFill>
              <a:srgbClr val="16133A"/>
            </a:solidFill>
            <a:prstDash val="solid"/>
          </a:ln>
        </p:spPr>
      </p:sp>
      <p:sp>
        <p:nvSpPr>
          <p:cNvPr id="86" name="Shape 84"/>
          <p:cNvSpPr/>
          <p:nvPr/>
        </p:nvSpPr>
        <p:spPr>
          <a:xfrm>
            <a:off x="2811780" y="3456432"/>
            <a:ext cx="36576" cy="347472"/>
          </a:xfrm>
          <a:prstGeom prst="rect">
            <a:avLst/>
          </a:prstGeom>
          <a:solidFill>
            <a:srgbClr val="7C3AED"/>
          </a:solidFill>
          <a:ln w="12700">
            <a:solidFill>
              <a:srgbClr val="7C3AED"/>
            </a:solidFill>
            <a:prstDash val="solid"/>
          </a:ln>
        </p:spPr>
      </p:sp>
      <p:sp>
        <p:nvSpPr>
          <p:cNvPr id="87" name="Text 85"/>
          <p:cNvSpPr/>
          <p:nvPr/>
        </p:nvSpPr>
        <p:spPr>
          <a:xfrm>
            <a:off x="2857500" y="3456432"/>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88" name="Shape 86"/>
          <p:cNvSpPr/>
          <p:nvPr/>
        </p:nvSpPr>
        <p:spPr>
          <a:xfrm>
            <a:off x="4183380" y="3456432"/>
            <a:ext cx="1188720" cy="347472"/>
          </a:xfrm>
          <a:prstGeom prst="rect">
            <a:avLst/>
          </a:prstGeom>
          <a:solidFill>
            <a:srgbClr val="0F0E27"/>
          </a:solidFill>
          <a:ln w="12700">
            <a:solidFill>
              <a:srgbClr val="0F0E27"/>
            </a:solidFill>
            <a:prstDash val="solid"/>
          </a:ln>
        </p:spPr>
      </p:sp>
      <p:sp>
        <p:nvSpPr>
          <p:cNvPr id="89" name="Text 87"/>
          <p:cNvSpPr/>
          <p:nvPr/>
        </p:nvSpPr>
        <p:spPr>
          <a:xfrm>
            <a:off x="4229100" y="3456432"/>
            <a:ext cx="109728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90" name="Shape 88"/>
          <p:cNvSpPr/>
          <p:nvPr/>
        </p:nvSpPr>
        <p:spPr>
          <a:xfrm>
            <a:off x="5372100" y="3456432"/>
            <a:ext cx="914400" cy="347472"/>
          </a:xfrm>
          <a:prstGeom prst="rect">
            <a:avLst/>
          </a:prstGeom>
          <a:solidFill>
            <a:srgbClr val="0F0E27"/>
          </a:solidFill>
          <a:ln w="12700">
            <a:solidFill>
              <a:srgbClr val="0F0E27"/>
            </a:solidFill>
            <a:prstDash val="solid"/>
          </a:ln>
        </p:spPr>
      </p:sp>
      <p:sp>
        <p:nvSpPr>
          <p:cNvPr id="91" name="Text 89"/>
          <p:cNvSpPr/>
          <p:nvPr/>
        </p:nvSpPr>
        <p:spPr>
          <a:xfrm>
            <a:off x="5417820" y="3456432"/>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92" name="Shape 90"/>
          <p:cNvSpPr/>
          <p:nvPr/>
        </p:nvSpPr>
        <p:spPr>
          <a:xfrm>
            <a:off x="6286500" y="3456432"/>
            <a:ext cx="1051560" cy="347472"/>
          </a:xfrm>
          <a:prstGeom prst="rect">
            <a:avLst/>
          </a:prstGeom>
          <a:solidFill>
            <a:srgbClr val="0F0E27"/>
          </a:solidFill>
          <a:ln w="12700">
            <a:solidFill>
              <a:srgbClr val="0F0E27"/>
            </a:solidFill>
            <a:prstDash val="solid"/>
          </a:ln>
        </p:spPr>
      </p:sp>
      <p:sp>
        <p:nvSpPr>
          <p:cNvPr id="93" name="Text 91"/>
          <p:cNvSpPr/>
          <p:nvPr/>
        </p:nvSpPr>
        <p:spPr>
          <a:xfrm>
            <a:off x="6332220" y="3456432"/>
            <a:ext cx="96012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94" name="Shape 92"/>
          <p:cNvSpPr/>
          <p:nvPr/>
        </p:nvSpPr>
        <p:spPr>
          <a:xfrm>
            <a:off x="7338060" y="3456432"/>
            <a:ext cx="914400" cy="347472"/>
          </a:xfrm>
          <a:prstGeom prst="rect">
            <a:avLst/>
          </a:prstGeom>
          <a:solidFill>
            <a:srgbClr val="0F0E27"/>
          </a:solidFill>
          <a:ln w="12700">
            <a:solidFill>
              <a:srgbClr val="0F0E27"/>
            </a:solidFill>
            <a:prstDash val="solid"/>
          </a:ln>
        </p:spPr>
      </p:sp>
      <p:sp>
        <p:nvSpPr>
          <p:cNvPr id="95" name="Text 93"/>
          <p:cNvSpPr/>
          <p:nvPr/>
        </p:nvSpPr>
        <p:spPr>
          <a:xfrm>
            <a:off x="7383780" y="3456432"/>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96" name="Shape 94"/>
          <p:cNvSpPr/>
          <p:nvPr/>
        </p:nvSpPr>
        <p:spPr>
          <a:xfrm>
            <a:off x="891540" y="3803904"/>
            <a:ext cx="1920240" cy="347472"/>
          </a:xfrm>
          <a:prstGeom prst="rect">
            <a:avLst/>
          </a:prstGeom>
          <a:solidFill>
            <a:srgbClr val="16133A"/>
          </a:solidFill>
          <a:ln w="12700">
            <a:solidFill>
              <a:srgbClr val="16133A"/>
            </a:solidFill>
            <a:prstDash val="solid"/>
          </a:ln>
        </p:spPr>
      </p:sp>
      <p:sp>
        <p:nvSpPr>
          <p:cNvPr id="97" name="Text 95"/>
          <p:cNvSpPr/>
          <p:nvPr/>
        </p:nvSpPr>
        <p:spPr>
          <a:xfrm>
            <a:off x="964692" y="3803904"/>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Offline / PWA</a:t>
            </a:r>
            <a:endParaRPr lang="en-US" sz="950" dirty="0"/>
          </a:p>
        </p:txBody>
      </p:sp>
      <p:sp>
        <p:nvSpPr>
          <p:cNvPr id="98" name="Shape 96"/>
          <p:cNvSpPr/>
          <p:nvPr/>
        </p:nvSpPr>
        <p:spPr>
          <a:xfrm>
            <a:off x="2811780" y="3803904"/>
            <a:ext cx="1371600" cy="347472"/>
          </a:xfrm>
          <a:prstGeom prst="rect">
            <a:avLst/>
          </a:prstGeom>
          <a:solidFill>
            <a:srgbClr val="16133A"/>
          </a:solidFill>
          <a:ln w="12700">
            <a:solidFill>
              <a:srgbClr val="16133A"/>
            </a:solidFill>
            <a:prstDash val="solid"/>
          </a:ln>
        </p:spPr>
      </p:sp>
      <p:sp>
        <p:nvSpPr>
          <p:cNvPr id="99" name="Shape 97"/>
          <p:cNvSpPr/>
          <p:nvPr/>
        </p:nvSpPr>
        <p:spPr>
          <a:xfrm>
            <a:off x="2811780" y="3803904"/>
            <a:ext cx="36576" cy="347472"/>
          </a:xfrm>
          <a:prstGeom prst="rect">
            <a:avLst/>
          </a:prstGeom>
          <a:solidFill>
            <a:srgbClr val="7C3AED"/>
          </a:solidFill>
          <a:ln w="12700">
            <a:solidFill>
              <a:srgbClr val="7C3AED"/>
            </a:solidFill>
            <a:prstDash val="solid"/>
          </a:ln>
        </p:spPr>
      </p:sp>
      <p:sp>
        <p:nvSpPr>
          <p:cNvPr id="100" name="Text 98"/>
          <p:cNvSpPr/>
          <p:nvPr/>
        </p:nvSpPr>
        <p:spPr>
          <a:xfrm>
            <a:off x="2857500" y="3803904"/>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101" name="Shape 99"/>
          <p:cNvSpPr/>
          <p:nvPr/>
        </p:nvSpPr>
        <p:spPr>
          <a:xfrm>
            <a:off x="4183380" y="3803904"/>
            <a:ext cx="1188720" cy="347472"/>
          </a:xfrm>
          <a:prstGeom prst="rect">
            <a:avLst/>
          </a:prstGeom>
          <a:solidFill>
            <a:srgbClr val="16133A"/>
          </a:solidFill>
          <a:ln w="12700">
            <a:solidFill>
              <a:srgbClr val="16133A"/>
            </a:solidFill>
            <a:prstDash val="solid"/>
          </a:ln>
        </p:spPr>
      </p:sp>
      <p:sp>
        <p:nvSpPr>
          <p:cNvPr id="102" name="Text 100"/>
          <p:cNvSpPr/>
          <p:nvPr/>
        </p:nvSpPr>
        <p:spPr>
          <a:xfrm>
            <a:off x="4229100" y="3803904"/>
            <a:ext cx="109728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103" name="Shape 101"/>
          <p:cNvSpPr/>
          <p:nvPr/>
        </p:nvSpPr>
        <p:spPr>
          <a:xfrm>
            <a:off x="5372100" y="3803904"/>
            <a:ext cx="914400" cy="347472"/>
          </a:xfrm>
          <a:prstGeom prst="rect">
            <a:avLst/>
          </a:prstGeom>
          <a:solidFill>
            <a:srgbClr val="16133A"/>
          </a:solidFill>
          <a:ln w="12700">
            <a:solidFill>
              <a:srgbClr val="16133A"/>
            </a:solidFill>
            <a:prstDash val="solid"/>
          </a:ln>
        </p:spPr>
      </p:sp>
      <p:sp>
        <p:nvSpPr>
          <p:cNvPr id="104" name="Text 102"/>
          <p:cNvSpPr/>
          <p:nvPr/>
        </p:nvSpPr>
        <p:spPr>
          <a:xfrm>
            <a:off x="5417820" y="3803904"/>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105" name="Shape 103"/>
          <p:cNvSpPr/>
          <p:nvPr/>
        </p:nvSpPr>
        <p:spPr>
          <a:xfrm>
            <a:off x="6286500" y="3803904"/>
            <a:ext cx="1051560" cy="347472"/>
          </a:xfrm>
          <a:prstGeom prst="rect">
            <a:avLst/>
          </a:prstGeom>
          <a:solidFill>
            <a:srgbClr val="16133A"/>
          </a:solidFill>
          <a:ln w="12700">
            <a:solidFill>
              <a:srgbClr val="16133A"/>
            </a:solidFill>
            <a:prstDash val="solid"/>
          </a:ln>
        </p:spPr>
      </p:sp>
      <p:sp>
        <p:nvSpPr>
          <p:cNvPr id="106" name="Text 104"/>
          <p:cNvSpPr/>
          <p:nvPr/>
        </p:nvSpPr>
        <p:spPr>
          <a:xfrm>
            <a:off x="6332220" y="3803904"/>
            <a:ext cx="96012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107" name="Shape 105"/>
          <p:cNvSpPr/>
          <p:nvPr/>
        </p:nvSpPr>
        <p:spPr>
          <a:xfrm>
            <a:off x="7338060" y="3803904"/>
            <a:ext cx="914400" cy="347472"/>
          </a:xfrm>
          <a:prstGeom prst="rect">
            <a:avLst/>
          </a:prstGeom>
          <a:solidFill>
            <a:srgbClr val="16133A"/>
          </a:solidFill>
          <a:ln w="12700">
            <a:solidFill>
              <a:srgbClr val="16133A"/>
            </a:solidFill>
            <a:prstDash val="solid"/>
          </a:ln>
        </p:spPr>
      </p:sp>
      <p:sp>
        <p:nvSpPr>
          <p:cNvPr id="108" name="Text 106"/>
          <p:cNvSpPr/>
          <p:nvPr/>
        </p:nvSpPr>
        <p:spPr>
          <a:xfrm>
            <a:off x="7383780" y="3803904"/>
            <a:ext cx="822960" cy="34747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109" name="Shape 107"/>
          <p:cNvSpPr/>
          <p:nvPr/>
        </p:nvSpPr>
        <p:spPr>
          <a:xfrm>
            <a:off x="891540" y="4151376"/>
            <a:ext cx="1920240" cy="347472"/>
          </a:xfrm>
          <a:prstGeom prst="rect">
            <a:avLst/>
          </a:prstGeom>
          <a:solidFill>
            <a:srgbClr val="0F0E27"/>
          </a:solidFill>
          <a:ln w="12700">
            <a:solidFill>
              <a:srgbClr val="0F0E27"/>
            </a:solidFill>
            <a:prstDash val="solid"/>
          </a:ln>
        </p:spPr>
      </p:sp>
      <p:sp>
        <p:nvSpPr>
          <p:cNvPr id="110" name="Text 108"/>
          <p:cNvSpPr/>
          <p:nvPr/>
        </p:nvSpPr>
        <p:spPr>
          <a:xfrm>
            <a:off x="964692" y="4151376"/>
            <a:ext cx="1828800" cy="347472"/>
          </a:xfrm>
          <a:prstGeom prst="rect">
            <a:avLst/>
          </a:prstGeom>
          <a:noFill/>
          <a:ln/>
        </p:spPr>
        <p:txBody>
          <a:bodyPr wrap="square" lIns="0" tIns="0" rIns="0" bIns="0" rtlCol="0" anchor="ctr"/>
          <a:lstStyle/>
          <a:p>
            <a:pPr algn="l" indent="0" marL="0">
              <a:buNone/>
            </a:pPr>
            <a:r>
              <a:rPr lang="en-US" sz="950" dirty="0">
                <a:solidFill>
                  <a:srgbClr val="A0AEC0"/>
                </a:solidFill>
                <a:latin typeface="Calibri" pitchFamily="34" charset="0"/>
                <a:ea typeface="Calibri" pitchFamily="34" charset="-122"/>
                <a:cs typeface="Calibri" pitchFamily="34" charset="-120"/>
              </a:rPr>
              <a:t>Price</a:t>
            </a:r>
            <a:endParaRPr lang="en-US" sz="950" dirty="0"/>
          </a:p>
        </p:txBody>
      </p:sp>
      <p:sp>
        <p:nvSpPr>
          <p:cNvPr id="111" name="Shape 109"/>
          <p:cNvSpPr/>
          <p:nvPr/>
        </p:nvSpPr>
        <p:spPr>
          <a:xfrm>
            <a:off x="2811780" y="4151376"/>
            <a:ext cx="1371600" cy="347472"/>
          </a:xfrm>
          <a:prstGeom prst="rect">
            <a:avLst/>
          </a:prstGeom>
          <a:solidFill>
            <a:srgbClr val="16133A"/>
          </a:solidFill>
          <a:ln w="12700">
            <a:solidFill>
              <a:srgbClr val="16133A"/>
            </a:solidFill>
            <a:prstDash val="solid"/>
          </a:ln>
        </p:spPr>
      </p:sp>
      <p:sp>
        <p:nvSpPr>
          <p:cNvPr id="112" name="Shape 110"/>
          <p:cNvSpPr/>
          <p:nvPr/>
        </p:nvSpPr>
        <p:spPr>
          <a:xfrm>
            <a:off x="2811780" y="4151376"/>
            <a:ext cx="36576" cy="347472"/>
          </a:xfrm>
          <a:prstGeom prst="rect">
            <a:avLst/>
          </a:prstGeom>
          <a:solidFill>
            <a:srgbClr val="7C3AED"/>
          </a:solidFill>
          <a:ln w="12700">
            <a:solidFill>
              <a:srgbClr val="7C3AED"/>
            </a:solidFill>
            <a:prstDash val="solid"/>
          </a:ln>
        </p:spPr>
      </p:sp>
      <p:sp>
        <p:nvSpPr>
          <p:cNvPr id="113" name="Text 111"/>
          <p:cNvSpPr/>
          <p:nvPr/>
        </p:nvSpPr>
        <p:spPr>
          <a:xfrm>
            <a:off x="2857500" y="4151376"/>
            <a:ext cx="128016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Free</a:t>
            </a:r>
            <a:endParaRPr lang="en-US" sz="900" dirty="0"/>
          </a:p>
        </p:txBody>
      </p:sp>
      <p:sp>
        <p:nvSpPr>
          <p:cNvPr id="114" name="Shape 112"/>
          <p:cNvSpPr/>
          <p:nvPr/>
        </p:nvSpPr>
        <p:spPr>
          <a:xfrm>
            <a:off x="4183380" y="4151376"/>
            <a:ext cx="1188720" cy="347472"/>
          </a:xfrm>
          <a:prstGeom prst="rect">
            <a:avLst/>
          </a:prstGeom>
          <a:solidFill>
            <a:srgbClr val="0F0E27"/>
          </a:solidFill>
          <a:ln w="12700">
            <a:solidFill>
              <a:srgbClr val="0F0E27"/>
            </a:solidFill>
            <a:prstDash val="solid"/>
          </a:ln>
        </p:spPr>
      </p:sp>
      <p:sp>
        <p:nvSpPr>
          <p:cNvPr id="115" name="Text 113"/>
          <p:cNvSpPr/>
          <p:nvPr/>
        </p:nvSpPr>
        <p:spPr>
          <a:xfrm>
            <a:off x="4229100" y="4151376"/>
            <a:ext cx="1097280" cy="347472"/>
          </a:xfrm>
          <a:prstGeom prst="rect">
            <a:avLst/>
          </a:prstGeom>
          <a:noFill/>
          <a:ln/>
        </p:spPr>
        <p:txBody>
          <a:bodyPr wrap="square" lIns="0" tIns="0" rIns="0" bIns="0" rtlCol="0" anchor="ctr"/>
          <a:lstStyle/>
          <a:p>
            <a:pPr algn="ctr" indent="0" marL="0">
              <a:buNone/>
            </a:pPr>
            <a:r>
              <a:rPr lang="en-US" sz="900" dirty="0">
                <a:solidFill>
                  <a:srgbClr val="A0AEC0"/>
                </a:solidFill>
                <a:latin typeface="Calibri" pitchFamily="34" charset="0"/>
                <a:ea typeface="Calibri" pitchFamily="34" charset="-122"/>
                <a:cs typeface="Calibri" pitchFamily="34" charset="-120"/>
              </a:rPr>
              <a:t>$500/mo</a:t>
            </a:r>
            <a:endParaRPr lang="en-US" sz="900" dirty="0"/>
          </a:p>
        </p:txBody>
      </p:sp>
      <p:sp>
        <p:nvSpPr>
          <p:cNvPr id="116" name="Shape 114"/>
          <p:cNvSpPr/>
          <p:nvPr/>
        </p:nvSpPr>
        <p:spPr>
          <a:xfrm>
            <a:off x="5372100" y="4151376"/>
            <a:ext cx="914400" cy="347472"/>
          </a:xfrm>
          <a:prstGeom prst="rect">
            <a:avLst/>
          </a:prstGeom>
          <a:solidFill>
            <a:srgbClr val="0F0E27"/>
          </a:solidFill>
          <a:ln w="12700">
            <a:solidFill>
              <a:srgbClr val="0F0E27"/>
            </a:solidFill>
            <a:prstDash val="solid"/>
          </a:ln>
        </p:spPr>
      </p:sp>
      <p:sp>
        <p:nvSpPr>
          <p:cNvPr id="117" name="Text 115"/>
          <p:cNvSpPr/>
          <p:nvPr/>
        </p:nvSpPr>
        <p:spPr>
          <a:xfrm>
            <a:off x="5417820" y="4151376"/>
            <a:ext cx="822960" cy="347472"/>
          </a:xfrm>
          <a:prstGeom prst="rect">
            <a:avLst/>
          </a:prstGeom>
          <a:noFill/>
          <a:ln/>
        </p:spPr>
        <p:txBody>
          <a:bodyPr wrap="square" lIns="0" tIns="0" rIns="0" bIns="0" rtlCol="0" anchor="ctr"/>
          <a:lstStyle/>
          <a:p>
            <a:pPr algn="ctr" indent="0" marL="0">
              <a:buNone/>
            </a:pPr>
            <a:r>
              <a:rPr lang="en-US" sz="900" dirty="0">
                <a:solidFill>
                  <a:srgbClr val="A0AEC0"/>
                </a:solidFill>
                <a:latin typeface="Calibri" pitchFamily="34" charset="0"/>
                <a:ea typeface="Calibri" pitchFamily="34" charset="-122"/>
                <a:cs typeface="Calibri" pitchFamily="34" charset="-120"/>
              </a:rPr>
              <a:t>$300/mo</a:t>
            </a:r>
            <a:endParaRPr lang="en-US" sz="900" dirty="0"/>
          </a:p>
        </p:txBody>
      </p:sp>
      <p:sp>
        <p:nvSpPr>
          <p:cNvPr id="118" name="Shape 116"/>
          <p:cNvSpPr/>
          <p:nvPr/>
        </p:nvSpPr>
        <p:spPr>
          <a:xfrm>
            <a:off x="6286500" y="4151376"/>
            <a:ext cx="1051560" cy="347472"/>
          </a:xfrm>
          <a:prstGeom prst="rect">
            <a:avLst/>
          </a:prstGeom>
          <a:solidFill>
            <a:srgbClr val="0F0E27"/>
          </a:solidFill>
          <a:ln w="12700">
            <a:solidFill>
              <a:srgbClr val="0F0E27"/>
            </a:solidFill>
            <a:prstDash val="solid"/>
          </a:ln>
        </p:spPr>
      </p:sp>
      <p:sp>
        <p:nvSpPr>
          <p:cNvPr id="119" name="Text 117"/>
          <p:cNvSpPr/>
          <p:nvPr/>
        </p:nvSpPr>
        <p:spPr>
          <a:xfrm>
            <a:off x="6332220" y="4151376"/>
            <a:ext cx="960120" cy="347472"/>
          </a:xfrm>
          <a:prstGeom prst="rect">
            <a:avLst/>
          </a:prstGeom>
          <a:noFill/>
          <a:ln/>
        </p:spPr>
        <p:txBody>
          <a:bodyPr wrap="square" lIns="0" tIns="0" rIns="0" bIns="0" rtlCol="0" anchor="ctr"/>
          <a:lstStyle/>
          <a:p>
            <a:pPr algn="ctr" indent="0" marL="0">
              <a:buNone/>
            </a:pPr>
            <a:r>
              <a:rPr lang="en-US" sz="900" dirty="0">
                <a:solidFill>
                  <a:srgbClr val="A0AEC0"/>
                </a:solidFill>
                <a:latin typeface="Calibri" pitchFamily="34" charset="0"/>
                <a:ea typeface="Calibri" pitchFamily="34" charset="-122"/>
                <a:cs typeface="Calibri" pitchFamily="34" charset="-120"/>
              </a:rPr>
              <a:t>$500/mo</a:t>
            </a:r>
            <a:endParaRPr lang="en-US" sz="900" dirty="0"/>
          </a:p>
        </p:txBody>
      </p:sp>
      <p:sp>
        <p:nvSpPr>
          <p:cNvPr id="120" name="Shape 118"/>
          <p:cNvSpPr/>
          <p:nvPr/>
        </p:nvSpPr>
        <p:spPr>
          <a:xfrm>
            <a:off x="7338060" y="4151376"/>
            <a:ext cx="914400" cy="347472"/>
          </a:xfrm>
          <a:prstGeom prst="rect">
            <a:avLst/>
          </a:prstGeom>
          <a:solidFill>
            <a:srgbClr val="0F0E27"/>
          </a:solidFill>
          <a:ln w="12700">
            <a:solidFill>
              <a:srgbClr val="0F0E27"/>
            </a:solidFill>
            <a:prstDash val="solid"/>
          </a:ln>
        </p:spPr>
      </p:sp>
      <p:sp>
        <p:nvSpPr>
          <p:cNvPr id="121" name="Text 119"/>
          <p:cNvSpPr/>
          <p:nvPr/>
        </p:nvSpPr>
        <p:spPr>
          <a:xfrm>
            <a:off x="7383780" y="4151376"/>
            <a:ext cx="822960" cy="347472"/>
          </a:xfrm>
          <a:prstGeom prst="rect">
            <a:avLst/>
          </a:prstGeom>
          <a:noFill/>
          <a:ln/>
        </p:spPr>
        <p:txBody>
          <a:bodyPr wrap="square" lIns="0" tIns="0" rIns="0" bIns="0" rtlCol="0" anchor="ctr"/>
          <a:lstStyle/>
          <a:p>
            <a:pPr algn="ctr" indent="0" marL="0">
              <a:buNone/>
            </a:pPr>
            <a:r>
              <a:rPr lang="en-US" sz="900" dirty="0">
                <a:solidFill>
                  <a:srgbClr val="A0AEC0"/>
                </a:solidFill>
                <a:latin typeface="Calibri" pitchFamily="34" charset="0"/>
                <a:ea typeface="Calibri" pitchFamily="34" charset="-122"/>
                <a:cs typeface="Calibri" pitchFamily="34" charset="-120"/>
              </a:rPr>
              <a:t>$16/mo</a:t>
            </a:r>
            <a:endParaRPr lang="en-US" sz="900" dirty="0"/>
          </a:p>
        </p:txBody>
      </p:sp>
      <p:sp>
        <p:nvSpPr>
          <p:cNvPr id="122" name="Text 120"/>
          <p:cNvSpPr/>
          <p:nvPr/>
        </p:nvSpPr>
        <p:spPr>
          <a:xfrm>
            <a:off x="457200" y="4681728"/>
            <a:ext cx="8229600" cy="274320"/>
          </a:xfrm>
          <a:prstGeom prst="rect">
            <a:avLst/>
          </a:prstGeom>
          <a:noFill/>
          <a:ln/>
        </p:spPr>
        <p:txBody>
          <a:bodyPr wrap="square" lIns="0" tIns="0" rIns="0" bIns="0" rtlCol="0" anchor="ctr"/>
          <a:lstStyle/>
          <a:p>
            <a:pPr algn="ctr" indent="0" marL="0">
              <a:buNone/>
            </a:pPr>
            <a:r>
              <a:rPr lang="en-US" sz="1000" i="1" dirty="0">
                <a:solidFill>
                  <a:srgbClr val="EDE9FE"/>
                </a:solidFill>
                <a:latin typeface="Calibri" pitchFamily="34" charset="0"/>
                <a:ea typeface="Calibri" pitchFamily="34" charset="-122"/>
                <a:cs typeface="Calibri" pitchFamily="34" charset="-120"/>
              </a:rPr>
              <a:t>Our moat: free viral distribution + zero marginal AI cost + composable all-in-one design. No competitor combines all three.</a:t>
            </a:r>
            <a:endParaRPr lang="en-US" sz="1000" dirty="0"/>
          </a:p>
        </p:txBody>
      </p:sp>
      <p:sp>
        <p:nvSpPr>
          <p:cNvPr id="123" name="Text 121"/>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B8A6"/>
          </a:solidFill>
          <a:ln w="12700">
            <a:solidFill>
              <a:srgbClr val="14B8A6"/>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TEAM</a:t>
            </a:r>
            <a:endParaRPr lang="en-US" sz="700" dirty="0"/>
          </a:p>
        </p:txBody>
      </p:sp>
      <p:sp>
        <p:nvSpPr>
          <p:cNvPr id="5" name="Text 3"/>
          <p:cNvSpPr/>
          <p:nvPr/>
        </p:nvSpPr>
        <p:spPr>
          <a:xfrm>
            <a:off x="548640" y="594360"/>
            <a:ext cx="777240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by operators who've been in the room.</a:t>
            </a:r>
            <a:endParaRPr lang="en-US" sz="2600" dirty="0"/>
          </a:p>
        </p:txBody>
      </p:sp>
      <p:sp>
        <p:nvSpPr>
          <p:cNvPr id="6" name="Shape 4"/>
          <p:cNvSpPr/>
          <p:nvPr/>
        </p:nvSpPr>
        <p:spPr>
          <a:xfrm>
            <a:off x="457200" y="1371600"/>
            <a:ext cx="2743200" cy="338328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7" name="Shape 5"/>
          <p:cNvSpPr/>
          <p:nvPr/>
        </p:nvSpPr>
        <p:spPr>
          <a:xfrm>
            <a:off x="1463040" y="1481328"/>
            <a:ext cx="731520" cy="731520"/>
          </a:xfrm>
          <a:prstGeom prst="ellipse">
            <a:avLst/>
          </a:prstGeom>
          <a:solidFill>
            <a:srgbClr val="14B8A6"/>
          </a:solidFill>
          <a:ln w="12700">
            <a:solidFill>
              <a:srgbClr val="14B8A6"/>
            </a:solidFill>
            <a:prstDash val="solid"/>
          </a:ln>
        </p:spPr>
      </p:sp>
      <p:sp>
        <p:nvSpPr>
          <p:cNvPr id="8" name="Text 6"/>
          <p:cNvSpPr/>
          <p:nvPr/>
        </p:nvSpPr>
        <p:spPr>
          <a:xfrm>
            <a:off x="1463040" y="1481328"/>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NG</a:t>
            </a:r>
            <a:endParaRPr lang="en-US" sz="1800" dirty="0"/>
          </a:p>
        </p:txBody>
      </p:sp>
      <p:sp>
        <p:nvSpPr>
          <p:cNvPr id="9" name="Text 7"/>
          <p:cNvSpPr/>
          <p:nvPr/>
        </p:nvSpPr>
        <p:spPr>
          <a:xfrm>
            <a:off x="566928" y="2286000"/>
            <a:ext cx="2523744"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Ness Gelman</a:t>
            </a:r>
            <a:endParaRPr lang="en-US" sz="1300" dirty="0"/>
          </a:p>
        </p:txBody>
      </p:sp>
      <p:sp>
        <p:nvSpPr>
          <p:cNvPr id="10" name="Text 8"/>
          <p:cNvSpPr/>
          <p:nvPr/>
        </p:nvSpPr>
        <p:spPr>
          <a:xfrm>
            <a:off x="566928" y="2633472"/>
            <a:ext cx="2523744" cy="274320"/>
          </a:xfrm>
          <a:prstGeom prst="rect">
            <a:avLst/>
          </a:prstGeom>
          <a:noFill/>
          <a:ln/>
        </p:spPr>
        <p:txBody>
          <a:bodyPr wrap="square" lIns="0" tIns="0" rIns="0" bIns="0"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Founder &amp; CEO</a:t>
            </a:r>
            <a:endParaRPr lang="en-US" sz="1000" dirty="0"/>
          </a:p>
        </p:txBody>
      </p:sp>
      <p:sp>
        <p:nvSpPr>
          <p:cNvPr id="11" name="Text 9"/>
          <p:cNvSpPr/>
          <p:nvPr/>
        </p:nvSpPr>
        <p:spPr>
          <a:xfrm>
            <a:off x="594360" y="2971800"/>
            <a:ext cx="2468880" cy="1005840"/>
          </a:xfrm>
          <a:prstGeom prst="rect">
            <a:avLst/>
          </a:prstGeom>
          <a:noFill/>
          <a:ln/>
        </p:spPr>
        <p:txBody>
          <a:bodyPr wrap="square" lIns="0" tIns="0" rIns="0" bIns="0" rtlCol="0" anchor="ctr"/>
          <a:lstStyle/>
          <a:p>
            <a:pPr indent="0" marL="0">
              <a:buNone/>
            </a:pPr>
            <a:r>
              <a:rPr lang="en-US" sz="950" dirty="0">
                <a:solidFill>
                  <a:srgbClr val="A0AEC0"/>
                </a:solidFill>
                <a:latin typeface="Calibri" pitchFamily="34" charset="0"/>
                <a:ea typeface="Calibri" pitchFamily="34" charset="-122"/>
                <a:cs typeface="Calibri" pitchFamily="34" charset="-120"/>
              </a:rPr>
              <a:t>Former startup operator, product &amp; growth. Built and scaled 2 ventures to product-market fit.</a:t>
            </a:r>
            <a:endParaRPr lang="en-US" sz="950" dirty="0"/>
          </a:p>
        </p:txBody>
      </p:sp>
      <p:sp>
        <p:nvSpPr>
          <p:cNvPr id="12" name="Shape 10"/>
          <p:cNvSpPr/>
          <p:nvPr/>
        </p:nvSpPr>
        <p:spPr>
          <a:xfrm>
            <a:off x="594360" y="4206240"/>
            <a:ext cx="749808" cy="201168"/>
          </a:xfrm>
          <a:prstGeom prst="rect">
            <a:avLst/>
          </a:prstGeom>
          <a:solidFill>
            <a:srgbClr val="334155"/>
          </a:solidFill>
          <a:ln w="12700">
            <a:solidFill>
              <a:srgbClr val="334155"/>
            </a:solidFill>
            <a:prstDash val="solid"/>
          </a:ln>
        </p:spPr>
      </p:sp>
      <p:sp>
        <p:nvSpPr>
          <p:cNvPr id="13" name="Text 11"/>
          <p:cNvSpPr/>
          <p:nvPr/>
        </p:nvSpPr>
        <p:spPr>
          <a:xfrm>
            <a:off x="594360"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Product Strategy</a:t>
            </a:r>
            <a:endParaRPr lang="en-US" sz="700" dirty="0"/>
          </a:p>
        </p:txBody>
      </p:sp>
      <p:sp>
        <p:nvSpPr>
          <p:cNvPr id="14" name="Shape 12"/>
          <p:cNvSpPr/>
          <p:nvPr/>
        </p:nvSpPr>
        <p:spPr>
          <a:xfrm>
            <a:off x="1417320" y="4206240"/>
            <a:ext cx="749808" cy="201168"/>
          </a:xfrm>
          <a:prstGeom prst="rect">
            <a:avLst/>
          </a:prstGeom>
          <a:solidFill>
            <a:srgbClr val="334155"/>
          </a:solidFill>
          <a:ln w="12700">
            <a:solidFill>
              <a:srgbClr val="334155"/>
            </a:solidFill>
            <a:prstDash val="solid"/>
          </a:ln>
        </p:spPr>
      </p:sp>
      <p:sp>
        <p:nvSpPr>
          <p:cNvPr id="15" name="Text 13"/>
          <p:cNvSpPr/>
          <p:nvPr/>
        </p:nvSpPr>
        <p:spPr>
          <a:xfrm>
            <a:off x="1417320"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Founder Network</a:t>
            </a:r>
            <a:endParaRPr lang="en-US" sz="700" dirty="0"/>
          </a:p>
        </p:txBody>
      </p:sp>
      <p:sp>
        <p:nvSpPr>
          <p:cNvPr id="16" name="Shape 14"/>
          <p:cNvSpPr/>
          <p:nvPr/>
        </p:nvSpPr>
        <p:spPr>
          <a:xfrm>
            <a:off x="2240280" y="4206240"/>
            <a:ext cx="749808" cy="201168"/>
          </a:xfrm>
          <a:prstGeom prst="rect">
            <a:avLst/>
          </a:prstGeom>
          <a:solidFill>
            <a:srgbClr val="334155"/>
          </a:solidFill>
          <a:ln w="12700">
            <a:solidFill>
              <a:srgbClr val="334155"/>
            </a:solidFill>
            <a:prstDash val="solid"/>
          </a:ln>
        </p:spPr>
      </p:sp>
      <p:sp>
        <p:nvSpPr>
          <p:cNvPr id="17" name="Text 15"/>
          <p:cNvSpPr/>
          <p:nvPr/>
        </p:nvSpPr>
        <p:spPr>
          <a:xfrm>
            <a:off x="2240280"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GTM</a:t>
            </a:r>
            <a:endParaRPr lang="en-US" sz="700" dirty="0"/>
          </a:p>
        </p:txBody>
      </p:sp>
      <p:sp>
        <p:nvSpPr>
          <p:cNvPr id="18" name="Shape 16"/>
          <p:cNvSpPr/>
          <p:nvPr/>
        </p:nvSpPr>
        <p:spPr>
          <a:xfrm>
            <a:off x="3355848" y="1371600"/>
            <a:ext cx="2743200" cy="338328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19" name="Shape 17"/>
          <p:cNvSpPr/>
          <p:nvPr/>
        </p:nvSpPr>
        <p:spPr>
          <a:xfrm>
            <a:off x="4361688" y="1481328"/>
            <a:ext cx="731520" cy="731520"/>
          </a:xfrm>
          <a:prstGeom prst="ellipse">
            <a:avLst/>
          </a:prstGeom>
          <a:solidFill>
            <a:srgbClr val="14B8A6"/>
          </a:solidFill>
          <a:ln w="12700">
            <a:solidFill>
              <a:srgbClr val="14B8A6"/>
            </a:solidFill>
            <a:prstDash val="solid"/>
          </a:ln>
        </p:spPr>
      </p:sp>
      <p:sp>
        <p:nvSpPr>
          <p:cNvPr id="20" name="Text 18"/>
          <p:cNvSpPr/>
          <p:nvPr/>
        </p:nvSpPr>
        <p:spPr>
          <a:xfrm>
            <a:off x="4361688" y="1481328"/>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1" name="Text 19"/>
          <p:cNvSpPr/>
          <p:nvPr/>
        </p:nvSpPr>
        <p:spPr>
          <a:xfrm>
            <a:off x="3465576" y="2286000"/>
            <a:ext cx="2523744"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CTO (Hiring)</a:t>
            </a:r>
            <a:endParaRPr lang="en-US" sz="1300" dirty="0"/>
          </a:p>
        </p:txBody>
      </p:sp>
      <p:sp>
        <p:nvSpPr>
          <p:cNvPr id="22" name="Text 20"/>
          <p:cNvSpPr/>
          <p:nvPr/>
        </p:nvSpPr>
        <p:spPr>
          <a:xfrm>
            <a:off x="3465576" y="2633472"/>
            <a:ext cx="2523744" cy="274320"/>
          </a:xfrm>
          <a:prstGeom prst="rect">
            <a:avLst/>
          </a:prstGeom>
          <a:noFill/>
          <a:ln/>
        </p:spPr>
        <p:txBody>
          <a:bodyPr wrap="square" lIns="0" tIns="0" rIns="0" bIns="0"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Chief Technology Officer</a:t>
            </a:r>
            <a:endParaRPr lang="en-US" sz="1000" dirty="0"/>
          </a:p>
        </p:txBody>
      </p:sp>
      <p:sp>
        <p:nvSpPr>
          <p:cNvPr id="23" name="Text 21"/>
          <p:cNvSpPr/>
          <p:nvPr/>
        </p:nvSpPr>
        <p:spPr>
          <a:xfrm>
            <a:off x="3493008" y="2971800"/>
            <a:ext cx="2468880" cy="1005840"/>
          </a:xfrm>
          <a:prstGeom prst="rect">
            <a:avLst/>
          </a:prstGeom>
          <a:noFill/>
          <a:ln/>
        </p:spPr>
        <p:txBody>
          <a:bodyPr wrap="square" lIns="0" tIns="0" rIns="0" bIns="0" rtlCol="0" anchor="ctr"/>
          <a:lstStyle/>
          <a:p>
            <a:pPr indent="0" marL="0">
              <a:buNone/>
            </a:pPr>
            <a:r>
              <a:rPr lang="en-US" sz="950" dirty="0">
                <a:solidFill>
                  <a:srgbClr val="A0AEC0"/>
                </a:solidFill>
                <a:latin typeface="Calibri" pitchFamily="34" charset="0"/>
                <a:ea typeface="Calibri" pitchFamily="34" charset="-122"/>
                <a:cs typeface="Calibri" pitchFamily="34" charset="-120"/>
              </a:rPr>
              <a:t>Seeking: ex-FAANG or growth-stage startup. WebAssembly + LLM infra experience preferred.</a:t>
            </a:r>
            <a:endParaRPr lang="en-US" sz="950" dirty="0"/>
          </a:p>
        </p:txBody>
      </p:sp>
      <p:sp>
        <p:nvSpPr>
          <p:cNvPr id="24" name="Shape 22"/>
          <p:cNvSpPr/>
          <p:nvPr/>
        </p:nvSpPr>
        <p:spPr>
          <a:xfrm>
            <a:off x="3493008" y="4206240"/>
            <a:ext cx="749808" cy="201168"/>
          </a:xfrm>
          <a:prstGeom prst="rect">
            <a:avLst/>
          </a:prstGeom>
          <a:solidFill>
            <a:srgbClr val="334155"/>
          </a:solidFill>
          <a:ln w="12700">
            <a:solidFill>
              <a:srgbClr val="334155"/>
            </a:solidFill>
            <a:prstDash val="solid"/>
          </a:ln>
        </p:spPr>
      </p:sp>
      <p:sp>
        <p:nvSpPr>
          <p:cNvPr id="25" name="Text 23"/>
          <p:cNvSpPr/>
          <p:nvPr/>
        </p:nvSpPr>
        <p:spPr>
          <a:xfrm>
            <a:off x="3493008"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AI/ML</a:t>
            </a:r>
            <a:endParaRPr lang="en-US" sz="700" dirty="0"/>
          </a:p>
        </p:txBody>
      </p:sp>
      <p:sp>
        <p:nvSpPr>
          <p:cNvPr id="26" name="Shape 24"/>
          <p:cNvSpPr/>
          <p:nvPr/>
        </p:nvSpPr>
        <p:spPr>
          <a:xfrm>
            <a:off x="4315968" y="4206240"/>
            <a:ext cx="749808" cy="201168"/>
          </a:xfrm>
          <a:prstGeom prst="rect">
            <a:avLst/>
          </a:prstGeom>
          <a:solidFill>
            <a:srgbClr val="334155"/>
          </a:solidFill>
          <a:ln w="12700">
            <a:solidFill>
              <a:srgbClr val="334155"/>
            </a:solidFill>
            <a:prstDash val="solid"/>
          </a:ln>
        </p:spPr>
      </p:sp>
      <p:sp>
        <p:nvSpPr>
          <p:cNvPr id="27" name="Text 25"/>
          <p:cNvSpPr/>
          <p:nvPr/>
        </p:nvSpPr>
        <p:spPr>
          <a:xfrm>
            <a:off x="4315968"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WebAssembly</a:t>
            </a:r>
            <a:endParaRPr lang="en-US" sz="700" dirty="0"/>
          </a:p>
        </p:txBody>
      </p:sp>
      <p:sp>
        <p:nvSpPr>
          <p:cNvPr id="28" name="Shape 26"/>
          <p:cNvSpPr/>
          <p:nvPr/>
        </p:nvSpPr>
        <p:spPr>
          <a:xfrm>
            <a:off x="5138928" y="4206240"/>
            <a:ext cx="749808" cy="201168"/>
          </a:xfrm>
          <a:prstGeom prst="rect">
            <a:avLst/>
          </a:prstGeom>
          <a:solidFill>
            <a:srgbClr val="334155"/>
          </a:solidFill>
          <a:ln w="12700">
            <a:solidFill>
              <a:srgbClr val="334155"/>
            </a:solidFill>
            <a:prstDash val="solid"/>
          </a:ln>
        </p:spPr>
      </p:sp>
      <p:sp>
        <p:nvSpPr>
          <p:cNvPr id="29" name="Text 27"/>
          <p:cNvSpPr/>
          <p:nvPr/>
        </p:nvSpPr>
        <p:spPr>
          <a:xfrm>
            <a:off x="5138928"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Full-Stack</a:t>
            </a:r>
            <a:endParaRPr lang="en-US" sz="700" dirty="0"/>
          </a:p>
        </p:txBody>
      </p:sp>
      <p:sp>
        <p:nvSpPr>
          <p:cNvPr id="30" name="Shape 28"/>
          <p:cNvSpPr/>
          <p:nvPr/>
        </p:nvSpPr>
        <p:spPr>
          <a:xfrm>
            <a:off x="6254496" y="1371600"/>
            <a:ext cx="2743200" cy="338328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31" name="Shape 29"/>
          <p:cNvSpPr/>
          <p:nvPr/>
        </p:nvSpPr>
        <p:spPr>
          <a:xfrm>
            <a:off x="7260336" y="1481328"/>
            <a:ext cx="731520" cy="731520"/>
          </a:xfrm>
          <a:prstGeom prst="ellipse">
            <a:avLst/>
          </a:prstGeom>
          <a:solidFill>
            <a:srgbClr val="14B8A6"/>
          </a:solidFill>
          <a:ln w="12700">
            <a:solidFill>
              <a:srgbClr val="14B8A6"/>
            </a:solidFill>
            <a:prstDash val="solid"/>
          </a:ln>
        </p:spPr>
      </p:sp>
      <p:sp>
        <p:nvSpPr>
          <p:cNvPr id="32" name="Text 30"/>
          <p:cNvSpPr/>
          <p:nvPr/>
        </p:nvSpPr>
        <p:spPr>
          <a:xfrm>
            <a:off x="7260336" y="1481328"/>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HoG(</a:t>
            </a:r>
            <a:endParaRPr lang="en-US" sz="1800" dirty="0"/>
          </a:p>
        </p:txBody>
      </p:sp>
      <p:sp>
        <p:nvSpPr>
          <p:cNvPr id="33" name="Text 31"/>
          <p:cNvSpPr/>
          <p:nvPr/>
        </p:nvSpPr>
        <p:spPr>
          <a:xfrm>
            <a:off x="6364224" y="2286000"/>
            <a:ext cx="2523744"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Head of Growth (Hiring)</a:t>
            </a:r>
            <a:endParaRPr lang="en-US" sz="1300" dirty="0"/>
          </a:p>
        </p:txBody>
      </p:sp>
      <p:sp>
        <p:nvSpPr>
          <p:cNvPr id="34" name="Text 32"/>
          <p:cNvSpPr/>
          <p:nvPr/>
        </p:nvSpPr>
        <p:spPr>
          <a:xfrm>
            <a:off x="6364224" y="2633472"/>
            <a:ext cx="2523744" cy="274320"/>
          </a:xfrm>
          <a:prstGeom prst="rect">
            <a:avLst/>
          </a:prstGeom>
          <a:noFill/>
          <a:ln/>
        </p:spPr>
        <p:txBody>
          <a:bodyPr wrap="square" lIns="0" tIns="0" rIns="0" bIns="0"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VP Growth</a:t>
            </a:r>
            <a:endParaRPr lang="en-US" sz="1000" dirty="0"/>
          </a:p>
        </p:txBody>
      </p:sp>
      <p:sp>
        <p:nvSpPr>
          <p:cNvPr id="35" name="Text 33"/>
          <p:cNvSpPr/>
          <p:nvPr/>
        </p:nvSpPr>
        <p:spPr>
          <a:xfrm>
            <a:off x="6391656" y="2971800"/>
            <a:ext cx="2468880" cy="1005840"/>
          </a:xfrm>
          <a:prstGeom prst="rect">
            <a:avLst/>
          </a:prstGeom>
          <a:noFill/>
          <a:ln/>
        </p:spPr>
        <p:txBody>
          <a:bodyPr wrap="square" lIns="0" tIns="0" rIns="0" bIns="0" rtlCol="0" anchor="ctr"/>
          <a:lstStyle/>
          <a:p>
            <a:pPr indent="0" marL="0">
              <a:buNone/>
            </a:pPr>
            <a:r>
              <a:rPr lang="en-US" sz="950" dirty="0">
                <a:solidFill>
                  <a:srgbClr val="A0AEC0"/>
                </a:solidFill>
                <a:latin typeface="Calibri" pitchFamily="34" charset="0"/>
                <a:ea typeface="Calibri" pitchFamily="34" charset="-122"/>
                <a:cs typeface="Calibri" pitchFamily="34" charset="-120"/>
              </a:rPr>
              <a:t>Seeking: B2B SaaS PLG specialist with VC/accelerator network and community-led growth experience.</a:t>
            </a:r>
            <a:endParaRPr lang="en-US" sz="950" dirty="0"/>
          </a:p>
        </p:txBody>
      </p:sp>
      <p:sp>
        <p:nvSpPr>
          <p:cNvPr id="36" name="Shape 34"/>
          <p:cNvSpPr/>
          <p:nvPr/>
        </p:nvSpPr>
        <p:spPr>
          <a:xfrm>
            <a:off x="6391656" y="4206240"/>
            <a:ext cx="749808" cy="201168"/>
          </a:xfrm>
          <a:prstGeom prst="rect">
            <a:avLst/>
          </a:prstGeom>
          <a:solidFill>
            <a:srgbClr val="334155"/>
          </a:solidFill>
          <a:ln w="12700">
            <a:solidFill>
              <a:srgbClr val="334155"/>
            </a:solidFill>
            <a:prstDash val="solid"/>
          </a:ln>
        </p:spPr>
      </p:sp>
      <p:sp>
        <p:nvSpPr>
          <p:cNvPr id="37" name="Text 35"/>
          <p:cNvSpPr/>
          <p:nvPr/>
        </p:nvSpPr>
        <p:spPr>
          <a:xfrm>
            <a:off x="6391656"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PLG</a:t>
            </a:r>
            <a:endParaRPr lang="en-US" sz="700" dirty="0"/>
          </a:p>
        </p:txBody>
      </p:sp>
      <p:sp>
        <p:nvSpPr>
          <p:cNvPr id="38" name="Shape 36"/>
          <p:cNvSpPr/>
          <p:nvPr/>
        </p:nvSpPr>
        <p:spPr>
          <a:xfrm>
            <a:off x="7214616" y="4206240"/>
            <a:ext cx="749808" cy="201168"/>
          </a:xfrm>
          <a:prstGeom prst="rect">
            <a:avLst/>
          </a:prstGeom>
          <a:solidFill>
            <a:srgbClr val="334155"/>
          </a:solidFill>
          <a:ln w="12700">
            <a:solidFill>
              <a:srgbClr val="334155"/>
            </a:solidFill>
            <a:prstDash val="solid"/>
          </a:ln>
        </p:spPr>
      </p:sp>
      <p:sp>
        <p:nvSpPr>
          <p:cNvPr id="39" name="Text 37"/>
          <p:cNvSpPr/>
          <p:nvPr/>
        </p:nvSpPr>
        <p:spPr>
          <a:xfrm>
            <a:off x="7214616"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B2B Sales</a:t>
            </a:r>
            <a:endParaRPr lang="en-US" sz="700" dirty="0"/>
          </a:p>
        </p:txBody>
      </p:sp>
      <p:sp>
        <p:nvSpPr>
          <p:cNvPr id="40" name="Shape 38"/>
          <p:cNvSpPr/>
          <p:nvPr/>
        </p:nvSpPr>
        <p:spPr>
          <a:xfrm>
            <a:off x="8037576" y="4206240"/>
            <a:ext cx="749808" cy="201168"/>
          </a:xfrm>
          <a:prstGeom prst="rect">
            <a:avLst/>
          </a:prstGeom>
          <a:solidFill>
            <a:srgbClr val="334155"/>
          </a:solidFill>
          <a:ln w="12700">
            <a:solidFill>
              <a:srgbClr val="334155"/>
            </a:solidFill>
            <a:prstDash val="solid"/>
          </a:ln>
        </p:spPr>
      </p:sp>
      <p:sp>
        <p:nvSpPr>
          <p:cNvPr id="41" name="Text 39"/>
          <p:cNvSpPr/>
          <p:nvPr/>
        </p:nvSpPr>
        <p:spPr>
          <a:xfrm>
            <a:off x="8037576" y="4206240"/>
            <a:ext cx="749808" cy="201168"/>
          </a:xfrm>
          <a:prstGeom prst="rect">
            <a:avLst/>
          </a:prstGeom>
          <a:noFill/>
          <a:ln/>
        </p:spPr>
        <p:txBody>
          <a:bodyPr wrap="square" lIns="0" tIns="0" rIns="0" bIns="0" rtlCol="0" anchor="ctr"/>
          <a:lstStyle/>
          <a:p>
            <a:pPr algn="ctr" indent="0" marL="0">
              <a:buNone/>
            </a:pPr>
            <a:r>
              <a:rPr lang="en-US" sz="700" dirty="0">
                <a:solidFill>
                  <a:srgbClr val="14B8A6"/>
                </a:solidFill>
                <a:latin typeface="Calibri" pitchFamily="34" charset="0"/>
                <a:ea typeface="Calibri" pitchFamily="34" charset="-122"/>
                <a:cs typeface="Calibri" pitchFamily="34" charset="-120"/>
              </a:rPr>
              <a:t>Partnerships</a:t>
            </a:r>
            <a:endParaRPr lang="en-US" sz="700" dirty="0"/>
          </a:p>
        </p:txBody>
      </p:sp>
      <p:sp>
        <p:nvSpPr>
          <p:cNvPr id="42" name="Text 40"/>
          <p:cNvSpPr/>
          <p:nvPr/>
        </p:nvSpPr>
        <p:spPr>
          <a:xfrm>
            <a:off x="457200" y="4800600"/>
            <a:ext cx="3200400" cy="256032"/>
          </a:xfrm>
          <a:prstGeom prst="rect">
            <a:avLst/>
          </a:prstGeom>
          <a:noFill/>
          <a:ln/>
        </p:spPr>
        <p:txBody>
          <a:bodyPr wrap="square"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Advisors &amp; Network</a:t>
            </a:r>
            <a:endParaRPr lang="en-US" sz="1100" dirty="0"/>
          </a:p>
        </p:txBody>
      </p:sp>
      <p:sp>
        <p:nvSpPr>
          <p:cNvPr id="43" name="Text 41"/>
          <p:cNvSpPr/>
          <p:nvPr/>
        </p:nvSpPr>
        <p:spPr>
          <a:xfrm>
            <a:off x="3657600" y="4800600"/>
            <a:ext cx="5120640" cy="256032"/>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Actively building advisor bench: targeting 2-3 ex-VC partners and 2 accelerator operators to support B2B go-to-market.</a:t>
            </a:r>
            <a:endParaRPr lang="en-US" sz="900" dirty="0"/>
          </a:p>
        </p:txBody>
      </p:sp>
      <p:sp>
        <p:nvSpPr>
          <p:cNvPr id="44" name="Text 42"/>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sp>
      <p:sp>
        <p:nvSpPr>
          <p:cNvPr id="3" name="Shape 1"/>
          <p:cNvSpPr/>
          <p:nvPr/>
        </p:nvSpPr>
        <p:spPr>
          <a:xfrm>
            <a:off x="548640" y="182880"/>
            <a:ext cx="1280160" cy="256032"/>
          </a:xfrm>
          <a:prstGeom prst="rect">
            <a:avLst/>
          </a:prstGeom>
          <a:solidFill>
            <a:srgbClr val="7C3AED"/>
          </a:solidFill>
          <a:ln w="12700">
            <a:solidFill>
              <a:srgbClr val="7C3AED"/>
            </a:solidFill>
            <a:prstDash val="solid"/>
          </a:ln>
        </p:spPr>
      </p:sp>
      <p:sp>
        <p:nvSpPr>
          <p:cNvPr id="4" name="Text 2"/>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FINANCIAL PROJECTIONS</a:t>
            </a:r>
            <a:endParaRPr lang="en-US" sz="700" dirty="0"/>
          </a:p>
        </p:txBody>
      </p:sp>
      <p:sp>
        <p:nvSpPr>
          <p:cNvPr id="5" name="Text 3"/>
          <p:cNvSpPr/>
          <p:nvPr/>
        </p:nvSpPr>
        <p:spPr>
          <a:xfrm>
            <a:off x="548640" y="594360"/>
            <a:ext cx="77724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Path to $5M ARR in 36 months.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89888"/>
          <a:ext cx="5029200" cy="3200400"/>
        </p:xfrm>
        <a:graphic>
          <a:graphicData uri="http://schemas.openxmlformats.org/drawingml/2006/table">
            <a:tbl>
              <a:tblPr/>
              <a:tblGrid>
                <a:gridCol w="1828800"/>
                <a:gridCol w="1051560"/>
                <a:gridCol w="1051560"/>
                <a:gridCol w="1097280"/>
              </a:tblGrid>
              <a:tr h="40005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Year 1</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Year 2</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Year 3</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B2B White-Label ARR</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$72K (3 clients)</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$480K (20 clients)</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$1.8M (75 clients)</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API Access ARR</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$120K</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$480K</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Benchmark Reports</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$60K</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$300K</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Total ARR</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$72K</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$660K</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$2.58M</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MAU</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35,000</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120,000</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400,000</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Gross Margin</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82%</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87%</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r h="400050">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Headcount</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c>
                  <a:txBody>
                    <a:bodyPr/>
                    <a:lstStyle/>
                    <a:p>
                      <a:pPr algn="ctr" indent="0" marL="0">
                        <a:buNone/>
                      </a:pPr>
                      <a:r>
                        <a:rPr lang="en-US" sz="1050" dirty="0">
                          <a:solidFill>
                            <a:srgbClr val="A0AEC0"/>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6133A"/>
                    </a:solidFill>
                  </a:tcPr>
                </a:tc>
              </a:tr>
            </a:tbl>
          </a:graphicData>
        </a:graphic>
      </p:graphicFrame>
      <p:sp>
        <p:nvSpPr>
          <p:cNvPr id="7" name="Shape 4"/>
          <p:cNvSpPr/>
          <p:nvPr/>
        </p:nvSpPr>
        <p:spPr>
          <a:xfrm>
            <a:off x="5760720" y="1417320"/>
            <a:ext cx="3017520" cy="960120"/>
          </a:xfrm>
          <a:prstGeom prst="rect">
            <a:avLst/>
          </a:prstGeom>
          <a:solidFill>
            <a:srgbClr val="16133A"/>
          </a:solidFill>
          <a:ln w="12700">
            <a:solidFill>
              <a:srgbClr val="7C3AED"/>
            </a:solidFill>
            <a:prstDash val="solid"/>
          </a:ln>
          <a:effectLst>
            <a:outerShdw sx="100000" sy="100000" kx="0" ky="0" algn="bl" rotWithShape="0" blurRad="152400" dist="50800" dir="8100000">
              <a:srgbClr val="000000">
                <a:alpha val="25000"/>
              </a:srgbClr>
            </a:outerShdw>
          </a:effectLst>
        </p:spPr>
      </p:sp>
      <p:sp>
        <p:nvSpPr>
          <p:cNvPr id="8" name="Shape 5"/>
          <p:cNvSpPr/>
          <p:nvPr/>
        </p:nvSpPr>
        <p:spPr>
          <a:xfrm>
            <a:off x="5760720" y="1417320"/>
            <a:ext cx="54864" cy="960120"/>
          </a:xfrm>
          <a:prstGeom prst="rect">
            <a:avLst/>
          </a:prstGeom>
          <a:solidFill>
            <a:srgbClr val="7C3AED"/>
          </a:solidFill>
          <a:ln w="12700">
            <a:solidFill>
              <a:srgbClr val="7C3AED"/>
            </a:solidFill>
            <a:prstDash val="solid"/>
          </a:ln>
        </p:spPr>
      </p:sp>
      <p:sp>
        <p:nvSpPr>
          <p:cNvPr id="9" name="Text 6"/>
          <p:cNvSpPr/>
          <p:nvPr/>
        </p:nvSpPr>
        <p:spPr>
          <a:xfrm>
            <a:off x="5925312" y="1490472"/>
            <a:ext cx="2816352" cy="475488"/>
          </a:xfrm>
          <a:prstGeom prst="rect">
            <a:avLst/>
          </a:prstGeom>
          <a:noFill/>
          <a:ln/>
        </p:spPr>
        <p:txBody>
          <a:bodyPr wrap="square" lIns="0" tIns="0" rIns="0" bIns="0" rtlCol="0" anchor="ctr"/>
          <a:lstStyle/>
          <a:p>
            <a:pPr indent="0" marL="0">
              <a:buNone/>
            </a:pPr>
            <a:r>
              <a:rPr lang="en-US" sz="2600" b="1" dirty="0">
                <a:solidFill>
                  <a:srgbClr val="7C3AED"/>
                </a:solidFill>
                <a:latin typeface="Calibri" pitchFamily="34" charset="0"/>
                <a:ea typeface="Calibri" pitchFamily="34" charset="-122"/>
                <a:cs typeface="Calibri" pitchFamily="34" charset="-120"/>
              </a:rPr>
              <a:t>$2.58M</a:t>
            </a:r>
            <a:endParaRPr lang="en-US" sz="2600" dirty="0"/>
          </a:p>
        </p:txBody>
      </p:sp>
      <p:sp>
        <p:nvSpPr>
          <p:cNvPr id="10" name="Text 7"/>
          <p:cNvSpPr/>
          <p:nvPr/>
        </p:nvSpPr>
        <p:spPr>
          <a:xfrm>
            <a:off x="5925312" y="1984248"/>
            <a:ext cx="2816352"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Year 3 ARR Target</a:t>
            </a:r>
            <a:endParaRPr lang="en-US" sz="900" dirty="0"/>
          </a:p>
        </p:txBody>
      </p:sp>
      <p:sp>
        <p:nvSpPr>
          <p:cNvPr id="11" name="Shape 8"/>
          <p:cNvSpPr/>
          <p:nvPr/>
        </p:nvSpPr>
        <p:spPr>
          <a:xfrm>
            <a:off x="5760720" y="2487168"/>
            <a:ext cx="3017520" cy="960120"/>
          </a:xfrm>
          <a:prstGeom prst="rect">
            <a:avLst/>
          </a:prstGeom>
          <a:solidFill>
            <a:srgbClr val="16133A"/>
          </a:solidFill>
          <a:ln w="12700">
            <a:solidFill>
              <a:srgbClr val="14B8A6"/>
            </a:solidFill>
            <a:prstDash val="solid"/>
          </a:ln>
          <a:effectLst>
            <a:outerShdw sx="100000" sy="100000" kx="0" ky="0" algn="bl" rotWithShape="0" blurRad="152400" dist="50800" dir="8100000">
              <a:srgbClr val="000000">
                <a:alpha val="25000"/>
              </a:srgbClr>
            </a:outerShdw>
          </a:effectLst>
        </p:spPr>
      </p:sp>
      <p:sp>
        <p:nvSpPr>
          <p:cNvPr id="12" name="Shape 9"/>
          <p:cNvSpPr/>
          <p:nvPr/>
        </p:nvSpPr>
        <p:spPr>
          <a:xfrm>
            <a:off x="5760720" y="2487168"/>
            <a:ext cx="54864" cy="960120"/>
          </a:xfrm>
          <a:prstGeom prst="rect">
            <a:avLst/>
          </a:prstGeom>
          <a:solidFill>
            <a:srgbClr val="14B8A6"/>
          </a:solidFill>
          <a:ln w="12700">
            <a:solidFill>
              <a:srgbClr val="14B8A6"/>
            </a:solidFill>
            <a:prstDash val="solid"/>
          </a:ln>
        </p:spPr>
      </p:sp>
      <p:sp>
        <p:nvSpPr>
          <p:cNvPr id="13" name="Text 10"/>
          <p:cNvSpPr/>
          <p:nvPr/>
        </p:nvSpPr>
        <p:spPr>
          <a:xfrm>
            <a:off x="5925312" y="2560320"/>
            <a:ext cx="2816352" cy="475488"/>
          </a:xfrm>
          <a:prstGeom prst="rect">
            <a:avLst/>
          </a:prstGeom>
          <a:noFill/>
          <a:ln/>
        </p:spPr>
        <p:txBody>
          <a:bodyPr wrap="square" lIns="0" tIns="0" rIns="0" bIns="0" rtlCol="0" anchor="ctr"/>
          <a:lstStyle/>
          <a:p>
            <a:pPr indent="0" marL="0">
              <a:buNone/>
            </a:pPr>
            <a:r>
              <a:rPr lang="en-US" sz="2600" b="1" dirty="0">
                <a:solidFill>
                  <a:srgbClr val="14B8A6"/>
                </a:solidFill>
                <a:latin typeface="Calibri" pitchFamily="34" charset="0"/>
                <a:ea typeface="Calibri" pitchFamily="34" charset="-122"/>
                <a:cs typeface="Calibri" pitchFamily="34" charset="-120"/>
              </a:rPr>
              <a:t>87%</a:t>
            </a:r>
            <a:endParaRPr lang="en-US" sz="2600" dirty="0"/>
          </a:p>
        </p:txBody>
      </p:sp>
      <p:sp>
        <p:nvSpPr>
          <p:cNvPr id="14" name="Text 11"/>
          <p:cNvSpPr/>
          <p:nvPr/>
        </p:nvSpPr>
        <p:spPr>
          <a:xfrm>
            <a:off x="5925312" y="3054096"/>
            <a:ext cx="2816352"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Gross Margin</a:t>
            </a:r>
            <a:endParaRPr lang="en-US" sz="900" dirty="0"/>
          </a:p>
        </p:txBody>
      </p:sp>
      <p:sp>
        <p:nvSpPr>
          <p:cNvPr id="15" name="Shape 12"/>
          <p:cNvSpPr/>
          <p:nvPr/>
        </p:nvSpPr>
        <p:spPr>
          <a:xfrm>
            <a:off x="5760720" y="3557016"/>
            <a:ext cx="3017520" cy="960120"/>
          </a:xfrm>
          <a:prstGeom prst="rect">
            <a:avLst/>
          </a:prstGeom>
          <a:solidFill>
            <a:srgbClr val="16133A"/>
          </a:solidFill>
          <a:ln w="12700">
            <a:solidFill>
              <a:srgbClr val="F59E0B"/>
            </a:solidFill>
            <a:prstDash val="solid"/>
          </a:ln>
          <a:effectLst>
            <a:outerShdw sx="100000" sy="100000" kx="0" ky="0" algn="bl" rotWithShape="0" blurRad="152400" dist="50800" dir="8100000">
              <a:srgbClr val="000000">
                <a:alpha val="25000"/>
              </a:srgbClr>
            </a:outerShdw>
          </a:effectLst>
        </p:spPr>
      </p:sp>
      <p:sp>
        <p:nvSpPr>
          <p:cNvPr id="16" name="Shape 13"/>
          <p:cNvSpPr/>
          <p:nvPr/>
        </p:nvSpPr>
        <p:spPr>
          <a:xfrm>
            <a:off x="5760720" y="3557016"/>
            <a:ext cx="54864" cy="960120"/>
          </a:xfrm>
          <a:prstGeom prst="rect">
            <a:avLst/>
          </a:prstGeom>
          <a:solidFill>
            <a:srgbClr val="F59E0B"/>
          </a:solidFill>
          <a:ln w="12700">
            <a:solidFill>
              <a:srgbClr val="F59E0B"/>
            </a:solidFill>
            <a:prstDash val="solid"/>
          </a:ln>
        </p:spPr>
      </p:sp>
      <p:sp>
        <p:nvSpPr>
          <p:cNvPr id="17" name="Text 14"/>
          <p:cNvSpPr/>
          <p:nvPr/>
        </p:nvSpPr>
        <p:spPr>
          <a:xfrm>
            <a:off x="5925312" y="3630168"/>
            <a:ext cx="2816352" cy="475488"/>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18mo</a:t>
            </a:r>
            <a:endParaRPr lang="en-US" sz="2600" dirty="0"/>
          </a:p>
        </p:txBody>
      </p:sp>
      <p:sp>
        <p:nvSpPr>
          <p:cNvPr id="18" name="Text 15"/>
          <p:cNvSpPr/>
          <p:nvPr/>
        </p:nvSpPr>
        <p:spPr>
          <a:xfrm>
            <a:off x="5925312" y="4123944"/>
            <a:ext cx="2816352" cy="292608"/>
          </a:xfrm>
          <a:prstGeom prst="rect">
            <a:avLst/>
          </a:prstGeom>
          <a:noFill/>
          <a:ln/>
        </p:spPr>
        <p:txBody>
          <a:bodyPr wrap="square" lIns="0" tIns="0" rIns="0" bIns="0" rtlCol="0" anchor="ctr"/>
          <a:lstStyle/>
          <a:p>
            <a:pPr indent="0" marL="0">
              <a:buNone/>
            </a:pPr>
            <a:r>
              <a:rPr lang="en-US" sz="900" dirty="0">
                <a:solidFill>
                  <a:srgbClr val="A0AEC0"/>
                </a:solidFill>
                <a:latin typeface="Calibri" pitchFamily="34" charset="0"/>
                <a:ea typeface="Calibri" pitchFamily="34" charset="-122"/>
                <a:cs typeface="Calibri" pitchFamily="34" charset="-120"/>
              </a:rPr>
              <a:t>Runway Post-Raise</a:t>
            </a:r>
            <a:endParaRPr lang="en-US" sz="900" dirty="0"/>
          </a:p>
        </p:txBody>
      </p:sp>
      <p:sp>
        <p:nvSpPr>
          <p:cNvPr id="19" name="Text 16"/>
          <p:cNvSpPr/>
          <p:nvPr/>
        </p:nvSpPr>
        <p:spPr>
          <a:xfrm>
            <a:off x="457200" y="4645152"/>
            <a:ext cx="2286000" cy="274320"/>
          </a:xfrm>
          <a:prstGeom prst="rect">
            <a:avLst/>
          </a:prstGeom>
          <a:noFill/>
          <a:ln/>
        </p:spPr>
        <p:txBody>
          <a:bodyPr wrap="square"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Key Assumptions</a:t>
            </a:r>
            <a:endParaRPr lang="en-US" sz="1100" dirty="0"/>
          </a:p>
        </p:txBody>
      </p:sp>
      <p:sp>
        <p:nvSpPr>
          <p:cNvPr id="20" name="Text 17"/>
          <p:cNvSpPr/>
          <p:nvPr/>
        </p:nvSpPr>
        <p:spPr>
          <a:xfrm>
            <a:off x="2834640" y="4645152"/>
            <a:ext cx="5943600" cy="274320"/>
          </a:xfrm>
          <a:prstGeom prst="rect">
            <a:avLst/>
          </a:prstGeom>
          <a:noFill/>
          <a:ln/>
        </p:spPr>
        <p:txBody>
          <a:bodyPr wrap="square" lIns="0" tIns="0" rIns="0" bIns="0" rtlCol="0" anchor="ctr"/>
          <a:lstStyle/>
          <a:p>
            <a:pPr indent="0" marL="0">
              <a:buNone/>
            </a:pPr>
            <a:r>
              <a:rPr lang="en-US" sz="950" i="1" dirty="0">
                <a:solidFill>
                  <a:srgbClr val="A0AEC0"/>
                </a:solidFill>
                <a:latin typeface="Calibri" pitchFamily="34" charset="0"/>
                <a:ea typeface="Calibri" pitchFamily="34" charset="-122"/>
                <a:cs typeface="Calibri" pitchFamily="34" charset="-120"/>
              </a:rPr>
              <a:t>B2B at $3K/mo avg  ·  30% MoM MAU growth yr1  ·  8-month B2B sales cycle  ·  $0 infra cost on free tier</a:t>
            </a:r>
            <a:endParaRPr lang="en-US" sz="950" dirty="0"/>
          </a:p>
        </p:txBody>
      </p:sp>
      <p:sp>
        <p:nvSpPr>
          <p:cNvPr id="21" name="Text 18"/>
          <p:cNvSpPr/>
          <p:nvPr/>
        </p:nvSpPr>
        <p:spPr>
          <a:xfrm>
            <a:off x="8046720" y="4754880"/>
            <a:ext cx="914400" cy="228600"/>
          </a:xfrm>
          <a:prstGeom prst="rect">
            <a:avLst/>
          </a:prstGeom>
          <a:noFill/>
          <a:ln/>
        </p:spPr>
        <p:txBody>
          <a:bodyPr wrap="square" rtlCol="0" anchor="ctr"/>
          <a:lstStyle/>
          <a:p>
            <a:pPr algn="r" indent="0" marL="0">
              <a:buNone/>
            </a:pPr>
            <a:r>
              <a:rPr lang="en-US" sz="800" dirty="0">
                <a:solidFill>
                  <a:srgbClr val="A0AEC0"/>
                </a:solidFill>
                <a:latin typeface="Calibri" pitchFamily="34" charset="0"/>
                <a:ea typeface="Calibri" pitchFamily="34" charset="-122"/>
                <a:cs typeface="Calibri"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3AED"/>
          </a:solidFill>
          <a:ln w="12700">
            <a:solidFill>
              <a:srgbClr val="7C3AED"/>
            </a:solidFill>
            <a:prstDash val="solid"/>
          </a:ln>
        </p:spPr>
      </p:sp>
      <p:sp>
        <p:nvSpPr>
          <p:cNvPr id="3" name="Shape 1"/>
          <p:cNvSpPr/>
          <p:nvPr/>
        </p:nvSpPr>
        <p:spPr>
          <a:xfrm>
            <a:off x="5943600" y="-457200"/>
            <a:ext cx="4572000" cy="4572000"/>
          </a:xfrm>
          <a:prstGeom prst="ellipse">
            <a:avLst/>
          </a:prstGeom>
          <a:solidFill>
            <a:srgbClr val="7C3AED">
              <a:alpha val="10000"/>
            </a:srgbClr>
          </a:solidFill>
          <a:ln w="12700">
            <a:solidFill>
              <a:srgbClr val="7C3AED">
                <a:alpha val="10000"/>
              </a:srgbClr>
            </a:solidFill>
            <a:prstDash val="solid"/>
          </a:ln>
        </p:spPr>
      </p:sp>
      <p:sp>
        <p:nvSpPr>
          <p:cNvPr id="4" name="Shape 2"/>
          <p:cNvSpPr/>
          <p:nvPr/>
        </p:nvSpPr>
        <p:spPr>
          <a:xfrm>
            <a:off x="548640" y="182880"/>
            <a:ext cx="1280160" cy="256032"/>
          </a:xfrm>
          <a:prstGeom prst="rect">
            <a:avLst/>
          </a:prstGeom>
          <a:solidFill>
            <a:srgbClr val="7C3AED"/>
          </a:solidFill>
          <a:ln w="12700">
            <a:solidFill>
              <a:srgbClr val="7C3AED"/>
            </a:solidFill>
            <a:prstDash val="solid"/>
          </a:ln>
        </p:spPr>
      </p:sp>
      <p:sp>
        <p:nvSpPr>
          <p:cNvPr id="5" name="Text 3"/>
          <p:cNvSpPr/>
          <p:nvPr/>
        </p:nvSpPr>
        <p:spPr>
          <a:xfrm>
            <a:off x="548640" y="182880"/>
            <a:ext cx="1280160" cy="256032"/>
          </a:xfrm>
          <a:prstGeom prst="rect">
            <a:avLst/>
          </a:prstGeom>
          <a:noFill/>
          <a:ln/>
        </p:spPr>
        <p:txBody>
          <a:bodyPr wrap="square" lIns="0" tIns="0" rIns="0" bIns="0" rtlCol="0" anchor="ctr"/>
          <a:lstStyle/>
          <a:p>
            <a:pPr algn="ctr" indent="0" marL="0">
              <a:buNone/>
            </a:pPr>
            <a:r>
              <a:rPr lang="en-US" sz="700" b="1" spc="200" kern="0" dirty="0">
                <a:solidFill>
                  <a:srgbClr val="FFFFFF"/>
                </a:solidFill>
                <a:latin typeface="Calibri" pitchFamily="34" charset="0"/>
                <a:ea typeface="Calibri" pitchFamily="34" charset="-122"/>
                <a:cs typeface="Calibri" pitchFamily="34" charset="-120"/>
              </a:rPr>
              <a:t>THE ASK</a:t>
            </a:r>
            <a:endParaRPr lang="en-US" sz="700" dirty="0"/>
          </a:p>
        </p:txBody>
      </p:sp>
      <p:sp>
        <p:nvSpPr>
          <p:cNvPr id="6" name="Text 4"/>
          <p:cNvSpPr/>
          <p:nvPr/>
        </p:nvSpPr>
        <p:spPr>
          <a:xfrm>
            <a:off x="548640" y="594360"/>
            <a:ext cx="7772400" cy="82296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Raising $1.5M Pre-Seed</a:t>
            </a:r>
            <a:endParaRPr lang="en-US" sz="3800" dirty="0"/>
          </a:p>
        </p:txBody>
      </p:sp>
      <p:sp>
        <p:nvSpPr>
          <p:cNvPr id="7" name="Text 5"/>
          <p:cNvSpPr/>
          <p:nvPr/>
        </p:nvSpPr>
        <p:spPr>
          <a:xfrm>
            <a:off x="548640" y="1463040"/>
            <a:ext cx="6400800" cy="502920"/>
          </a:xfrm>
          <a:prstGeom prst="rect">
            <a:avLst/>
          </a:prstGeom>
          <a:noFill/>
          <a:ln/>
        </p:spPr>
        <p:txBody>
          <a:bodyPr wrap="square" rtlCol="0" anchor="ctr"/>
          <a:lstStyle/>
          <a:p>
            <a:pPr indent="0" marL="0">
              <a:buNone/>
            </a:pPr>
            <a:r>
              <a:rPr lang="en-US" sz="1600" dirty="0">
                <a:solidFill>
                  <a:srgbClr val="EDE9FE"/>
                </a:solidFill>
                <a:latin typeface="Calibri" pitchFamily="34" charset="0"/>
                <a:ea typeface="Calibri" pitchFamily="34" charset="-122"/>
                <a:cs typeface="Calibri" pitchFamily="34" charset="-120"/>
              </a:rPr>
              <a:t>to hire, grow, and close our first 10 enterprise clients.</a:t>
            </a:r>
            <a:endParaRPr lang="en-US" sz="1600" dirty="0"/>
          </a:p>
        </p:txBody>
      </p:sp>
      <p:sp>
        <p:nvSpPr>
          <p:cNvPr id="8" name="Text 6"/>
          <p:cNvSpPr/>
          <p:nvPr/>
        </p:nvSpPr>
        <p:spPr>
          <a:xfrm>
            <a:off x="548640" y="2103120"/>
            <a:ext cx="4114800" cy="347472"/>
          </a:xfrm>
          <a:prstGeom prst="rect">
            <a:avLst/>
          </a:prstGeom>
          <a:noFill/>
          <a:ln/>
        </p:spPr>
        <p:txBody>
          <a:bodyPr wrap="square"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Use of Funds</a:t>
            </a:r>
            <a:endParaRPr lang="en-US" sz="1400" dirty="0"/>
          </a:p>
        </p:txBody>
      </p:sp>
      <p:sp>
        <p:nvSpPr>
          <p:cNvPr id="9" name="Shape 7"/>
          <p:cNvSpPr/>
          <p:nvPr/>
        </p:nvSpPr>
        <p:spPr>
          <a:xfrm>
            <a:off x="548640" y="2633472"/>
            <a:ext cx="3657600" cy="164592"/>
          </a:xfrm>
          <a:prstGeom prst="rect">
            <a:avLst/>
          </a:prstGeom>
          <a:solidFill>
            <a:srgbClr val="16133A"/>
          </a:solidFill>
          <a:ln w="12700">
            <a:solidFill>
              <a:srgbClr val="16133A"/>
            </a:solidFill>
            <a:prstDash val="solid"/>
          </a:ln>
        </p:spPr>
      </p:sp>
      <p:sp>
        <p:nvSpPr>
          <p:cNvPr id="10" name="Shape 8"/>
          <p:cNvSpPr/>
          <p:nvPr/>
        </p:nvSpPr>
        <p:spPr>
          <a:xfrm>
            <a:off x="548640" y="2633472"/>
            <a:ext cx="1645920" cy="164592"/>
          </a:xfrm>
          <a:prstGeom prst="rect">
            <a:avLst/>
          </a:prstGeom>
          <a:solidFill>
            <a:srgbClr val="7C3AED"/>
          </a:solidFill>
          <a:ln w="12700">
            <a:solidFill>
              <a:srgbClr val="7C3AED"/>
            </a:solidFill>
            <a:prstDash val="solid"/>
          </a:ln>
        </p:spPr>
      </p:sp>
      <p:sp>
        <p:nvSpPr>
          <p:cNvPr id="11" name="Text 9"/>
          <p:cNvSpPr/>
          <p:nvPr/>
        </p:nvSpPr>
        <p:spPr>
          <a:xfrm>
            <a:off x="548640" y="2505456"/>
            <a:ext cx="29260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Engineering &amp; AI (CTO + 2 engineers)</a:t>
            </a:r>
            <a:endParaRPr lang="en-US" sz="950" dirty="0"/>
          </a:p>
        </p:txBody>
      </p:sp>
      <p:sp>
        <p:nvSpPr>
          <p:cNvPr id="12" name="Text 10"/>
          <p:cNvSpPr/>
          <p:nvPr/>
        </p:nvSpPr>
        <p:spPr>
          <a:xfrm>
            <a:off x="3520440" y="2505456"/>
            <a:ext cx="1005840" cy="256032"/>
          </a:xfrm>
          <a:prstGeom prst="rect">
            <a:avLst/>
          </a:prstGeom>
          <a:noFill/>
          <a:ln/>
        </p:spPr>
        <p:txBody>
          <a:bodyPr wrap="square" lIns="0" tIns="0" rIns="0" bIns="0" rtlCol="0" anchor="ctr"/>
          <a:lstStyle/>
          <a:p>
            <a:pPr algn="r" indent="0" marL="0">
              <a:buNone/>
            </a:pPr>
            <a:r>
              <a:rPr lang="en-US" sz="950" b="1" dirty="0">
                <a:solidFill>
                  <a:srgbClr val="7C3AED"/>
                </a:solidFill>
                <a:latin typeface="Calibri" pitchFamily="34" charset="0"/>
                <a:ea typeface="Calibri" pitchFamily="34" charset="-122"/>
                <a:cs typeface="Calibri" pitchFamily="34" charset="-120"/>
              </a:rPr>
              <a:t>45%  $675K</a:t>
            </a:r>
            <a:endParaRPr lang="en-US" sz="950" dirty="0"/>
          </a:p>
        </p:txBody>
      </p:sp>
      <p:sp>
        <p:nvSpPr>
          <p:cNvPr id="13" name="Shape 11"/>
          <p:cNvSpPr/>
          <p:nvPr/>
        </p:nvSpPr>
        <p:spPr>
          <a:xfrm>
            <a:off x="548640" y="3035808"/>
            <a:ext cx="3657600" cy="164592"/>
          </a:xfrm>
          <a:prstGeom prst="rect">
            <a:avLst/>
          </a:prstGeom>
          <a:solidFill>
            <a:srgbClr val="16133A"/>
          </a:solidFill>
          <a:ln w="12700">
            <a:solidFill>
              <a:srgbClr val="16133A"/>
            </a:solidFill>
            <a:prstDash val="solid"/>
          </a:ln>
        </p:spPr>
      </p:sp>
      <p:sp>
        <p:nvSpPr>
          <p:cNvPr id="14" name="Shape 12"/>
          <p:cNvSpPr/>
          <p:nvPr/>
        </p:nvSpPr>
        <p:spPr>
          <a:xfrm>
            <a:off x="548640" y="3035808"/>
            <a:ext cx="1024128" cy="164592"/>
          </a:xfrm>
          <a:prstGeom prst="rect">
            <a:avLst/>
          </a:prstGeom>
          <a:solidFill>
            <a:srgbClr val="14B8A6"/>
          </a:solidFill>
          <a:ln w="12700">
            <a:solidFill>
              <a:srgbClr val="14B8A6"/>
            </a:solidFill>
            <a:prstDash val="solid"/>
          </a:ln>
        </p:spPr>
      </p:sp>
      <p:sp>
        <p:nvSpPr>
          <p:cNvPr id="15" name="Text 13"/>
          <p:cNvSpPr/>
          <p:nvPr/>
        </p:nvSpPr>
        <p:spPr>
          <a:xfrm>
            <a:off x="548640" y="2907792"/>
            <a:ext cx="29260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Sales &amp; Growth (VP Growth + demand gen)</a:t>
            </a:r>
            <a:endParaRPr lang="en-US" sz="950" dirty="0"/>
          </a:p>
        </p:txBody>
      </p:sp>
      <p:sp>
        <p:nvSpPr>
          <p:cNvPr id="16" name="Text 14"/>
          <p:cNvSpPr/>
          <p:nvPr/>
        </p:nvSpPr>
        <p:spPr>
          <a:xfrm>
            <a:off x="3520440" y="2907792"/>
            <a:ext cx="1005840" cy="256032"/>
          </a:xfrm>
          <a:prstGeom prst="rect">
            <a:avLst/>
          </a:prstGeom>
          <a:noFill/>
          <a:ln/>
        </p:spPr>
        <p:txBody>
          <a:bodyPr wrap="square" lIns="0" tIns="0" rIns="0" bIns="0" rtlCol="0" anchor="ctr"/>
          <a:lstStyle/>
          <a:p>
            <a:pPr algn="r" indent="0" marL="0">
              <a:buNone/>
            </a:pPr>
            <a:r>
              <a:rPr lang="en-US" sz="950" b="1" dirty="0">
                <a:solidFill>
                  <a:srgbClr val="14B8A6"/>
                </a:solidFill>
                <a:latin typeface="Calibri" pitchFamily="34" charset="0"/>
                <a:ea typeface="Calibri" pitchFamily="34" charset="-122"/>
                <a:cs typeface="Calibri" pitchFamily="34" charset="-120"/>
              </a:rPr>
              <a:t>28%  $420K</a:t>
            </a:r>
            <a:endParaRPr lang="en-US" sz="950" dirty="0"/>
          </a:p>
        </p:txBody>
      </p:sp>
      <p:sp>
        <p:nvSpPr>
          <p:cNvPr id="17" name="Shape 15"/>
          <p:cNvSpPr/>
          <p:nvPr/>
        </p:nvSpPr>
        <p:spPr>
          <a:xfrm>
            <a:off x="548640" y="3438144"/>
            <a:ext cx="3657600" cy="164592"/>
          </a:xfrm>
          <a:prstGeom prst="rect">
            <a:avLst/>
          </a:prstGeom>
          <a:solidFill>
            <a:srgbClr val="16133A"/>
          </a:solidFill>
          <a:ln w="12700">
            <a:solidFill>
              <a:srgbClr val="16133A"/>
            </a:solidFill>
            <a:prstDash val="solid"/>
          </a:ln>
        </p:spPr>
      </p:sp>
      <p:sp>
        <p:nvSpPr>
          <p:cNvPr id="18" name="Shape 16"/>
          <p:cNvSpPr/>
          <p:nvPr/>
        </p:nvSpPr>
        <p:spPr>
          <a:xfrm>
            <a:off x="548640" y="3438144"/>
            <a:ext cx="438912" cy="164592"/>
          </a:xfrm>
          <a:prstGeom prst="rect">
            <a:avLst/>
          </a:prstGeom>
          <a:solidFill>
            <a:srgbClr val="F59E0B"/>
          </a:solidFill>
          <a:ln w="12700">
            <a:solidFill>
              <a:srgbClr val="F59E0B"/>
            </a:solidFill>
            <a:prstDash val="solid"/>
          </a:ln>
        </p:spPr>
      </p:sp>
      <p:sp>
        <p:nvSpPr>
          <p:cNvPr id="19" name="Text 17"/>
          <p:cNvSpPr/>
          <p:nvPr/>
        </p:nvSpPr>
        <p:spPr>
          <a:xfrm>
            <a:off x="548640" y="3310128"/>
            <a:ext cx="29260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Infrastructure &amp; DevOps</a:t>
            </a:r>
            <a:endParaRPr lang="en-US" sz="950" dirty="0"/>
          </a:p>
        </p:txBody>
      </p:sp>
      <p:sp>
        <p:nvSpPr>
          <p:cNvPr id="20" name="Text 18"/>
          <p:cNvSpPr/>
          <p:nvPr/>
        </p:nvSpPr>
        <p:spPr>
          <a:xfrm>
            <a:off x="3520440" y="3310128"/>
            <a:ext cx="1005840" cy="256032"/>
          </a:xfrm>
          <a:prstGeom prst="rect">
            <a:avLst/>
          </a:prstGeom>
          <a:noFill/>
          <a:ln/>
        </p:spPr>
        <p:txBody>
          <a:bodyPr wrap="square" lIns="0" tIns="0" rIns="0" bIns="0" rtlCol="0" anchor="ctr"/>
          <a:lstStyle/>
          <a:p>
            <a:pPr algn="r" indent="0" marL="0">
              <a:buNone/>
            </a:pPr>
            <a:r>
              <a:rPr lang="en-US" sz="950" b="1" dirty="0">
                <a:solidFill>
                  <a:srgbClr val="F59E0B"/>
                </a:solidFill>
                <a:latin typeface="Calibri" pitchFamily="34" charset="0"/>
                <a:ea typeface="Calibri" pitchFamily="34" charset="-122"/>
                <a:cs typeface="Calibri" pitchFamily="34" charset="-120"/>
              </a:rPr>
              <a:t>12%  $180K</a:t>
            </a:r>
            <a:endParaRPr lang="en-US" sz="950" dirty="0"/>
          </a:p>
        </p:txBody>
      </p:sp>
      <p:sp>
        <p:nvSpPr>
          <p:cNvPr id="21" name="Shape 19"/>
          <p:cNvSpPr/>
          <p:nvPr/>
        </p:nvSpPr>
        <p:spPr>
          <a:xfrm>
            <a:off x="548640" y="3840480"/>
            <a:ext cx="3657600" cy="164592"/>
          </a:xfrm>
          <a:prstGeom prst="rect">
            <a:avLst/>
          </a:prstGeom>
          <a:solidFill>
            <a:srgbClr val="16133A"/>
          </a:solidFill>
          <a:ln w="12700">
            <a:solidFill>
              <a:srgbClr val="16133A"/>
            </a:solidFill>
            <a:prstDash val="solid"/>
          </a:ln>
        </p:spPr>
      </p:sp>
      <p:sp>
        <p:nvSpPr>
          <p:cNvPr id="22" name="Shape 20"/>
          <p:cNvSpPr/>
          <p:nvPr/>
        </p:nvSpPr>
        <p:spPr>
          <a:xfrm>
            <a:off x="548640" y="3840480"/>
            <a:ext cx="365760" cy="164592"/>
          </a:xfrm>
          <a:prstGeom prst="rect">
            <a:avLst/>
          </a:prstGeom>
          <a:solidFill>
            <a:srgbClr val="10B981"/>
          </a:solidFill>
          <a:ln w="12700">
            <a:solidFill>
              <a:srgbClr val="10B981"/>
            </a:solidFill>
            <a:prstDash val="solid"/>
          </a:ln>
        </p:spPr>
      </p:sp>
      <p:sp>
        <p:nvSpPr>
          <p:cNvPr id="23" name="Text 21"/>
          <p:cNvSpPr/>
          <p:nvPr/>
        </p:nvSpPr>
        <p:spPr>
          <a:xfrm>
            <a:off x="548640" y="3712464"/>
            <a:ext cx="29260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Legal, Finance &amp; Operations</a:t>
            </a:r>
            <a:endParaRPr lang="en-US" sz="950" dirty="0"/>
          </a:p>
        </p:txBody>
      </p:sp>
      <p:sp>
        <p:nvSpPr>
          <p:cNvPr id="24" name="Text 22"/>
          <p:cNvSpPr/>
          <p:nvPr/>
        </p:nvSpPr>
        <p:spPr>
          <a:xfrm>
            <a:off x="3520440" y="3712464"/>
            <a:ext cx="1005840" cy="256032"/>
          </a:xfrm>
          <a:prstGeom prst="rect">
            <a:avLst/>
          </a:prstGeom>
          <a:noFill/>
          <a:ln/>
        </p:spPr>
        <p:txBody>
          <a:bodyPr wrap="square" lIns="0" tIns="0" rIns="0" bIns="0" rtlCol="0" anchor="ctr"/>
          <a:lstStyle/>
          <a:p>
            <a:pPr algn="r" indent="0" marL="0">
              <a:buNone/>
            </a:pPr>
            <a:r>
              <a:rPr lang="en-US" sz="950" b="1" dirty="0">
                <a:solidFill>
                  <a:srgbClr val="10B981"/>
                </a:solidFill>
                <a:latin typeface="Calibri" pitchFamily="34" charset="0"/>
                <a:ea typeface="Calibri" pitchFamily="34" charset="-122"/>
                <a:cs typeface="Calibri" pitchFamily="34" charset="-120"/>
              </a:rPr>
              <a:t>10%  $150K</a:t>
            </a:r>
            <a:endParaRPr lang="en-US" sz="950" dirty="0"/>
          </a:p>
        </p:txBody>
      </p:sp>
      <p:sp>
        <p:nvSpPr>
          <p:cNvPr id="25" name="Shape 23"/>
          <p:cNvSpPr/>
          <p:nvPr/>
        </p:nvSpPr>
        <p:spPr>
          <a:xfrm>
            <a:off x="548640" y="4242816"/>
            <a:ext cx="3657600" cy="164592"/>
          </a:xfrm>
          <a:prstGeom prst="rect">
            <a:avLst/>
          </a:prstGeom>
          <a:solidFill>
            <a:srgbClr val="16133A"/>
          </a:solidFill>
          <a:ln w="12700">
            <a:solidFill>
              <a:srgbClr val="16133A"/>
            </a:solidFill>
            <a:prstDash val="solid"/>
          </a:ln>
        </p:spPr>
      </p:sp>
      <p:sp>
        <p:nvSpPr>
          <p:cNvPr id="26" name="Shape 24"/>
          <p:cNvSpPr/>
          <p:nvPr/>
        </p:nvSpPr>
        <p:spPr>
          <a:xfrm>
            <a:off x="548640" y="4242816"/>
            <a:ext cx="182880" cy="164592"/>
          </a:xfrm>
          <a:prstGeom prst="rect">
            <a:avLst/>
          </a:prstGeom>
          <a:solidFill>
            <a:srgbClr val="A0AEC0"/>
          </a:solidFill>
          <a:ln w="12700">
            <a:solidFill>
              <a:srgbClr val="A0AEC0"/>
            </a:solidFill>
            <a:prstDash val="solid"/>
          </a:ln>
        </p:spPr>
      </p:sp>
      <p:sp>
        <p:nvSpPr>
          <p:cNvPr id="27" name="Text 25"/>
          <p:cNvSpPr/>
          <p:nvPr/>
        </p:nvSpPr>
        <p:spPr>
          <a:xfrm>
            <a:off x="548640" y="4114800"/>
            <a:ext cx="29260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Reserve &amp; Contingency</a:t>
            </a:r>
            <a:endParaRPr lang="en-US" sz="950" dirty="0"/>
          </a:p>
        </p:txBody>
      </p:sp>
      <p:sp>
        <p:nvSpPr>
          <p:cNvPr id="28" name="Text 26"/>
          <p:cNvSpPr/>
          <p:nvPr/>
        </p:nvSpPr>
        <p:spPr>
          <a:xfrm>
            <a:off x="3520440" y="4114800"/>
            <a:ext cx="1005840" cy="256032"/>
          </a:xfrm>
          <a:prstGeom prst="rect">
            <a:avLst/>
          </a:prstGeom>
          <a:noFill/>
          <a:ln/>
        </p:spPr>
        <p:txBody>
          <a:bodyPr wrap="square" lIns="0" tIns="0" rIns="0" bIns="0" rtlCol="0" anchor="ctr"/>
          <a:lstStyle/>
          <a:p>
            <a:pPr algn="r" indent="0" marL="0">
              <a:buNone/>
            </a:pPr>
            <a:r>
              <a:rPr lang="en-US" sz="950" b="1" dirty="0">
                <a:solidFill>
                  <a:srgbClr val="A0AEC0"/>
                </a:solidFill>
                <a:latin typeface="Calibri" pitchFamily="34" charset="0"/>
                <a:ea typeface="Calibri" pitchFamily="34" charset="-122"/>
                <a:cs typeface="Calibri" pitchFamily="34" charset="-120"/>
              </a:rPr>
              <a:t>5%  $75K</a:t>
            </a:r>
            <a:endParaRPr lang="en-US" sz="950" dirty="0"/>
          </a:p>
        </p:txBody>
      </p:sp>
      <p:sp>
        <p:nvSpPr>
          <p:cNvPr id="29" name="Text 27"/>
          <p:cNvSpPr/>
          <p:nvPr/>
        </p:nvSpPr>
        <p:spPr>
          <a:xfrm>
            <a:off x="5029200" y="2103120"/>
            <a:ext cx="3749040" cy="347472"/>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Milestones This Capital Unlocks</a:t>
            </a:r>
            <a:endParaRPr lang="en-US" sz="1400" dirty="0"/>
          </a:p>
        </p:txBody>
      </p:sp>
      <p:sp>
        <p:nvSpPr>
          <p:cNvPr id="30" name="Shape 28"/>
          <p:cNvSpPr/>
          <p:nvPr/>
        </p:nvSpPr>
        <p:spPr>
          <a:xfrm>
            <a:off x="5029200" y="2688336"/>
            <a:ext cx="182880" cy="182880"/>
          </a:xfrm>
          <a:prstGeom prst="ellipse">
            <a:avLst/>
          </a:prstGeom>
          <a:solidFill>
            <a:srgbClr val="14B8A6"/>
          </a:solidFill>
          <a:ln w="12700">
            <a:solidFill>
              <a:srgbClr val="14B8A6"/>
            </a:solidFill>
            <a:prstDash val="solid"/>
          </a:ln>
        </p:spPr>
      </p:sp>
      <p:sp>
        <p:nvSpPr>
          <p:cNvPr id="31" name="Text 29"/>
          <p:cNvSpPr/>
          <p:nvPr/>
        </p:nvSpPr>
        <p:spPr>
          <a:xfrm>
            <a:off x="5330952" y="2596896"/>
            <a:ext cx="3401568" cy="40233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10 paying B2B enterprise clients signed</a:t>
            </a:r>
            <a:endParaRPr lang="en-US" sz="1150" dirty="0"/>
          </a:p>
        </p:txBody>
      </p:sp>
      <p:sp>
        <p:nvSpPr>
          <p:cNvPr id="32" name="Shape 30"/>
          <p:cNvSpPr/>
          <p:nvPr/>
        </p:nvSpPr>
        <p:spPr>
          <a:xfrm>
            <a:off x="5029200" y="3163824"/>
            <a:ext cx="182880" cy="182880"/>
          </a:xfrm>
          <a:prstGeom prst="ellipse">
            <a:avLst/>
          </a:prstGeom>
          <a:solidFill>
            <a:srgbClr val="14B8A6"/>
          </a:solidFill>
          <a:ln w="12700">
            <a:solidFill>
              <a:srgbClr val="14B8A6"/>
            </a:solidFill>
            <a:prstDash val="solid"/>
          </a:ln>
        </p:spPr>
      </p:sp>
      <p:sp>
        <p:nvSpPr>
          <p:cNvPr id="33" name="Text 31"/>
          <p:cNvSpPr/>
          <p:nvPr/>
        </p:nvSpPr>
        <p:spPr>
          <a:xfrm>
            <a:off x="5330952" y="3072384"/>
            <a:ext cx="3401568" cy="40233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100,000 MAU milestone achieved</a:t>
            </a:r>
            <a:endParaRPr lang="en-US" sz="1150" dirty="0"/>
          </a:p>
        </p:txBody>
      </p:sp>
      <p:sp>
        <p:nvSpPr>
          <p:cNvPr id="34" name="Shape 32"/>
          <p:cNvSpPr/>
          <p:nvPr/>
        </p:nvSpPr>
        <p:spPr>
          <a:xfrm>
            <a:off x="5029200" y="3639312"/>
            <a:ext cx="182880" cy="182880"/>
          </a:xfrm>
          <a:prstGeom prst="ellipse">
            <a:avLst/>
          </a:prstGeom>
          <a:solidFill>
            <a:srgbClr val="14B8A6"/>
          </a:solidFill>
          <a:ln w="12700">
            <a:solidFill>
              <a:srgbClr val="14B8A6"/>
            </a:solidFill>
            <a:prstDash val="solid"/>
          </a:ln>
        </p:spPr>
      </p:sp>
      <p:sp>
        <p:nvSpPr>
          <p:cNvPr id="35" name="Text 33"/>
          <p:cNvSpPr/>
          <p:nvPr/>
        </p:nvSpPr>
        <p:spPr>
          <a:xfrm>
            <a:off x="5330952" y="3547872"/>
            <a:ext cx="3401568" cy="40233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API platform + 5 integration partners live</a:t>
            </a:r>
            <a:endParaRPr lang="en-US" sz="1150" dirty="0"/>
          </a:p>
        </p:txBody>
      </p:sp>
      <p:sp>
        <p:nvSpPr>
          <p:cNvPr id="36" name="Shape 34"/>
          <p:cNvSpPr/>
          <p:nvPr/>
        </p:nvSpPr>
        <p:spPr>
          <a:xfrm>
            <a:off x="5029200" y="4114800"/>
            <a:ext cx="182880" cy="182880"/>
          </a:xfrm>
          <a:prstGeom prst="ellipse">
            <a:avLst/>
          </a:prstGeom>
          <a:solidFill>
            <a:srgbClr val="14B8A6"/>
          </a:solidFill>
          <a:ln w="12700">
            <a:solidFill>
              <a:srgbClr val="14B8A6"/>
            </a:solidFill>
            <a:prstDash val="solid"/>
          </a:ln>
        </p:spPr>
      </p:sp>
      <p:sp>
        <p:nvSpPr>
          <p:cNvPr id="37" name="Text 35"/>
          <p:cNvSpPr/>
          <p:nvPr/>
        </p:nvSpPr>
        <p:spPr>
          <a:xfrm>
            <a:off x="5330952" y="4023360"/>
            <a:ext cx="3401568" cy="40233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Series A ready: $660K ARR, clear path to $2M+</a:t>
            </a:r>
            <a:endParaRPr lang="en-US" sz="1150" dirty="0"/>
          </a:p>
        </p:txBody>
      </p:sp>
      <p:sp>
        <p:nvSpPr>
          <p:cNvPr id="38" name="Shape 36"/>
          <p:cNvSpPr/>
          <p:nvPr/>
        </p:nvSpPr>
        <p:spPr>
          <a:xfrm>
            <a:off x="548640" y="4343400"/>
            <a:ext cx="8046720" cy="292608"/>
          </a:xfrm>
          <a:prstGeom prst="rect">
            <a:avLst/>
          </a:prstGeom>
          <a:solidFill>
            <a:srgbClr val="16133A"/>
          </a:solidFill>
          <a:ln w="12700">
            <a:solidFill>
              <a:srgbClr val="7C3AED"/>
            </a:solidFill>
            <a:prstDash val="solid"/>
          </a:ln>
        </p:spPr>
      </p:sp>
      <p:sp>
        <p:nvSpPr>
          <p:cNvPr id="39" name="Text 37"/>
          <p:cNvSpPr/>
          <p:nvPr/>
        </p:nvSpPr>
        <p:spPr>
          <a:xfrm>
            <a:off x="548640" y="4343400"/>
            <a:ext cx="8046720" cy="292608"/>
          </a:xfrm>
          <a:prstGeom prst="rect">
            <a:avLst/>
          </a:prstGeom>
          <a:noFill/>
          <a:ln/>
        </p:spPr>
        <p:txBody>
          <a:bodyPr wrap="square" lIns="0" tIns="0" rIns="0" bIns="0" rtlCol="0" anchor="ctr"/>
          <a:lstStyle/>
          <a:p>
            <a:pPr algn="ctr" indent="0" marL="0">
              <a:buNone/>
            </a:pPr>
            <a:r>
              <a:rPr lang="en-US" sz="1000" dirty="0">
                <a:solidFill>
                  <a:srgbClr val="EDE9FE"/>
                </a:solidFill>
                <a:latin typeface="Calibri" pitchFamily="34" charset="0"/>
                <a:ea typeface="Calibri" pitchFamily="34" charset="-122"/>
                <a:cs typeface="Calibri" pitchFamily="34" charset="-120"/>
              </a:rPr>
              <a:t>Instrument: SAFE  ·  Valuation Cap: $8M  ·  Discount: 20%  ·  Lead: TBD  ·  Closing: Q3 2025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E2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3AED"/>
          </a:solidFill>
          <a:ln w="12700">
            <a:solidFill>
              <a:srgbClr val="7C3AED"/>
            </a:solidFill>
            <a:prstDash val="solid"/>
          </a:ln>
        </p:spPr>
      </p:sp>
      <p:sp>
        <p:nvSpPr>
          <p:cNvPr id="3" name="Shape 1"/>
          <p:cNvSpPr/>
          <p:nvPr/>
        </p:nvSpPr>
        <p:spPr>
          <a:xfrm>
            <a:off x="-1828800" y="1371600"/>
            <a:ext cx="5486400" cy="5486400"/>
          </a:xfrm>
          <a:prstGeom prst="ellipse">
            <a:avLst/>
          </a:prstGeom>
          <a:solidFill>
            <a:srgbClr val="7C3AED">
              <a:alpha val="12000"/>
            </a:srgbClr>
          </a:solidFill>
          <a:ln w="12700">
            <a:solidFill>
              <a:srgbClr val="7C3AED">
                <a:alpha val="12000"/>
              </a:srgbClr>
            </a:solidFill>
            <a:prstDash val="solid"/>
          </a:ln>
        </p:spPr>
      </p:sp>
      <p:sp>
        <p:nvSpPr>
          <p:cNvPr id="4" name="Shape 2"/>
          <p:cNvSpPr/>
          <p:nvPr/>
        </p:nvSpPr>
        <p:spPr>
          <a:xfrm>
            <a:off x="6400800" y="-914400"/>
            <a:ext cx="4572000" cy="4572000"/>
          </a:xfrm>
          <a:prstGeom prst="ellipse">
            <a:avLst/>
          </a:prstGeom>
          <a:solidFill>
            <a:srgbClr val="14B8A6">
              <a:alpha val="10000"/>
            </a:srgbClr>
          </a:solidFill>
          <a:ln w="12700">
            <a:solidFill>
              <a:srgbClr val="14B8A6">
                <a:alpha val="10000"/>
              </a:srgbClr>
            </a:solidFill>
            <a:prstDash val="solid"/>
          </a:ln>
        </p:spPr>
      </p:sp>
      <p:sp>
        <p:nvSpPr>
          <p:cNvPr id="5" name="Shape 3"/>
          <p:cNvSpPr/>
          <p:nvPr/>
        </p:nvSpPr>
        <p:spPr>
          <a:xfrm>
            <a:off x="3785616" y="731520"/>
            <a:ext cx="658368" cy="658368"/>
          </a:xfrm>
          <a:prstGeom prst="rect">
            <a:avLst/>
          </a:prstGeom>
          <a:solidFill>
            <a:srgbClr val="7C3AED"/>
          </a:solidFill>
          <a:ln w="12700">
            <a:solidFill>
              <a:srgbClr val="7C3AED"/>
            </a:solidFill>
            <a:prstDash val="solid"/>
          </a:ln>
        </p:spPr>
      </p:sp>
      <p:sp>
        <p:nvSpPr>
          <p:cNvPr id="6" name="Text 4"/>
          <p:cNvSpPr/>
          <p:nvPr/>
        </p:nvSpPr>
        <p:spPr>
          <a:xfrm>
            <a:off x="3785616" y="73152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VP</a:t>
            </a:r>
            <a:endParaRPr lang="en-US" sz="1800" dirty="0"/>
          </a:p>
        </p:txBody>
      </p:sp>
      <p:sp>
        <p:nvSpPr>
          <p:cNvPr id="7" name="Text 5"/>
          <p:cNvSpPr/>
          <p:nvPr/>
        </p:nvSpPr>
        <p:spPr>
          <a:xfrm>
            <a:off x="457200" y="1572768"/>
            <a:ext cx="8229600" cy="164592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Let's build the future</a:t>
            </a:r>
            <a:endParaRPr lang="en-US" sz="3800" dirty="0"/>
          </a:p>
          <a:p>
            <a:pPr algn="ctr" indent="0" marL="0">
              <a:buNone/>
            </a:pPr>
            <a:r>
              <a:rPr lang="en-US" sz="3800" b="1" dirty="0">
                <a:solidFill>
                  <a:srgbClr val="FFFFFF"/>
                </a:solidFill>
                <a:latin typeface="Calibri" pitchFamily="34" charset="0"/>
                <a:ea typeface="Calibri" pitchFamily="34" charset="-122"/>
                <a:cs typeface="Calibri" pitchFamily="34" charset="-120"/>
              </a:rPr>
              <a:t>of startup finance. Together.</a:t>
            </a:r>
            <a:endParaRPr lang="en-US" sz="3800" dirty="0"/>
          </a:p>
        </p:txBody>
      </p:sp>
      <p:sp>
        <p:nvSpPr>
          <p:cNvPr id="8" name="Text 6"/>
          <p:cNvSpPr/>
          <p:nvPr/>
        </p:nvSpPr>
        <p:spPr>
          <a:xfrm>
            <a:off x="457200" y="3364992"/>
            <a:ext cx="8229600" cy="457200"/>
          </a:xfrm>
          <a:prstGeom prst="rect">
            <a:avLst/>
          </a:prstGeom>
          <a:noFill/>
          <a:ln/>
        </p:spPr>
        <p:txBody>
          <a:bodyPr wrap="square" rtlCol="0" anchor="ctr"/>
          <a:lstStyle/>
          <a:p>
            <a:pPr algn="ctr" indent="0" marL="0">
              <a:buNone/>
            </a:pPr>
            <a:r>
              <a:rPr lang="en-US" sz="1600" u="sng" dirty="0">
                <a:solidFill>
                  <a:srgbClr val="7C3AED"/>
                </a:solidFill>
                <a:latin typeface="Calibri" pitchFamily="34" charset="0"/>
                <a:ea typeface="Calibri" pitchFamily="34" charset="-122"/>
                <a:cs typeface="Calibri" pitchFamily="34" charset="-120"/>
              </a:rPr>
              <a:t>nessgelman@gmail.com</a:t>
            </a:r>
            <a:endParaRPr lang="en-US" sz="1600" dirty="0"/>
          </a:p>
        </p:txBody>
      </p:sp>
      <p:sp>
        <p:nvSpPr>
          <p:cNvPr id="9" name="Text 7"/>
          <p:cNvSpPr/>
          <p:nvPr/>
        </p:nvSpPr>
        <p:spPr>
          <a:xfrm>
            <a:off x="457200" y="3858768"/>
            <a:ext cx="8229600" cy="365760"/>
          </a:xfrm>
          <a:prstGeom prst="rect">
            <a:avLst/>
          </a:prstGeom>
          <a:noFill/>
          <a:ln/>
        </p:spPr>
        <p:txBody>
          <a:bodyPr wrap="square" rtlCol="0" anchor="ctr"/>
          <a:lstStyle/>
          <a:p>
            <a:pPr algn="ctr" indent="0" marL="0">
              <a:buNone/>
            </a:pPr>
            <a:r>
              <a:rPr lang="en-US" sz="1300" dirty="0">
                <a:solidFill>
                  <a:srgbClr val="A0AEC0"/>
                </a:solidFill>
                <a:latin typeface="Calibri" pitchFamily="34" charset="0"/>
                <a:ea typeface="Calibri" pitchFamily="34" charset="-122"/>
                <a:cs typeface="Calibri" pitchFamily="34" charset="-120"/>
              </a:rPr>
              <a:t>venturepilot.app  ·  github.com/nessg/venturepilot</a:t>
            </a:r>
            <a:endParaRPr lang="en-US" sz="1300" dirty="0"/>
          </a:p>
        </p:txBody>
      </p:sp>
      <p:sp>
        <p:nvSpPr>
          <p:cNvPr id="10" name="Shape 8"/>
          <p:cNvSpPr/>
          <p:nvPr/>
        </p:nvSpPr>
        <p:spPr>
          <a:xfrm>
            <a:off x="457200" y="4160520"/>
            <a:ext cx="8229600" cy="457200"/>
          </a:xfrm>
          <a:prstGeom prst="rect">
            <a:avLst/>
          </a:prstGeom>
          <a:solidFill>
            <a:srgbClr val="16133A"/>
          </a:solidFill>
          <a:ln w="12700">
            <a:solidFill>
              <a:srgbClr val="7C3AED"/>
            </a:solidFill>
            <a:prstDash val="solid"/>
          </a:ln>
        </p:spPr>
      </p:sp>
      <p:sp>
        <p:nvSpPr>
          <p:cNvPr id="11" name="Text 9"/>
          <p:cNvSpPr/>
          <p:nvPr/>
        </p:nvSpPr>
        <p:spPr>
          <a:xfrm>
            <a:off x="640080" y="4187952"/>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12,400 MAU</a:t>
            </a:r>
            <a:endParaRPr lang="en-US" sz="1100" dirty="0"/>
          </a:p>
        </p:txBody>
      </p:sp>
      <p:sp>
        <p:nvSpPr>
          <p:cNvPr id="12" name="Shape 10"/>
          <p:cNvSpPr/>
          <p:nvPr/>
        </p:nvSpPr>
        <p:spPr>
          <a:xfrm>
            <a:off x="2194560" y="4242816"/>
            <a:ext cx="0" cy="274320"/>
          </a:xfrm>
          <a:prstGeom prst="line">
            <a:avLst/>
          </a:prstGeom>
          <a:noFill/>
          <a:ln w="12700">
            <a:solidFill>
              <a:srgbClr val="334155"/>
            </a:solidFill>
            <a:prstDash val="solid"/>
          </a:ln>
        </p:spPr>
      </p:sp>
      <p:sp>
        <p:nvSpPr>
          <p:cNvPr id="13" name="Text 11"/>
          <p:cNvSpPr/>
          <p:nvPr/>
        </p:nvSpPr>
        <p:spPr>
          <a:xfrm>
            <a:off x="2286000" y="4187952"/>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34% MoM Growth</a:t>
            </a:r>
            <a:endParaRPr lang="en-US" sz="1100" dirty="0"/>
          </a:p>
        </p:txBody>
      </p:sp>
      <p:sp>
        <p:nvSpPr>
          <p:cNvPr id="14" name="Shape 12"/>
          <p:cNvSpPr/>
          <p:nvPr/>
        </p:nvSpPr>
        <p:spPr>
          <a:xfrm>
            <a:off x="3840480" y="4242816"/>
            <a:ext cx="0" cy="274320"/>
          </a:xfrm>
          <a:prstGeom prst="line">
            <a:avLst/>
          </a:prstGeom>
          <a:noFill/>
          <a:ln w="12700">
            <a:solidFill>
              <a:srgbClr val="334155"/>
            </a:solidFill>
            <a:prstDash val="solid"/>
          </a:ln>
        </p:spPr>
      </p:sp>
      <p:sp>
        <p:nvSpPr>
          <p:cNvPr id="15" name="Text 13"/>
          <p:cNvSpPr/>
          <p:nvPr/>
        </p:nvSpPr>
        <p:spPr>
          <a:xfrm>
            <a:off x="3931920" y="4187952"/>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68% 90d Retention</a:t>
            </a:r>
            <a:endParaRPr lang="en-US" sz="1100" dirty="0"/>
          </a:p>
        </p:txBody>
      </p:sp>
      <p:sp>
        <p:nvSpPr>
          <p:cNvPr id="16" name="Shape 14"/>
          <p:cNvSpPr/>
          <p:nvPr/>
        </p:nvSpPr>
        <p:spPr>
          <a:xfrm>
            <a:off x="5486400" y="4242816"/>
            <a:ext cx="0" cy="274320"/>
          </a:xfrm>
          <a:prstGeom prst="line">
            <a:avLst/>
          </a:prstGeom>
          <a:noFill/>
          <a:ln w="12700">
            <a:solidFill>
              <a:srgbClr val="334155"/>
            </a:solidFill>
            <a:prstDash val="solid"/>
          </a:ln>
        </p:spPr>
      </p:sp>
      <p:sp>
        <p:nvSpPr>
          <p:cNvPr id="17" name="Text 15"/>
          <p:cNvSpPr/>
          <p:nvPr/>
        </p:nvSpPr>
        <p:spPr>
          <a:xfrm>
            <a:off x="5577840" y="4187952"/>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$1.5M Raise</a:t>
            </a:r>
            <a:endParaRPr lang="en-US" sz="1100" dirty="0"/>
          </a:p>
        </p:txBody>
      </p:sp>
      <p:sp>
        <p:nvSpPr>
          <p:cNvPr id="18" name="Shape 16"/>
          <p:cNvSpPr/>
          <p:nvPr/>
        </p:nvSpPr>
        <p:spPr>
          <a:xfrm>
            <a:off x="7132320" y="4242816"/>
            <a:ext cx="0" cy="274320"/>
          </a:xfrm>
          <a:prstGeom prst="line">
            <a:avLst/>
          </a:prstGeom>
          <a:noFill/>
          <a:ln w="12700">
            <a:solidFill>
              <a:srgbClr val="334155"/>
            </a:solidFill>
            <a:prstDash val="solid"/>
          </a:ln>
        </p:spPr>
      </p:sp>
      <p:sp>
        <p:nvSpPr>
          <p:cNvPr id="19" name="Text 17"/>
          <p:cNvSpPr/>
          <p:nvPr/>
        </p:nvSpPr>
        <p:spPr>
          <a:xfrm>
            <a:off x="7223760" y="4187952"/>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$8M Cap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VenturePilot – Pitch Deck</dc:title>
  <dc:subject>PptxGenJS Presentation</dc:subject>
  <dc:creator>VenturePilot</dc:creator>
  <cp:lastModifiedBy>VenturePilot</cp:lastModifiedBy>
  <cp:revision>1</cp:revision>
  <dcterms:created xsi:type="dcterms:W3CDTF">2026-03-24T20:42:41Z</dcterms:created>
  <dcterms:modified xsi:type="dcterms:W3CDTF">2026-03-24T20:42:41Z</dcterms:modified>
</cp:coreProperties>
</file>