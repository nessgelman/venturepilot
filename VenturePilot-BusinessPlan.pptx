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156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1E2460">
              <a:alpha val="55000"/>
            </a:srgbClr>
          </a:solidFill>
          <a:ln w="12700">
            <a:solidFill>
              <a:srgbClr val="1B2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926080" cy="2926080"/>
          </a:xfrm>
          <a:prstGeom prst="ellipse">
            <a:avLst/>
          </a:prstGeom>
          <a:solidFill>
            <a:srgbClr val="5B6EF7">
              <a:alpha val="18000"/>
            </a:srgbClr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429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VenturePilot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AI-Powered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metrics to investor-ready documents — in minutes.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1371600" cy="36576"/>
          </a:xfrm>
          <a:prstGeom prst="rect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8587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Kopel &amp; Ness Gelman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9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|  venturepilot.app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5B6EF7">
              <a:alpha val="20000"/>
            </a:srgbClr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OPPORTUNITY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at an inflection point.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transforming every industry. The startup ecosystem is next.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1508760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5720" cy="1508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startup ecosystem generates $300B+ in venture activity annually — yet founders still manage their fundraise in Google Docs, Notion, and Excel spreadsheets."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2606040" cy="1417320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34930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" y="40873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startup time is admin &amp; fundraising prep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73552" y="3401568"/>
            <a:ext cx="2606040" cy="1417320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38144" y="34930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$4B+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38144" y="40873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annually on fragmented founder tools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9904" y="3401568"/>
            <a:ext cx="2606040" cy="1417320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54496" y="34930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 10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54496" y="40873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say investor communication is their #1 pain point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are drowning in operational complexity.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069080" cy="1371600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5720" cy="1371600"/>
          </a:xfrm>
          <a:prstGeom prst="rect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202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8562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Toolstack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2286000"/>
            <a:ext cx="3721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live in 5+ tools. Founders waste 10+ hours/week assembling data that should be automatic.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691640"/>
            <a:ext cx="4069080" cy="1371600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09160" y="1691640"/>
            <a:ext cx="45720" cy="13716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9202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18562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Hell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10328" y="2286000"/>
            <a:ext cx="3721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investor materials requires writing, design, and financial literacy — three skills most founders don't have simultaneously.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310128"/>
            <a:ext cx="4069080" cy="1371600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7200" y="3310128"/>
            <a:ext cx="45720" cy="1371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53872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4747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Blind Spots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8368" y="3904488"/>
            <a:ext cx="3721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investors for your stage and sector is a manual research slog with no structured intelligence layer.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3310128"/>
            <a:ext cx="4069080" cy="1371600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709160" y="3310128"/>
            <a:ext cx="45720" cy="13716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53872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67528" y="34747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910328" y="3904488"/>
            <a:ext cx="3721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unified OS for startup data. Every update means manually re-doing decks, memos, and dashboards.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SOLUTION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intelligence layer for every founder.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931920" cy="3246120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5720" cy="3246120"/>
          </a:xfrm>
          <a:prstGeom prst="rect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105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VenturePilot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AI-powered founder OS that transforms raw startup data into investor-grade materials, benchmarked insights, and strategic intelligence — all in one place.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3291840"/>
            <a:ext cx="164592" cy="164592"/>
          </a:xfrm>
          <a:prstGeom prst="ellipse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32552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once. Output everywhere.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3694176"/>
            <a:ext cx="164592" cy="164592"/>
          </a:xfrm>
          <a:prstGeom prst="ellipse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your pitch deck, business plan, and investor updates automatically.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4096512"/>
            <a:ext cx="164592" cy="164592"/>
          </a:xfrm>
          <a:prstGeom prst="ellipse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40599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LLM — no data leaves your browser.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4498848"/>
            <a:ext cx="164592" cy="164592"/>
          </a:xfrm>
          <a:prstGeom prst="ellipse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4462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vs. comparable startups at your stage.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691640"/>
            <a:ext cx="2103120" cy="987552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1691640"/>
            <a:ext cx="45720" cy="987552"/>
          </a:xfrm>
          <a:prstGeom prst="rect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28032" y="18196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8032" y="21305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LLM answers founder questions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95160" y="1691640"/>
            <a:ext cx="2103120" cy="987552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95160" y="1691640"/>
            <a:ext cx="45720" cy="9875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59752" y="18196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Generator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59752" y="21305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+ business plan auto-generated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807208"/>
            <a:ext cx="2103120" cy="987552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2807208"/>
            <a:ext cx="45720" cy="9875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28032" y="29352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8032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runway &amp; KPIs in one view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95160" y="2807208"/>
            <a:ext cx="2103120" cy="987552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995160" y="2807208"/>
            <a:ext cx="45720" cy="9875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59752" y="29352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CRM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59752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Track, filter &amp; target the right VCs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922776"/>
            <a:ext cx="2103120" cy="987552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3922776"/>
            <a:ext cx="45720" cy="98755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28032" y="4050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43616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5,000+ startups by stage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95160" y="3922776"/>
            <a:ext cx="2103120" cy="987552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995160" y="3922776"/>
            <a:ext cx="45720" cy="9875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59752" y="4050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Updates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59752" y="43616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LP updates in one click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PRODUCT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founder needs. Nothing they don't.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33472" cy="3246120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5720" cy="3246120"/>
          </a:xfrm>
          <a:prstGeom prst="rect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164592" cy="164592"/>
          </a:xfrm>
          <a:prstGeom prst="ellipse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181051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8368" y="2395728"/>
            <a:ext cx="128016" cy="128016"/>
          </a:xfrm>
          <a:prstGeom prst="ellipse">
            <a:avLst/>
          </a:prstGeom>
          <a:solidFill>
            <a:srgbClr val="5B6EF7">
              <a:alpha val="80000"/>
            </a:srgbClr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9536" y="233172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stage, sector, description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980944"/>
            <a:ext cx="128016" cy="128016"/>
          </a:xfrm>
          <a:prstGeom prst="ellipse">
            <a:avLst/>
          </a:prstGeom>
          <a:solidFill>
            <a:srgbClr val="5B6EF7">
              <a:alpha val="80000"/>
            </a:srgbClr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9536" y="2916936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metrics (ARR, burn, runway)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566160"/>
            <a:ext cx="128016" cy="128016"/>
          </a:xfrm>
          <a:prstGeom prst="ellipse">
            <a:avLst/>
          </a:prstGeom>
          <a:solidFill>
            <a:srgbClr val="5B6EF7">
              <a:alpha val="80000"/>
            </a:srgbClr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9536" y="350215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traction details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4151376"/>
            <a:ext cx="128016" cy="128016"/>
          </a:xfrm>
          <a:prstGeom prst="ellipse">
            <a:avLst/>
          </a:prstGeom>
          <a:solidFill>
            <a:srgbClr val="5B6EF7">
              <a:alpha val="80000"/>
            </a:srgbClr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9536" y="408736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analysis (AI reads your code)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3552" y="1691640"/>
            <a:ext cx="2633472" cy="3246120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73552" y="1691640"/>
            <a:ext cx="45720" cy="32461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56432" y="1847088"/>
            <a:ext cx="164592" cy="1645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94176" y="181051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474720" y="2395728"/>
            <a:ext cx="128016" cy="128016"/>
          </a:xfrm>
          <a:prstGeom prst="ellipse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75888" y="233172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LLM (WebLLM / Chrome Gemini Nano)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2980944"/>
            <a:ext cx="128016" cy="128016"/>
          </a:xfrm>
          <a:prstGeom prst="ellipse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75888" y="2916936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 trained on startup playbooks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3566160"/>
            <a:ext cx="128016" cy="128016"/>
          </a:xfrm>
          <a:prstGeom prst="ellipse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75888" y="350215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benchmarking engine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4151376"/>
            <a:ext cx="128016" cy="128016"/>
          </a:xfrm>
          <a:prstGeom prst="ellipse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75888" y="408736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modeling (DCF + multiples)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89904" y="1691640"/>
            <a:ext cx="2633472" cy="3246120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89904" y="1691640"/>
            <a:ext cx="45720" cy="3246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72784" y="184708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10528" y="181051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291072" y="2395728"/>
            <a:ext cx="128016" cy="128016"/>
          </a:xfrm>
          <a:prstGeom prst="ellipse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92240" y="233172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(12-slide VC standard)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91072" y="2980944"/>
            <a:ext cx="128016" cy="128016"/>
          </a:xfrm>
          <a:prstGeom prst="ellipse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92240" y="2916936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business plan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91072" y="3566160"/>
            <a:ext cx="128016" cy="128016"/>
          </a:xfrm>
          <a:prstGeom prst="ellipse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92240" y="350215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update emails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91072" y="4151376"/>
            <a:ext cx="128016" cy="128016"/>
          </a:xfrm>
          <a:prstGeom prst="ellipse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92240" y="408736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target list + scoring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solidFill>
            <a:srgbClr val="0A1020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47457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 ·  GitHub Pages  ·  Zero install  ·  Works in any browser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MARKET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underserved market at the intersection of AI and fintech.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4206240" cy="914400"/>
          </a:xfrm>
          <a:prstGeom prst="rect">
            <a:avLst/>
          </a:prstGeom>
          <a:solidFill>
            <a:srgbClr val="2A3680"/>
          </a:solidFill>
          <a:ln w="12700">
            <a:solidFill>
              <a:srgbClr val="818CF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54864" cy="9144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70078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1579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startup ecosystem tooling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3657600" cy="914400"/>
          </a:xfrm>
          <a:prstGeom prst="rect">
            <a:avLst/>
          </a:prstGeom>
          <a:solidFill>
            <a:srgbClr val="0D4A5A"/>
          </a:solidFill>
          <a:ln w="12700">
            <a:solidFill>
              <a:srgbClr val="22D3E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54864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77063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27340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14400" y="31912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English-speaking seed/pre-seed founders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3730752"/>
            <a:ext cx="3108960" cy="914400"/>
          </a:xfrm>
          <a:prstGeom prst="rect">
            <a:avLst/>
          </a:prstGeom>
          <a:solidFill>
            <a:srgbClr val="0D3D2A"/>
          </a:solidFill>
          <a:ln w="12700">
            <a:solidFill>
              <a:srgbClr val="34D399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3730752"/>
            <a:ext cx="54864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88720" y="38039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74520" y="37673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$800M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88720" y="42245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early-stage B2B SaaS by 2027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1664208"/>
            <a:ext cx="3749040" cy="749808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93792" y="16916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82512" y="1719072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startups founded globally each year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0" y="2523744"/>
            <a:ext cx="3749040" cy="749808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93792" y="2551176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382512" y="257860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seed-stage founders lack dedicated IR support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0" y="3383280"/>
            <a:ext cx="3749040" cy="749808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93792" y="3410712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3–4x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382512" y="3438144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deal cycles with structured prep tools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0" y="4242816"/>
            <a:ext cx="3749040" cy="749808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93792" y="427024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382512" y="4297680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startup tools hit mainstream adoption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COMPETITION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owns the AI-native founder OS.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either too narrow or too manual.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64208"/>
          <a:ext cx="8229600" cy="307238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8C8DB"/>
                          </a:solidFill>
                        </a:rPr>
                        <a:t>Feature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5B6EF7"/>
                          </a:solidFill>
                        </a:rPr>
                        <a:t>VenturePilot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C8DB"/>
                          </a:solidFill>
                        </a:rPr>
                        <a:t>Visible.vc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C8DB"/>
                          </a:solidFill>
                        </a:rPr>
                        <a:t>Notion / Docs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C8DB"/>
                          </a:solidFill>
                        </a:rPr>
                        <a:t>Slidebean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8C8DB"/>
                          </a:solidFill>
                        </a:rPr>
                        <a:t>ChatGPT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8C8DB"/>
                          </a:solidFill>
                        </a:rPr>
                        <a:t>AI Pitch Generation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</a:rPr>
                        <a:t>~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</a:rPr>
                        <a:t>~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8C8DB"/>
                          </a:solidFill>
                        </a:rPr>
                        <a:t>On-Device / Private AI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8C8DB"/>
                          </a:solidFill>
                        </a:rPr>
                        <a:t>Investor CRM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8C8DB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</a:rPr>
                        <a:t>~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8C8DB"/>
                          </a:solidFill>
                        </a:rPr>
                        <a:t>Benchmarking Engine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8C8DB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8C8DB"/>
                          </a:solidFill>
                        </a:rPr>
                        <a:t>Business Plan Gen.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</a:rPr>
                        <a:t>~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8C8DB"/>
                          </a:solidFill>
                        </a:rPr>
                        <a:t>Runway / KPI Dashboard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8C8DB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</a:rPr>
                        <a:t>~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8C8DB"/>
                          </a:solidFill>
                        </a:rPr>
                        <a:t>Unified Founder OS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97A8E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1E2460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464515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VenturePilot is the only tool combining on-device AI, pitch generation, investor intelligence, and real-time benchmarks in a single unified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BUSINESS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to enterprise SaaS.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growth from individual founders → team accounts → portfolio tools for VCs.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33472" cy="3090672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1907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9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505456"/>
            <a:ext cx="2267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 free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2267712" cy="11887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798064"/>
            <a:ext cx="2313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dashboard &amp; metrics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3118104"/>
            <a:ext cx="2313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advisor (50 msgs/mo)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438144"/>
            <a:ext cx="2313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pitch deck export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758184"/>
            <a:ext cx="2313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investor list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10128" y="1600200"/>
            <a:ext cx="2633472" cy="3090672"/>
          </a:xfrm>
          <a:prstGeom prst="rect">
            <a:avLst/>
          </a:prstGeom>
          <a:solidFill>
            <a:srgbClr val="1E2460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10128" y="1600200"/>
            <a:ext cx="2633472" cy="50292"/>
          </a:xfrm>
          <a:prstGeom prst="rect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84448" y="1664208"/>
            <a:ext cx="2084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93008" y="190195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93008" y="221284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493008" y="2688336"/>
            <a:ext cx="2267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founder / month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93008" y="2926080"/>
            <a:ext cx="2267712" cy="11887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93008" y="2962656"/>
            <a:ext cx="2313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AI advisor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93008" y="3282696"/>
            <a:ext cx="2313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document exports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93008" y="3602736"/>
            <a:ext cx="2313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Advanced benchmarking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93008" y="3922776"/>
            <a:ext cx="2313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Investor CRM (unlimited)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93008" y="4242816"/>
            <a:ext cx="2313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Valuation modeling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93008" y="4562856"/>
            <a:ext cx="2313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63056" y="1600200"/>
            <a:ext cx="2633472" cy="3090672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45936" y="171907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45936" y="202996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345936" y="2505456"/>
            <a:ext cx="22677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cohort / month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45936" y="2743200"/>
            <a:ext cx="2267712" cy="11887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45936" y="2798064"/>
            <a:ext cx="2313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Pro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45936" y="3118104"/>
            <a:ext cx="2313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 to 30 portfolio companies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45936" y="3438144"/>
            <a:ext cx="2313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Cohort analytics dashboard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45936" y="3758184"/>
            <a:ext cx="2313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White-label option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45936" y="4078224"/>
            <a:ext cx="2313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access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45936" y="4398264"/>
            <a:ext cx="2313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account manager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4782312"/>
            <a:ext cx="8229600" cy="347472"/>
          </a:xfrm>
          <a:prstGeom prst="rect">
            <a:avLst/>
          </a:prstGeom>
          <a:solidFill>
            <a:srgbClr val="0A1020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4360" y="479145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9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UNIT ECONOMICS (YEAR 2)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971800" y="47914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$840  LTV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389120" y="47914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  CAC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06440" y="47914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24:1  LTV : CAC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23760" y="47914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 Gross Margin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TRACTION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product. Real tech. Zero funding.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5029200" cy="3246120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45720" cy="3246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23113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React + TypeScript web application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2569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8-page founder OS (Dashboard, Strategy, Pitch, Plan, Benchmarks, Investors, Valuation, Investor Updates)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907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On-device AI advisor (WebLLM + Chrome Gemini Nano fallback)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pitch deck and business plan generator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5844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Investor CRM with filtering and tracking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" y="39227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Valuation modeling module (DCF + multiples)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" y="42611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GitHub repo analyzer (reads founder's own codebase)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" y="45994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Dark/light theme, keyboard shortcuts, command palette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87568" y="1664208"/>
            <a:ext cx="1444752" cy="1481328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87568" y="189280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760720" y="2468880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built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0" y="1664208"/>
            <a:ext cx="1444752" cy="1481328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0" y="1892808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88352" y="2468880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GitHub Pages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87568" y="3328416"/>
            <a:ext cx="1444752" cy="1481328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87568" y="3557016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760720" y="413308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funding raised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0" y="3328416"/>
            <a:ext cx="1444752" cy="1481328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0" y="3557016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388352" y="413308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founders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venturepilot.app  ·  github.com/nessgelman/venturepilot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VISION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 OS for the AI era.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knowledge worker gets a Copilot, every founder deserves an AI co-pilot.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761488"/>
            <a:ext cx="8229600" cy="36576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4128" y="2633472"/>
            <a:ext cx="256032" cy="25603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99232"/>
            <a:ext cx="1920240" cy="1938528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999232"/>
            <a:ext cx="45720" cy="19385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30906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OS live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5204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 operational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39502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+ plan generation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437997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CRM active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27248" y="2633472"/>
            <a:ext cx="256032" cy="256032"/>
          </a:xfrm>
          <a:prstGeom prst="ellipse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0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19385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60320" y="2999232"/>
            <a:ext cx="1920240" cy="1938528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0320" y="2999232"/>
            <a:ext cx="45720" cy="1938528"/>
          </a:xfrm>
          <a:prstGeom prst="rect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61488" y="30906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61488" y="35204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integrations (Stripe, QuickBooks)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39502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+ founder network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61488" y="437997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 launch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30368" y="2633472"/>
            <a:ext cx="256032" cy="25603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19385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2999232"/>
            <a:ext cx="1920240" cy="1938528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2999232"/>
            <a:ext cx="45720" cy="19385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64608" y="30906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white-label product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64608" y="35204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for VC portfolio tools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64608" y="39502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markets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64608" y="437997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Institutional-grade benchmarks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33488" y="2633472"/>
            <a:ext cx="256032" cy="25603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66560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24–36 MO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19385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766560" y="2999232"/>
            <a:ext cx="1920240" cy="1938528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766560" y="2999232"/>
            <a:ext cx="45720" cy="19385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67728" y="30906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VenturePilot Network (investor ↔ founder matching)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67728" y="35204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due diligence tools for investors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67728" y="39502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OS for 50,000+ founders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67728" y="437997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target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752825"/>
            <a:ext cx="5486400" cy="5486400"/>
          </a:xfrm>
          <a:prstGeom prst="ellipse">
            <a:avLst/>
          </a:prstGeom>
          <a:solidFill>
            <a:srgbClr val="1E2460">
              <a:alpha val="45000"/>
            </a:srgbClr>
          </a:solidFill>
          <a:ln w="12700">
            <a:solidFill>
              <a:srgbClr val="1E2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A1E50">
              <a:alpha val="60000"/>
            </a:srgbClr>
          </a:solidFill>
          <a:ln w="12700">
            <a:solidFill>
              <a:srgbClr val="1E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50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Let's Talk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raising yet.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212848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we'd love to get in a room with people who've seen this space long enough to know what we're building matters.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2606040" cy="841248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45720" cy="841248"/>
          </a:xfrm>
          <a:prstGeom prst="rect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Kopel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341985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josephkopel@gmail.com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0128" y="3063240"/>
            <a:ext cx="2606040" cy="841248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10128" y="3063240"/>
            <a:ext cx="45720" cy="8412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11296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 Gelman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11296" y="341985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nessgelman@gmail.com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3063240"/>
            <a:ext cx="2606040" cy="841248"/>
          </a:xfrm>
          <a:prstGeom prst="rect">
            <a:avLst/>
          </a:prstGeom>
          <a:solidFill>
            <a:srgbClr val="0F1629"/>
          </a:solidFill>
          <a:ln w="9525">
            <a:solidFill>
              <a:srgbClr val="1E2D4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63056" y="3063240"/>
            <a:ext cx="45720" cy="8412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64224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64224" y="341985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nessgelman.github.io/venturepilot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9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VenturePilot — The AI-Powered Founder 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5B6EF7">
              <a:alpha val="20000"/>
            </a:srgbClr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1068</Words>
  <Application>Microsoft Macintosh PowerPoint</Application>
  <PresentationFormat>On-screen Show (16:9)</PresentationFormat>
  <Paragraphs>238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VenturePilot — Business Plan</dc:title>
  <dc:subject>AI-Powered Founder OS | Pre-Seed Business Plan</dc:subject>
  <dc:creator>Joseph Kopel &amp; Ness Gelman</dc:creator>
  <cp:lastModifiedBy>Ness Uzi Sasson-Gelman</cp:lastModifiedBy>
  <cp:revision>2</cp:revision>
  <dcterms:created xsi:type="dcterms:W3CDTF">2026-04-10T13:01:04Z</dcterms:created>
  <dcterms:modified xsi:type="dcterms:W3CDTF">2026-04-10T15:34:13Z</dcterms:modified>
</cp:coreProperties>
</file>