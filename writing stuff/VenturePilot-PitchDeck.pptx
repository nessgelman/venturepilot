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 ($K)</c:v>
                </c:pt>
              </c:strCache>
            </c:strRef>
          </c:tx>
          <c:spPr>
            <a:solidFill>
              <a:srgbClr val="02C39A"/>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Now</c:v>
                  </c:pt>
                  <c:pt idx="1">
                    <c:v>Q2 '26</c:v>
                  </c:pt>
                  <c:pt idx="2">
                    <c:v>Q3 '26</c:v>
                  </c:pt>
                  <c:pt idx="3">
                    <c:v>Q4 '26</c:v>
                  </c:pt>
                  <c:pt idx="4">
                    <c:v>Q1 '27</c:v>
                  </c:pt>
                  <c:pt idx="5">
                    <c:v>Q2 '27</c:v>
                  </c:pt>
                </c:lvl>
              </c:multiLvlStrCache>
            </c:multiLvlStrRef>
          </c:cat>
          <c:val>
            <c:numRef>
              <c:f>Sheet1!$B$2:$B$7</c:f>
              <c:numCache>
                <c:formatCode>General</c:formatCode>
                <c:ptCount val="6"/>
                <c:pt idx="0">
                  <c:v>60</c:v>
                </c:pt>
                <c:pt idx="1">
                  <c:v>100</c:v>
                </c:pt>
                <c:pt idx="2">
                  <c:v>175</c:v>
                </c:pt>
                <c:pt idx="3">
                  <c:v>300</c:v>
                </c:pt>
                <c:pt idx="4">
                  <c:v>450</c:v>
                </c:pt>
                <c:pt idx="5">
                  <c:v>600</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899C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46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8899C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31A4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OPENING]
Welcome everyone, and thank you for making time today.
My name is Joseph, and joining me is Ness Gelman, founder and product lead of VenturePilot.
We're here today to show you something we believe is overdue — a product that fundamentally changes how founders prepare for fundraising. Not by giving them another dashboard, but by doing the work for them.
In the next 20 minutes, you'll see exactly why we built this, what the market opportunity looks like, and why now is the right time to back us.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PROBLEM]
The average founder spends more than 40 hours preparing for a single fundraise — and that number compounds every time their metrics change, which is constantly.
Here's the real problem: the tools they're using weren't built for this workflow. They're stitching together Notion pages, Google Sheets, and Slides — none of which talk to each other. The moment the deck is finished, the numbers are already stale.
And investor updates? Most founders skip them entirely because writing a compelling update takes two to three hours they don't have. That silence costs relationships.
This isn't a discipline problem. It's a tooling problem. And that's exactly what we built VenturePilot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SOLUTION INTRO]
So what does VenturePilot actually do?
You connect your metrics once — through our onboarding flow, which takes about five minutes — and from that point forward, every document updates automatically.
The pitch deck you're looking at right now? Generated entirely from our own VenturePilot dashboard. The business plan, the investor update, the valuation model — all live. No copy-paste, no version control nightmares, no "which deck did I send?"
What I want to show you next is this working in real time. Let me pull up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LIVE DEMO]
(Open the live app at venturepilot.app — walk through the full flow)
Step 1: Show the sidebar input panel. "You fill in your numbers here — MRR, burn, ARR, growth rate, company narrative. One time."
Step 2: "Watch the Dashboard update in real time. Every metric calculated automatically — runway, burn multiple, Rule of 40, LTV:CAC."
Step 3: "Now I'll click over to the Pitch Deck tab — this entire deck was generated from those numbers. Not designed. Generated."
Step 4: "And one-click investor update — 300 words, tone-tuned, ready to send in 4 seconds."
(Return to slides)
This is the core insight: the document is the product. The data is the engine. Founders stop doing manual work and start spending time on what matters — talking to customers and investors.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VALIDATION]
We built this because we lived it.
We know this problem from the inside — as founders who spent weeks buried in spreadsheets, slide decks, and documents that never quite told the right story. The time it takes to prepare for a raise is not a minor inconvenience. It's a structural distraction from running the business.
So we mapped the problem carefully before building. We identified three ICP segments — pre-seed founders preparing for a first raise, seed-stage teams managing investor relations, and accelerator cohorts heading into demo day. We built a product that solves the problem for all three.
We have not launched publicly and we have not run a beta. This is a deliberate choice. We want the right investors, the right partners, and a real launch — not a quiet release that undersells what we've built. This raise makes that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MARKET]
The market opportunity here is substantial, and it's happening at the right inflection point.
The total addressable market — founder tools and financial planning SaaS globally — is $15 billion and growing. Our serviceable market, early-stage B2B SaaS founders actively raising capital, is $1.5 billion. And our near-term SOM is $75 million: 10,000 founders paying $600 a year.
But the timing matters as much as the size. We're in a moment where AI has moved from novelty to expectation in the founder community. Investors are asking for better-prepared founders. And the volume of early-stage raises is at a multi-year high.
The market is large. The timing is right. And the competition hasn't caught up — which I'll cover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BUSINESS MODEL]
The pricing is straightforward: three tiers from $49 to $199 a month, aimed at solo founders through accelerator cohorts.
Our Growth plan at $99 is the core product — that's where AI generation, business plans, and unlimited investor updates live. That's the tier we expect to see the most uptake on at launch, based on our market research and pricing benchmarks.
The projected unit economics are what make this business structurally interesting. $240 ARPU, 85%+ gross margin, and a 16x LTV:CAC ratio.
These are projections, not actuals — but they are grounded. We modelled them conservatively based on comparable SaaS companies at similar stages, our pricing research, and strong structural stickiness — once a founder's financial history is in the platform, the switching cost is high by design.
Payback period on projected CAC is under three months. This is a high-margin subscription business with strong structural retention. As we scale, these numbers get better — not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COMPETITION]
The positioning map tells the story clearly.
Every existing tool sits in one of two buckets: static document tools like Notion and Google Slides, or generic design platforms like Pitch and Slidebean. None of them are connected to live data, and none of them are built specifically for the fundraising workflow.
Visible.vc comes closest on the investor update side, but it's a metrics dashboard — it doesn't generate documents.
VenturePilot sits in a category of its own: live-connected, founder-specific, full-workflow. That positioning is our moat, and it compounds over time. Every new integration we ship — Stripe, QuickBooks, Salesforce — deepens the data connectivity and makes our document output richer. That flywheel is hard to replicate.
No one has built this end-to-end. That's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GO-TO-MARKET]
Distribution is built into the product by design.
Every deck, update, and plan that leaves VenturePilot carries our brand into the exact rooms where our next customers are. An investor reads a pitch from a founder using VenturePilot — the branding is there. That investor passes it along. A co-founder sees it. The flywheel turns without paid acquisition.
The second channel is cohort partnerships. We're in conversations with accelerators who want to give VenturePilot to their entire cohort as a preparation tool. One partnership deal immediately surfaces the product to 20 to 50 actively raising founders at once — the highest-density distribution channel available to us.
And the third is content authority — we're building out SEO around high-intent founder searches. These compound over time and don't require an outbound sales team.
The North Star: $50K MRR in 12 months. With this raise, we have a clear path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[NESS — FINANCIALS]
Let me walk you through our financial position and the trajectory we're projecting.
We are pre-revenue. That is not a weakness — it is a deliberate choice. We built the product before charging for it. We wanted to know it worked before we asked anyone to pay.
The projections you see are bottom-up, not top-down. We modelled from individual customer acquisition, not market share percentages. Assuming we maintain 8% MoM growth post-launch and bring on a growth hire in Q3, we reach $50K MRR by end of Q1 2027.
Break-even comes at around $18K MRR — we project hitting that in Q4 2026. From there, the growth is self-funded.
Our projected gross margin is 85%+, consistent with software-native SaaS. Net burn is $15K per month pre-launch. The $750K raise gives us 18+ months of runway — more than enough time to launch, prove the channels, and arrive at a Series A ready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TEAM]
Every dollar an investor puts into a company is really a bet on the people building it.
Ness brings the product and domain depth — the architecture, the AI generation layer, the user experience. Ness lived this problem firsthand and spent 18 months designing the solution from the inside out. That domain depth shows in every design decision.
I come from a GTM and investor relations background. My job is to make sure the story lands, the distribution channels activate, and we're in front of the right investors and accelerator partners.
Together, we're a tight, complementary execution team. We built this product together over the past year. We know the market, we know the customers, and we know what it takes to bring this to launch the right way.
The team slide is really the confidence slide. You should feel confident.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 THE ASK / CLOSE]
We're raising $750,000 on a SAFE at a $4 million pre-money valuation.
The capital extends our runway to 18 months and funds three critical hires — two engineers to accelerate the product roadmap and a growth lead to activate the distribution channels we've already mapped.
The milestones this raise unlocks: QuickBooks and Stripe data integrations by Q3, the accelerator partnership program live by Q4, and $50K MRR by Q1 2027. At that point, we're positioned for a Series A with a strong ARR base and proven GTM channels.
We're not asking for a leap of faith. We're asking you to back a team that validated the problem deeply, built the product, and is ready to launch. The problem is real, the product works, and the market is waiting.
We're excited to go deeper on any piece of this — product, financials, market, or terms. What questions do you have?
(Pause. Open the floor. Ness stays ready to re-open the live demo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566160"/>
            <a:ext cx="9144000" cy="1577340"/>
          </a:xfrm>
          <a:prstGeom prst="rect">
            <a:avLst/>
          </a:prstGeom>
          <a:solidFill>
            <a:srgbClr val="0D1440"/>
          </a:solidFill>
          <a:ln w="12700">
            <a:solidFill>
              <a:srgbClr val="0D1440"/>
            </a:solidFill>
            <a:prstDash val="solid"/>
          </a:ln>
        </p:spPr>
      </p:sp>
      <p:sp>
        <p:nvSpPr>
          <p:cNvPr id="3" name="Shape 1"/>
          <p:cNvSpPr/>
          <p:nvPr/>
        </p:nvSpPr>
        <p:spPr>
          <a:xfrm>
            <a:off x="0" y="0"/>
            <a:ext cx="91440" cy="5143500"/>
          </a:xfrm>
          <a:prstGeom prst="rect">
            <a:avLst/>
          </a:prstGeom>
          <a:solidFill>
            <a:srgbClr val="02C39A"/>
          </a:solidFill>
          <a:ln w="12700">
            <a:solidFill>
              <a:srgbClr val="02C39A"/>
            </a:solidFill>
            <a:prstDash val="solid"/>
          </a:ln>
        </p:spPr>
      </p:sp>
      <p:sp>
        <p:nvSpPr>
          <p:cNvPr id="4" name="Text 2"/>
          <p:cNvSpPr/>
          <p:nvPr/>
        </p:nvSpPr>
        <p:spPr>
          <a:xfrm>
            <a:off x="502920" y="960120"/>
            <a:ext cx="8229600" cy="1097280"/>
          </a:xfrm>
          <a:prstGeom prst="rect">
            <a:avLst/>
          </a:prstGeom>
          <a:noFill/>
          <a:ln/>
        </p:spPr>
        <p:txBody>
          <a:bodyPr wrap="square" lIns="0" tIns="0" rIns="0" bIns="0" rtlCol="0" anchor="ctr"/>
          <a:lstStyle/>
          <a:p>
            <a:pPr algn="l" indent="0" marL="0">
              <a:buNone/>
            </a:pPr>
            <a:r>
              <a:rPr lang="en-US" sz="6200" b="1" dirty="0">
                <a:solidFill>
                  <a:srgbClr val="FFFFFF"/>
                </a:solidFill>
                <a:latin typeface="Georgia" pitchFamily="34" charset="0"/>
                <a:ea typeface="Georgia" pitchFamily="34" charset="-122"/>
                <a:cs typeface="Georgia" pitchFamily="34" charset="-120"/>
              </a:rPr>
              <a:t>VenturePilot</a:t>
            </a:r>
            <a:endParaRPr lang="en-US" sz="6200" dirty="0"/>
          </a:p>
        </p:txBody>
      </p:sp>
      <p:sp>
        <p:nvSpPr>
          <p:cNvPr id="5" name="Text 3"/>
          <p:cNvSpPr/>
          <p:nvPr/>
        </p:nvSpPr>
        <p:spPr>
          <a:xfrm>
            <a:off x="502920" y="2103120"/>
            <a:ext cx="7315200" cy="868680"/>
          </a:xfrm>
          <a:prstGeom prst="rect">
            <a:avLst/>
          </a:prstGeom>
          <a:noFill/>
          <a:ln/>
        </p:spPr>
        <p:txBody>
          <a:bodyPr wrap="square" lIns="0" tIns="0" rIns="0" bIns="0" rtlCol="0" anchor="ctr"/>
          <a:lstStyle/>
          <a:p>
            <a:pPr algn="l" indent="0" marL="0">
              <a:buNone/>
            </a:pPr>
            <a:r>
              <a:rPr lang="en-US" sz="1700" dirty="0">
                <a:solidFill>
                  <a:srgbClr val="CADCFC"/>
                </a:solidFill>
                <a:latin typeface="Calibri" pitchFamily="34" charset="0"/>
                <a:ea typeface="Calibri" pitchFamily="34" charset="-122"/>
                <a:cs typeface="Calibri" pitchFamily="34" charset="-120"/>
              </a:rPr>
              <a:t>The AI co-pilot that turns your startup metrics</a:t>
            </a:r>
            <a:endParaRPr lang="en-US" sz="1700" dirty="0"/>
          </a:p>
          <a:p>
            <a:pPr algn="l" indent="0" marL="0">
              <a:buNone/>
            </a:pPr>
            <a:r>
              <a:rPr lang="en-US" sz="1700" dirty="0">
                <a:solidFill>
                  <a:srgbClr val="CADCFC"/>
                </a:solidFill>
                <a:latin typeface="Calibri" pitchFamily="34" charset="0"/>
                <a:ea typeface="Calibri" pitchFamily="34" charset="-122"/>
                <a:cs typeface="Calibri" pitchFamily="34" charset="-120"/>
              </a:rPr>
              <a:t>into investor-ready documents. Instantly.</a:t>
            </a:r>
            <a:endParaRPr lang="en-US" sz="1700" dirty="0"/>
          </a:p>
        </p:txBody>
      </p:sp>
      <p:sp>
        <p:nvSpPr>
          <p:cNvPr id="6" name="Shape 4"/>
          <p:cNvSpPr/>
          <p:nvPr/>
        </p:nvSpPr>
        <p:spPr>
          <a:xfrm>
            <a:off x="502920" y="3127248"/>
            <a:ext cx="1920240" cy="320040"/>
          </a:xfrm>
          <a:prstGeom prst="rect">
            <a:avLst/>
          </a:prstGeom>
          <a:solidFill>
            <a:srgbClr val="3A6EDC">
              <a:alpha val="70000"/>
            </a:srgbClr>
          </a:solidFill>
          <a:ln w="12700">
            <a:solidFill>
              <a:srgbClr val="3A6EDC"/>
            </a:solidFill>
            <a:prstDash val="solid"/>
          </a:ln>
        </p:spPr>
      </p:sp>
      <p:sp>
        <p:nvSpPr>
          <p:cNvPr id="7" name="Text 5"/>
          <p:cNvSpPr/>
          <p:nvPr/>
        </p:nvSpPr>
        <p:spPr>
          <a:xfrm>
            <a:off x="502920" y="3127248"/>
            <a:ext cx="1920240" cy="320040"/>
          </a:xfrm>
          <a:prstGeom prst="rect">
            <a:avLst/>
          </a:prstGeom>
          <a:noFill/>
          <a:ln/>
        </p:spPr>
        <p:txBody>
          <a:bodyPr wrap="square" lIns="0" tIns="0" rIns="0" bIns="0" rtlCol="0" anchor="ctr"/>
          <a:lstStyle/>
          <a:p>
            <a:pPr algn="ctr" indent="0" marL="0">
              <a:buNone/>
            </a:pPr>
            <a:r>
              <a:rPr lang="en-US" sz="900" b="1" spc="100" kern="0" dirty="0">
                <a:solidFill>
                  <a:srgbClr val="CADCFC"/>
                </a:solidFill>
                <a:latin typeface="Calibri" pitchFamily="34" charset="0"/>
                <a:ea typeface="Calibri" pitchFamily="34" charset="-122"/>
                <a:cs typeface="Calibri" pitchFamily="34" charset="-120"/>
              </a:rPr>
              <a:t>SEED ROUND  ·  $750K</a:t>
            </a:r>
            <a:endParaRPr lang="en-US" sz="900" dirty="0"/>
          </a:p>
        </p:txBody>
      </p:sp>
      <p:sp>
        <p:nvSpPr>
          <p:cNvPr id="8" name="Text 6"/>
          <p:cNvSpPr/>
          <p:nvPr/>
        </p:nvSpPr>
        <p:spPr>
          <a:xfrm>
            <a:off x="502920" y="3767328"/>
            <a:ext cx="5486400" cy="274320"/>
          </a:xfrm>
          <a:prstGeom prst="rect">
            <a:avLst/>
          </a:prstGeom>
          <a:noFill/>
          <a:ln/>
        </p:spPr>
        <p:txBody>
          <a:bodyPr wrap="square" lIns="0" tIns="0" rIns="0" bIns="0" rtlCol="0" anchor="ctr"/>
          <a:lstStyle/>
          <a:p>
            <a:pPr algn="l" indent="0" marL="0">
              <a:buNone/>
            </a:pPr>
            <a:r>
              <a:rPr lang="en-US" sz="1000" dirty="0">
                <a:solidFill>
                  <a:srgbClr val="8899CC"/>
                </a:solidFill>
                <a:latin typeface="Calibri" pitchFamily="34" charset="0"/>
                <a:ea typeface="Calibri" pitchFamily="34" charset="-122"/>
                <a:cs typeface="Calibri" pitchFamily="34" charset="-120"/>
              </a:rPr>
              <a:t>Presented by  Joseph  &amp;  Ness Gelman</a:t>
            </a:r>
            <a:endParaRPr lang="en-US" sz="1000" dirty="0"/>
          </a:p>
        </p:txBody>
      </p:sp>
      <p:sp>
        <p:nvSpPr>
          <p:cNvPr id="9" name="Text 7"/>
          <p:cNvSpPr/>
          <p:nvPr/>
        </p:nvSpPr>
        <p:spPr>
          <a:xfrm>
            <a:off x="502920" y="4069080"/>
            <a:ext cx="3657600" cy="228600"/>
          </a:xfrm>
          <a:prstGeom prst="rect">
            <a:avLst/>
          </a:prstGeom>
          <a:noFill/>
          <a:ln/>
        </p:spPr>
        <p:txBody>
          <a:bodyPr wrap="square" lIns="0" tIns="0" rIns="0" bIns="0" rtlCol="0" anchor="ctr"/>
          <a:lstStyle/>
          <a:p>
            <a:pPr algn="l" indent="0" marL="0">
              <a:buNone/>
            </a:pPr>
            <a:r>
              <a:rPr lang="en-US" sz="900" dirty="0">
                <a:solidFill>
                  <a:srgbClr val="8899CC"/>
                </a:solidFill>
                <a:latin typeface="Calibri" pitchFamily="34" charset="0"/>
                <a:ea typeface="Calibri" pitchFamily="34" charset="-122"/>
                <a:cs typeface="Calibri" pitchFamily="34" charset="-120"/>
              </a:rPr>
              <a:t>March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THE PROBLEM</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046720"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Fundraising Prep Is Broken</a:t>
            </a:r>
            <a:endParaRPr lang="en-US" sz="3000" dirty="0"/>
          </a:p>
        </p:txBody>
      </p:sp>
      <p:sp>
        <p:nvSpPr>
          <p:cNvPr id="5" name="Text 3"/>
          <p:cNvSpPr/>
          <p:nvPr/>
        </p:nvSpPr>
        <p:spPr>
          <a:xfrm>
            <a:off x="502920" y="1005840"/>
            <a:ext cx="2743200" cy="1371600"/>
          </a:xfrm>
          <a:prstGeom prst="rect">
            <a:avLst/>
          </a:prstGeom>
          <a:noFill/>
          <a:ln/>
        </p:spPr>
        <p:txBody>
          <a:bodyPr wrap="square" lIns="0" tIns="0" rIns="0" bIns="0" rtlCol="0" anchor="ctr"/>
          <a:lstStyle/>
          <a:p>
            <a:pPr algn="l" indent="0" marL="0">
              <a:buNone/>
            </a:pPr>
            <a:r>
              <a:rPr lang="en-US" sz="10000" b="1" dirty="0">
                <a:solidFill>
                  <a:srgbClr val="02C39A"/>
                </a:solidFill>
                <a:latin typeface="Georgia" pitchFamily="34" charset="0"/>
                <a:ea typeface="Georgia" pitchFamily="34" charset="-122"/>
                <a:cs typeface="Georgia" pitchFamily="34" charset="-120"/>
              </a:rPr>
              <a:t>40+</a:t>
            </a:r>
            <a:endParaRPr lang="en-US" sz="10000" dirty="0"/>
          </a:p>
        </p:txBody>
      </p:sp>
      <p:sp>
        <p:nvSpPr>
          <p:cNvPr id="6" name="Text 4"/>
          <p:cNvSpPr/>
          <p:nvPr/>
        </p:nvSpPr>
        <p:spPr>
          <a:xfrm>
            <a:off x="3154680" y="1170432"/>
            <a:ext cx="2926080" cy="1097280"/>
          </a:xfrm>
          <a:prstGeom prst="rect">
            <a:avLst/>
          </a:prstGeom>
          <a:noFill/>
          <a:ln/>
        </p:spPr>
        <p:txBody>
          <a:bodyPr wrap="square" lIns="0" tIns="0" rIns="0" bIns="0" rtlCol="0" anchor="ctr"/>
          <a:lstStyle/>
          <a:p>
            <a:pPr algn="l" indent="0" marL="0">
              <a:buNone/>
            </a:pPr>
            <a:r>
              <a:rPr lang="en-US" sz="1600" dirty="0">
                <a:solidFill>
                  <a:srgbClr val="CADCFC"/>
                </a:solidFill>
                <a:latin typeface="Calibri" pitchFamily="34" charset="0"/>
                <a:ea typeface="Calibri" pitchFamily="34" charset="-122"/>
                <a:cs typeface="Calibri" pitchFamily="34" charset="-120"/>
              </a:rPr>
              <a:t>hours wasted on</a:t>
            </a:r>
            <a:endParaRPr lang="en-US" sz="1600" dirty="0"/>
          </a:p>
          <a:p>
            <a:pPr algn="l" indent="0" marL="0">
              <a:buNone/>
            </a:pPr>
            <a:r>
              <a:rPr lang="en-US" sz="1600" dirty="0">
                <a:solidFill>
                  <a:srgbClr val="CADCFC"/>
                </a:solidFill>
                <a:latin typeface="Calibri" pitchFamily="34" charset="0"/>
                <a:ea typeface="Calibri" pitchFamily="34" charset="-122"/>
                <a:cs typeface="Calibri" pitchFamily="34" charset="-120"/>
              </a:rPr>
              <a:t>fundraise prep</a:t>
            </a:r>
            <a:endParaRPr lang="en-US" sz="1600" dirty="0"/>
          </a:p>
          <a:p>
            <a:pPr algn="l" indent="0" marL="0">
              <a:buNone/>
            </a:pPr>
            <a:r>
              <a:rPr lang="en-US" sz="1600" dirty="0">
                <a:solidFill>
                  <a:srgbClr val="CADCFC"/>
                </a:solidFill>
                <a:latin typeface="Calibri" pitchFamily="34" charset="0"/>
                <a:ea typeface="Calibri" pitchFamily="34" charset="-122"/>
                <a:cs typeface="Calibri" pitchFamily="34" charset="-120"/>
              </a:rPr>
              <a:t>per raise cycle</a:t>
            </a:r>
            <a:endParaRPr lang="en-US" sz="1600" dirty="0"/>
          </a:p>
        </p:txBody>
      </p:sp>
      <p:sp>
        <p:nvSpPr>
          <p:cNvPr id="7" name="Shape 5"/>
          <p:cNvSpPr/>
          <p:nvPr/>
        </p:nvSpPr>
        <p:spPr>
          <a:xfrm>
            <a:off x="502920" y="2670048"/>
            <a:ext cx="201168" cy="201168"/>
          </a:xfrm>
          <a:prstGeom prst="rect">
            <a:avLst/>
          </a:prstGeom>
          <a:solidFill>
            <a:srgbClr val="F59E0B"/>
          </a:solidFill>
          <a:ln w="12700">
            <a:solidFill>
              <a:srgbClr val="F59E0B"/>
            </a:solidFill>
            <a:prstDash val="solid"/>
          </a:ln>
        </p:spPr>
      </p:sp>
      <p:sp>
        <p:nvSpPr>
          <p:cNvPr id="8" name="Text 6"/>
          <p:cNvSpPr/>
          <p:nvPr/>
        </p:nvSpPr>
        <p:spPr>
          <a:xfrm>
            <a:off x="777240" y="2606040"/>
            <a:ext cx="7955280" cy="50292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Stale by design  —  Pitch decks and business plans are built from last quarter's data — manually copied, never live.</a:t>
            </a:r>
            <a:endParaRPr lang="en-US" sz="1200" dirty="0"/>
          </a:p>
        </p:txBody>
      </p:sp>
      <p:sp>
        <p:nvSpPr>
          <p:cNvPr id="9" name="Text 7"/>
          <p:cNvSpPr/>
          <p:nvPr/>
        </p:nvSpPr>
        <p:spPr>
          <a:xfrm>
            <a:off x="777240" y="2606040"/>
            <a:ext cx="795528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Stale by design</a:t>
            </a:r>
            <a:endParaRPr lang="en-US" sz="1200" dirty="0"/>
          </a:p>
        </p:txBody>
      </p:sp>
      <p:sp>
        <p:nvSpPr>
          <p:cNvPr id="10" name="Shape 8"/>
          <p:cNvSpPr/>
          <p:nvPr/>
        </p:nvSpPr>
        <p:spPr>
          <a:xfrm>
            <a:off x="502920" y="3328416"/>
            <a:ext cx="201168" cy="201168"/>
          </a:xfrm>
          <a:prstGeom prst="rect">
            <a:avLst/>
          </a:prstGeom>
          <a:solidFill>
            <a:srgbClr val="F59E0B"/>
          </a:solidFill>
          <a:ln w="12700">
            <a:solidFill>
              <a:srgbClr val="F59E0B"/>
            </a:solidFill>
            <a:prstDash val="solid"/>
          </a:ln>
        </p:spPr>
      </p:sp>
      <p:sp>
        <p:nvSpPr>
          <p:cNvPr id="11" name="Text 9"/>
          <p:cNvSpPr/>
          <p:nvPr/>
        </p:nvSpPr>
        <p:spPr>
          <a:xfrm>
            <a:off x="777240" y="3264408"/>
            <a:ext cx="7955280" cy="50292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Zero consistency  —  Three separate tools: Notion for narrative, Sheets for numbers, Slides for the deck. Nothing talks to each other.</a:t>
            </a:r>
            <a:endParaRPr lang="en-US" sz="1200" dirty="0"/>
          </a:p>
        </p:txBody>
      </p:sp>
      <p:sp>
        <p:nvSpPr>
          <p:cNvPr id="12" name="Text 10"/>
          <p:cNvSpPr/>
          <p:nvPr/>
        </p:nvSpPr>
        <p:spPr>
          <a:xfrm>
            <a:off x="777240" y="3264408"/>
            <a:ext cx="795528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Zero consistency</a:t>
            </a:r>
            <a:endParaRPr lang="en-US" sz="1200" dirty="0"/>
          </a:p>
        </p:txBody>
      </p:sp>
      <p:sp>
        <p:nvSpPr>
          <p:cNvPr id="13" name="Shape 11"/>
          <p:cNvSpPr/>
          <p:nvPr/>
        </p:nvSpPr>
        <p:spPr>
          <a:xfrm>
            <a:off x="502920" y="3986784"/>
            <a:ext cx="201168" cy="201168"/>
          </a:xfrm>
          <a:prstGeom prst="rect">
            <a:avLst/>
          </a:prstGeom>
          <a:solidFill>
            <a:srgbClr val="F59E0B"/>
          </a:solidFill>
          <a:ln w="12700">
            <a:solidFill>
              <a:srgbClr val="F59E0B"/>
            </a:solidFill>
            <a:prstDash val="solid"/>
          </a:ln>
        </p:spPr>
      </p:sp>
      <p:sp>
        <p:nvSpPr>
          <p:cNvPr id="14" name="Text 12"/>
          <p:cNvSpPr/>
          <p:nvPr/>
        </p:nvSpPr>
        <p:spPr>
          <a:xfrm>
            <a:off x="777240" y="3922776"/>
            <a:ext cx="7955280" cy="502920"/>
          </a:xfrm>
          <a:prstGeom prst="rect">
            <a:avLst/>
          </a:prstGeom>
          <a:noFill/>
          <a:ln/>
        </p:spPr>
        <p:txBody>
          <a:bodyPr wrap="square" lIns="0" tIns="0" rIns="0" bIns="0" rtlCol="0" anchor="ctr"/>
          <a:lstStyle/>
          <a:p>
            <a:pPr algn="l" indent="0" marL="0">
              <a:buNone/>
            </a:pPr>
            <a:r>
              <a:rPr lang="en-US" sz="1200" dirty="0">
                <a:solidFill>
                  <a:srgbClr val="CADCFC"/>
                </a:solidFill>
                <a:latin typeface="Calibri" pitchFamily="34" charset="0"/>
                <a:ea typeface="Calibri" pitchFamily="34" charset="-122"/>
                <a:cs typeface="Calibri" pitchFamily="34" charset="-120"/>
              </a:rPr>
              <a:t>Painful cadence  —  Monthly investor updates get skipped because writing them takes hours. Founders go dark. Trust erodes.</a:t>
            </a:r>
            <a:endParaRPr lang="en-US" sz="1200" dirty="0"/>
          </a:p>
        </p:txBody>
      </p:sp>
      <p:sp>
        <p:nvSpPr>
          <p:cNvPr id="15" name="Text 13"/>
          <p:cNvSpPr/>
          <p:nvPr/>
        </p:nvSpPr>
        <p:spPr>
          <a:xfrm>
            <a:off x="777240" y="3922776"/>
            <a:ext cx="7955280" cy="50292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Painful cadence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THE SOLUTION</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600" b="1" dirty="0">
                <a:solidFill>
                  <a:srgbClr val="1E2761"/>
                </a:solidFill>
                <a:latin typeface="Georgia" pitchFamily="34" charset="0"/>
                <a:ea typeface="Georgia" pitchFamily="34" charset="-122"/>
                <a:cs typeface="Georgia" pitchFamily="34" charset="-120"/>
              </a:rPr>
              <a:t>One Source of Truth. Every Document. Always Live.</a:t>
            </a:r>
            <a:endParaRPr lang="en-US" sz="2600" dirty="0"/>
          </a:p>
        </p:txBody>
      </p:sp>
      <p:sp>
        <p:nvSpPr>
          <p:cNvPr id="5" name="Text 3"/>
          <p:cNvSpPr/>
          <p:nvPr/>
        </p:nvSpPr>
        <p:spPr>
          <a:xfrm>
            <a:off x="502920" y="960120"/>
            <a:ext cx="8229600" cy="411480"/>
          </a:xfrm>
          <a:prstGeom prst="rect">
            <a:avLst/>
          </a:prstGeom>
          <a:noFill/>
          <a:ln/>
        </p:spPr>
        <p:txBody>
          <a:bodyPr wrap="square" lIns="0" tIns="0" rIns="0" bIns="0" rtlCol="0" anchor="ctr"/>
          <a:lstStyle/>
          <a:p>
            <a:pPr algn="l" indent="0" marL="0">
              <a:buNone/>
            </a:pPr>
            <a:r>
              <a:rPr lang="en-US" sz="1300" dirty="0">
                <a:solidFill>
                  <a:srgbClr val="445588"/>
                </a:solidFill>
                <a:latin typeface="Calibri" pitchFamily="34" charset="0"/>
                <a:ea typeface="Calibri" pitchFamily="34" charset="-122"/>
                <a:cs typeface="Calibri" pitchFamily="34" charset="-120"/>
              </a:rPr>
              <a:t>Enter your metrics once. VenturePilot auto-generates every document investors ask for — in real time, as your numbers change.</a:t>
            </a:r>
            <a:endParaRPr lang="en-US" sz="1300" dirty="0"/>
          </a:p>
        </p:txBody>
      </p:sp>
      <p:sp>
        <p:nvSpPr>
          <p:cNvPr id="6" name="Shape 4"/>
          <p:cNvSpPr/>
          <p:nvPr/>
        </p:nvSpPr>
        <p:spPr>
          <a:xfrm>
            <a:off x="502920" y="150876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7" name="Shape 5"/>
          <p:cNvSpPr/>
          <p:nvPr/>
        </p:nvSpPr>
        <p:spPr>
          <a:xfrm>
            <a:off x="502920" y="1508760"/>
            <a:ext cx="50292" cy="1325880"/>
          </a:xfrm>
          <a:prstGeom prst="rect">
            <a:avLst/>
          </a:prstGeom>
          <a:solidFill>
            <a:srgbClr val="3A6EDC"/>
          </a:solidFill>
          <a:ln w="12700">
            <a:solidFill>
              <a:srgbClr val="3A6EDC"/>
            </a:solidFill>
            <a:prstDash val="solid"/>
          </a:ln>
        </p:spPr>
      </p:sp>
      <p:sp>
        <p:nvSpPr>
          <p:cNvPr id="8" name="Text 6"/>
          <p:cNvSpPr/>
          <p:nvPr/>
        </p:nvSpPr>
        <p:spPr>
          <a:xfrm>
            <a:off x="685800" y="165506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Live Pitch Deck</a:t>
            </a:r>
            <a:endParaRPr lang="en-US" sz="1300" dirty="0"/>
          </a:p>
        </p:txBody>
      </p:sp>
      <p:sp>
        <p:nvSpPr>
          <p:cNvPr id="9" name="Text 7"/>
          <p:cNvSpPr/>
          <p:nvPr/>
        </p:nvSpPr>
        <p:spPr>
          <a:xfrm>
            <a:off x="685800" y="196596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Auto-generated from your live metrics. 10 slides, investor-ready, exportable as HTML or PPTX.</a:t>
            </a:r>
            <a:endParaRPr lang="en-US" sz="1050" dirty="0"/>
          </a:p>
        </p:txBody>
      </p:sp>
      <p:sp>
        <p:nvSpPr>
          <p:cNvPr id="10" name="Shape 8"/>
          <p:cNvSpPr/>
          <p:nvPr/>
        </p:nvSpPr>
        <p:spPr>
          <a:xfrm>
            <a:off x="4709160" y="150876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11" name="Shape 9"/>
          <p:cNvSpPr/>
          <p:nvPr/>
        </p:nvSpPr>
        <p:spPr>
          <a:xfrm>
            <a:off x="4709160" y="1508760"/>
            <a:ext cx="50292" cy="1325880"/>
          </a:xfrm>
          <a:prstGeom prst="rect">
            <a:avLst/>
          </a:prstGeom>
          <a:solidFill>
            <a:srgbClr val="3A6EDC"/>
          </a:solidFill>
          <a:ln w="12700">
            <a:solidFill>
              <a:srgbClr val="3A6EDC"/>
            </a:solidFill>
            <a:prstDash val="solid"/>
          </a:ln>
        </p:spPr>
      </p:sp>
      <p:sp>
        <p:nvSpPr>
          <p:cNvPr id="12" name="Text 10"/>
          <p:cNvSpPr/>
          <p:nvPr/>
        </p:nvSpPr>
        <p:spPr>
          <a:xfrm>
            <a:off x="4892040" y="165506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Business Plan</a:t>
            </a:r>
            <a:endParaRPr lang="en-US" sz="1300" dirty="0"/>
          </a:p>
        </p:txBody>
      </p:sp>
      <p:sp>
        <p:nvSpPr>
          <p:cNvPr id="13" name="Text 11"/>
          <p:cNvSpPr/>
          <p:nvPr/>
        </p:nvSpPr>
        <p:spPr>
          <a:xfrm>
            <a:off x="4892040" y="196596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AI-written executive, market, financials, and GTM sections — updated every time numbers change.</a:t>
            </a:r>
            <a:endParaRPr lang="en-US" sz="1050" dirty="0"/>
          </a:p>
        </p:txBody>
      </p:sp>
      <p:sp>
        <p:nvSpPr>
          <p:cNvPr id="14" name="Shape 12"/>
          <p:cNvSpPr/>
          <p:nvPr/>
        </p:nvSpPr>
        <p:spPr>
          <a:xfrm>
            <a:off x="502920" y="301752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15" name="Shape 13"/>
          <p:cNvSpPr/>
          <p:nvPr/>
        </p:nvSpPr>
        <p:spPr>
          <a:xfrm>
            <a:off x="502920" y="3017520"/>
            <a:ext cx="50292" cy="1325880"/>
          </a:xfrm>
          <a:prstGeom prst="rect">
            <a:avLst/>
          </a:prstGeom>
          <a:solidFill>
            <a:srgbClr val="3A6EDC"/>
          </a:solidFill>
          <a:ln w="12700">
            <a:solidFill>
              <a:srgbClr val="3A6EDC"/>
            </a:solidFill>
            <a:prstDash val="solid"/>
          </a:ln>
        </p:spPr>
      </p:sp>
      <p:sp>
        <p:nvSpPr>
          <p:cNvPr id="16" name="Text 14"/>
          <p:cNvSpPr/>
          <p:nvPr/>
        </p:nvSpPr>
        <p:spPr>
          <a:xfrm>
            <a:off x="685800" y="316382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Investor Updates</a:t>
            </a:r>
            <a:endParaRPr lang="en-US" sz="1300" dirty="0"/>
          </a:p>
        </p:txBody>
      </p:sp>
      <p:sp>
        <p:nvSpPr>
          <p:cNvPr id="17" name="Text 15"/>
          <p:cNvSpPr/>
          <p:nvPr/>
        </p:nvSpPr>
        <p:spPr>
          <a:xfrm>
            <a:off x="685800" y="347472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Monthly updates drafted in seconds. Tone-tuned, sent-ready. Founders stay consistent.</a:t>
            </a:r>
            <a:endParaRPr lang="en-US" sz="1050" dirty="0"/>
          </a:p>
        </p:txBody>
      </p:sp>
      <p:sp>
        <p:nvSpPr>
          <p:cNvPr id="18" name="Shape 16"/>
          <p:cNvSpPr/>
          <p:nvPr/>
        </p:nvSpPr>
        <p:spPr>
          <a:xfrm>
            <a:off x="4709160" y="3017520"/>
            <a:ext cx="3931920" cy="1325880"/>
          </a:xfrm>
          <a:prstGeom prst="rect">
            <a:avLst/>
          </a:prstGeom>
          <a:solidFill>
            <a:srgbClr val="FFFFFF"/>
          </a:solidFill>
          <a:ln w="9525">
            <a:solidFill>
              <a:srgbClr val="D0DBFF"/>
            </a:solidFill>
            <a:prstDash val="solid"/>
          </a:ln>
          <a:effectLst>
            <a:outerShdw sx="100000" sy="100000" kx="0" ky="0" algn="bl" rotWithShape="0" blurRad="127000" dist="25400" dir="8100000">
              <a:srgbClr val="0D2060">
                <a:alpha val="8000"/>
              </a:srgbClr>
            </a:outerShdw>
          </a:effectLst>
        </p:spPr>
      </p:sp>
      <p:sp>
        <p:nvSpPr>
          <p:cNvPr id="19" name="Shape 17"/>
          <p:cNvSpPr/>
          <p:nvPr/>
        </p:nvSpPr>
        <p:spPr>
          <a:xfrm>
            <a:off x="4709160" y="3017520"/>
            <a:ext cx="50292" cy="1325880"/>
          </a:xfrm>
          <a:prstGeom prst="rect">
            <a:avLst/>
          </a:prstGeom>
          <a:solidFill>
            <a:srgbClr val="3A6EDC"/>
          </a:solidFill>
          <a:ln w="12700">
            <a:solidFill>
              <a:srgbClr val="3A6EDC"/>
            </a:solidFill>
            <a:prstDash val="solid"/>
          </a:ln>
        </p:spPr>
      </p:sp>
      <p:sp>
        <p:nvSpPr>
          <p:cNvPr id="20" name="Text 18"/>
          <p:cNvSpPr/>
          <p:nvPr/>
        </p:nvSpPr>
        <p:spPr>
          <a:xfrm>
            <a:off x="4892040" y="3163824"/>
            <a:ext cx="3657600" cy="27432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Valuation &amp; Cap Table</a:t>
            </a:r>
            <a:endParaRPr lang="en-US" sz="1300" dirty="0"/>
          </a:p>
        </p:txBody>
      </p:sp>
      <p:sp>
        <p:nvSpPr>
          <p:cNvPr id="21" name="Text 19"/>
          <p:cNvSpPr/>
          <p:nvPr/>
        </p:nvSpPr>
        <p:spPr>
          <a:xfrm>
            <a:off x="4892040" y="3474720"/>
            <a:ext cx="3657600" cy="749808"/>
          </a:xfrm>
          <a:prstGeom prst="rect">
            <a:avLst/>
          </a:prstGeom>
          <a:noFill/>
          <a:ln/>
        </p:spPr>
        <p:txBody>
          <a:bodyPr wrap="square" lIns="0" tIns="0" rIns="0" bIns="0" rtlCol="0" anchor="ctr"/>
          <a:lstStyle/>
          <a:p>
            <a:pPr algn="l" indent="0" marL="0">
              <a:buNone/>
            </a:pPr>
            <a:r>
              <a:rPr lang="en-US" sz="1050" dirty="0">
                <a:solidFill>
                  <a:srgbClr val="556699"/>
                </a:solidFill>
                <a:latin typeface="Calibri" pitchFamily="34" charset="0"/>
                <a:ea typeface="Calibri" pitchFamily="34" charset="-122"/>
                <a:cs typeface="Calibri" pitchFamily="34" charset="-120"/>
              </a:rPr>
              <a:t>ARR multiples, DCF, VC method, SAFE dilution — all calculated live and displayed visually.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PRODUCT DEMO</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046720" cy="502920"/>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See It In Action</a:t>
            </a:r>
            <a:endParaRPr lang="en-US" sz="3000" dirty="0"/>
          </a:p>
        </p:txBody>
      </p:sp>
      <p:sp>
        <p:nvSpPr>
          <p:cNvPr id="5" name="Shape 3"/>
          <p:cNvSpPr/>
          <p:nvPr/>
        </p:nvSpPr>
        <p:spPr>
          <a:xfrm>
            <a:off x="502920" y="1005840"/>
            <a:ext cx="5577840" cy="3520440"/>
          </a:xfrm>
          <a:prstGeom prst="rect">
            <a:avLst/>
          </a:prstGeom>
          <a:solidFill>
            <a:srgbClr val="131A40"/>
          </a:solidFill>
          <a:ln w="19050">
            <a:solidFill>
              <a:srgbClr val="3A6EDC"/>
            </a:solidFill>
            <a:prstDash val="solid"/>
          </a:ln>
          <a:effectLst>
            <a:outerShdw sx="100000" sy="100000" kx="0" ky="0" algn="bl" rotWithShape="0" blurRad="254000" dist="50800" dir="8100000">
              <a:srgbClr val="000022">
                <a:alpha val="40000"/>
              </a:srgbClr>
            </a:outerShdw>
          </a:effectLst>
        </p:spPr>
      </p:sp>
      <p:sp>
        <p:nvSpPr>
          <p:cNvPr id="6" name="Text 4"/>
          <p:cNvSpPr/>
          <p:nvPr/>
        </p:nvSpPr>
        <p:spPr>
          <a:xfrm>
            <a:off x="502920" y="1005840"/>
            <a:ext cx="5577840" cy="3520440"/>
          </a:xfrm>
          <a:prstGeom prst="rect">
            <a:avLst/>
          </a:prstGeom>
          <a:noFill/>
          <a:ln/>
        </p:spPr>
        <p:txBody>
          <a:bodyPr wrap="square" lIns="0" tIns="0" rIns="0" bIns="0" rtlCol="0" anchor="ctr"/>
          <a:lstStyle/>
          <a:p>
            <a:pPr algn="ctr" indent="0" marL="0">
              <a:buNone/>
            </a:pPr>
            <a:r>
              <a:rPr lang="en-US" sz="1800" b="1" dirty="0">
                <a:solidFill>
                  <a:srgbClr val="3A6EDC"/>
                </a:solidFill>
                <a:latin typeface="Georgia" pitchFamily="34" charset="0"/>
                <a:ea typeface="Georgia" pitchFamily="34" charset="-122"/>
                <a:cs typeface="Georgia" pitchFamily="34" charset="-120"/>
              </a:rPr>
              <a:t>[ LIVE DEMO ]</a:t>
            </a:r>
            <a:endParaRPr lang="en-US" sz="1800" dirty="0"/>
          </a:p>
        </p:txBody>
      </p:sp>
      <p:sp>
        <p:nvSpPr>
          <p:cNvPr id="7" name="Text 5"/>
          <p:cNvSpPr/>
          <p:nvPr/>
        </p:nvSpPr>
        <p:spPr>
          <a:xfrm>
            <a:off x="502920" y="4206240"/>
            <a:ext cx="5577840" cy="228600"/>
          </a:xfrm>
          <a:prstGeom prst="rect">
            <a:avLst/>
          </a:prstGeom>
          <a:noFill/>
          <a:ln/>
        </p:spPr>
        <p:txBody>
          <a:bodyPr wrap="square" lIns="0" tIns="0" rIns="0" bIns="0" rtlCol="0" anchor="ctr"/>
          <a:lstStyle/>
          <a:p>
            <a:pPr algn="ctr" indent="0" marL="0">
              <a:buNone/>
            </a:pPr>
            <a:r>
              <a:rPr lang="en-US" sz="900" dirty="0">
                <a:solidFill>
                  <a:srgbClr val="8899CC"/>
                </a:solidFill>
                <a:latin typeface="Calibri" pitchFamily="34" charset="0"/>
                <a:ea typeface="Calibri" pitchFamily="34" charset="-122"/>
                <a:cs typeface="Calibri" pitchFamily="34" charset="-120"/>
              </a:rPr>
              <a:t>venturepilot.app</a:t>
            </a:r>
            <a:endParaRPr lang="en-US" sz="900" dirty="0"/>
          </a:p>
        </p:txBody>
      </p:sp>
      <p:sp>
        <p:nvSpPr>
          <p:cNvPr id="8" name="Shape 6"/>
          <p:cNvSpPr/>
          <p:nvPr/>
        </p:nvSpPr>
        <p:spPr>
          <a:xfrm>
            <a:off x="6492240" y="1234440"/>
            <a:ext cx="347472" cy="347472"/>
          </a:xfrm>
          <a:prstGeom prst="rect">
            <a:avLst/>
          </a:prstGeom>
          <a:solidFill>
            <a:srgbClr val="3A6EDC"/>
          </a:solidFill>
          <a:ln w="12700">
            <a:solidFill>
              <a:srgbClr val="3A6EDC"/>
            </a:solidFill>
            <a:prstDash val="solid"/>
          </a:ln>
        </p:spPr>
      </p:sp>
      <p:sp>
        <p:nvSpPr>
          <p:cNvPr id="9" name="Text 7"/>
          <p:cNvSpPr/>
          <p:nvPr/>
        </p:nvSpPr>
        <p:spPr>
          <a:xfrm>
            <a:off x="6492240" y="1234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01</a:t>
            </a:r>
            <a:endParaRPr lang="en-US" sz="1100" dirty="0"/>
          </a:p>
        </p:txBody>
      </p:sp>
      <p:sp>
        <p:nvSpPr>
          <p:cNvPr id="10" name="Text 8"/>
          <p:cNvSpPr/>
          <p:nvPr/>
        </p:nvSpPr>
        <p:spPr>
          <a:xfrm>
            <a:off x="6903720" y="1252728"/>
            <a:ext cx="2103120" cy="5029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Input your metrics once in the sidebar — financials, narrative, market size.</a:t>
            </a:r>
            <a:endParaRPr lang="en-US" sz="1000" dirty="0"/>
          </a:p>
        </p:txBody>
      </p:sp>
      <p:sp>
        <p:nvSpPr>
          <p:cNvPr id="11" name="Shape 9"/>
          <p:cNvSpPr/>
          <p:nvPr/>
        </p:nvSpPr>
        <p:spPr>
          <a:xfrm>
            <a:off x="6492240" y="2377440"/>
            <a:ext cx="347472" cy="347472"/>
          </a:xfrm>
          <a:prstGeom prst="rect">
            <a:avLst/>
          </a:prstGeom>
          <a:solidFill>
            <a:srgbClr val="3A6EDC"/>
          </a:solidFill>
          <a:ln w="12700">
            <a:solidFill>
              <a:srgbClr val="3A6EDC"/>
            </a:solidFill>
            <a:prstDash val="solid"/>
          </a:ln>
        </p:spPr>
      </p:sp>
      <p:sp>
        <p:nvSpPr>
          <p:cNvPr id="12" name="Text 10"/>
          <p:cNvSpPr/>
          <p:nvPr/>
        </p:nvSpPr>
        <p:spPr>
          <a:xfrm>
            <a:off x="6492240" y="2377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02</a:t>
            </a:r>
            <a:endParaRPr lang="en-US" sz="1100" dirty="0"/>
          </a:p>
        </p:txBody>
      </p:sp>
      <p:sp>
        <p:nvSpPr>
          <p:cNvPr id="13" name="Text 11"/>
          <p:cNvSpPr/>
          <p:nvPr/>
        </p:nvSpPr>
        <p:spPr>
          <a:xfrm>
            <a:off x="6903720" y="2395728"/>
            <a:ext cx="2103120" cy="5029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Watch the Dashboard, Pitch Deck, and Business Plan auto-populate instantly.</a:t>
            </a:r>
            <a:endParaRPr lang="en-US" sz="1000" dirty="0"/>
          </a:p>
        </p:txBody>
      </p:sp>
      <p:sp>
        <p:nvSpPr>
          <p:cNvPr id="14" name="Shape 12"/>
          <p:cNvSpPr/>
          <p:nvPr/>
        </p:nvSpPr>
        <p:spPr>
          <a:xfrm>
            <a:off x="6492240" y="3520440"/>
            <a:ext cx="347472" cy="347472"/>
          </a:xfrm>
          <a:prstGeom prst="rect">
            <a:avLst/>
          </a:prstGeom>
          <a:solidFill>
            <a:srgbClr val="3A6EDC"/>
          </a:solidFill>
          <a:ln w="12700">
            <a:solidFill>
              <a:srgbClr val="3A6EDC"/>
            </a:solidFill>
            <a:prstDash val="solid"/>
          </a:ln>
        </p:spPr>
      </p:sp>
      <p:sp>
        <p:nvSpPr>
          <p:cNvPr id="15" name="Text 13"/>
          <p:cNvSpPr/>
          <p:nvPr/>
        </p:nvSpPr>
        <p:spPr>
          <a:xfrm>
            <a:off x="6492240" y="352044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03</a:t>
            </a:r>
            <a:endParaRPr lang="en-US" sz="1100" dirty="0"/>
          </a:p>
        </p:txBody>
      </p:sp>
      <p:sp>
        <p:nvSpPr>
          <p:cNvPr id="16" name="Text 14"/>
          <p:cNvSpPr/>
          <p:nvPr/>
        </p:nvSpPr>
        <p:spPr>
          <a:xfrm>
            <a:off x="6903720" y="3538728"/>
            <a:ext cx="2103120" cy="50292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Generate an AI-written investor update with one click. Copy. Done.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VALIDATION</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Problem Validated. Product Built. Ready to Launch.</a:t>
            </a:r>
            <a:endParaRPr lang="en-US" sz="2800" dirty="0"/>
          </a:p>
        </p:txBody>
      </p:sp>
      <p:sp>
        <p:nvSpPr>
          <p:cNvPr id="5" name="Text 3"/>
          <p:cNvSpPr/>
          <p:nvPr/>
        </p:nvSpPr>
        <p:spPr>
          <a:xfrm>
            <a:off x="502920" y="960120"/>
            <a:ext cx="8229600" cy="274320"/>
          </a:xfrm>
          <a:prstGeom prst="rect">
            <a:avLst/>
          </a:prstGeom>
          <a:noFill/>
          <a:ln/>
        </p:spPr>
        <p:txBody>
          <a:bodyPr wrap="square" lIns="0" tIns="0" rIns="0" bIns="0" rtlCol="0" anchor="ctr"/>
          <a:lstStyle/>
          <a:p>
            <a:pPr algn="l" indent="0" marL="0">
              <a:buNone/>
            </a:pPr>
            <a:r>
              <a:rPr lang="en-US" sz="1150" b="1" dirty="0">
                <a:solidFill>
                  <a:srgbClr val="3A6EDC"/>
                </a:solidFill>
                <a:latin typeface="Calibri" pitchFamily="34" charset="0"/>
                <a:ea typeface="Calibri" pitchFamily="34" charset="-122"/>
                <a:cs typeface="Calibri" pitchFamily="34" charset="-120"/>
              </a:rPr>
              <a:t>Built by founders who lived this problem — validated by deep market research before writing a line of code</a:t>
            </a:r>
            <a:endParaRPr lang="en-US" sz="1150" dirty="0"/>
          </a:p>
        </p:txBody>
      </p:sp>
      <p:sp>
        <p:nvSpPr>
          <p:cNvPr id="6" name="Shape 4"/>
          <p:cNvSpPr/>
          <p:nvPr/>
        </p:nvSpPr>
        <p:spPr>
          <a:xfrm>
            <a:off x="256032"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7" name="Text 5"/>
          <p:cNvSpPr/>
          <p:nvPr/>
        </p:nvSpPr>
        <p:spPr>
          <a:xfrm>
            <a:off x="393192"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Deep</a:t>
            </a:r>
            <a:endParaRPr lang="en-US" sz="2800" dirty="0"/>
          </a:p>
        </p:txBody>
      </p:sp>
      <p:sp>
        <p:nvSpPr>
          <p:cNvPr id="8" name="Text 6"/>
          <p:cNvSpPr/>
          <p:nvPr/>
        </p:nvSpPr>
        <p:spPr>
          <a:xfrm>
            <a:off x="347472"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Market Research</a:t>
            </a:r>
            <a:endParaRPr lang="en-US" sz="1000" dirty="0"/>
          </a:p>
        </p:txBody>
      </p:sp>
      <p:sp>
        <p:nvSpPr>
          <p:cNvPr id="9" name="Text 7"/>
          <p:cNvSpPr/>
          <p:nvPr/>
        </p:nvSpPr>
        <p:spPr>
          <a:xfrm>
            <a:off x="347472"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Problem fully mapped</a:t>
            </a:r>
            <a:endParaRPr lang="en-US" sz="800" dirty="0"/>
          </a:p>
        </p:txBody>
      </p:sp>
      <p:sp>
        <p:nvSpPr>
          <p:cNvPr id="10" name="Shape 8"/>
          <p:cNvSpPr/>
          <p:nvPr/>
        </p:nvSpPr>
        <p:spPr>
          <a:xfrm>
            <a:off x="1975104"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11" name="Text 9"/>
          <p:cNvSpPr/>
          <p:nvPr/>
        </p:nvSpPr>
        <p:spPr>
          <a:xfrm>
            <a:off x="2112264"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MVP</a:t>
            </a:r>
            <a:endParaRPr lang="en-US" sz="2800" dirty="0"/>
          </a:p>
        </p:txBody>
      </p:sp>
      <p:sp>
        <p:nvSpPr>
          <p:cNvPr id="12" name="Text 10"/>
          <p:cNvSpPr/>
          <p:nvPr/>
        </p:nvSpPr>
        <p:spPr>
          <a:xfrm>
            <a:off x="2066544"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Product Status</a:t>
            </a:r>
            <a:endParaRPr lang="en-US" sz="1000" dirty="0"/>
          </a:p>
        </p:txBody>
      </p:sp>
      <p:sp>
        <p:nvSpPr>
          <p:cNvPr id="13" name="Text 11"/>
          <p:cNvSpPr/>
          <p:nvPr/>
        </p:nvSpPr>
        <p:spPr>
          <a:xfrm>
            <a:off x="2066544"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All 8 modules built</a:t>
            </a:r>
            <a:endParaRPr lang="en-US" sz="800" dirty="0"/>
          </a:p>
        </p:txBody>
      </p:sp>
      <p:sp>
        <p:nvSpPr>
          <p:cNvPr id="14" name="Shape 12"/>
          <p:cNvSpPr/>
          <p:nvPr/>
        </p:nvSpPr>
        <p:spPr>
          <a:xfrm>
            <a:off x="3694176"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15" name="Text 13"/>
          <p:cNvSpPr/>
          <p:nvPr/>
        </p:nvSpPr>
        <p:spPr>
          <a:xfrm>
            <a:off x="3831336"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3</a:t>
            </a:r>
            <a:endParaRPr lang="en-US" sz="2800" dirty="0"/>
          </a:p>
        </p:txBody>
      </p:sp>
      <p:sp>
        <p:nvSpPr>
          <p:cNvPr id="16" name="Text 14"/>
          <p:cNvSpPr/>
          <p:nvPr/>
        </p:nvSpPr>
        <p:spPr>
          <a:xfrm>
            <a:off x="3785616"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ICP Segments</a:t>
            </a:r>
            <a:endParaRPr lang="en-US" sz="1000" dirty="0"/>
          </a:p>
        </p:txBody>
      </p:sp>
      <p:sp>
        <p:nvSpPr>
          <p:cNvPr id="17" name="Text 15"/>
          <p:cNvSpPr/>
          <p:nvPr/>
        </p:nvSpPr>
        <p:spPr>
          <a:xfrm>
            <a:off x="3785616"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Targeted at launch</a:t>
            </a:r>
            <a:endParaRPr lang="en-US" sz="800" dirty="0"/>
          </a:p>
        </p:txBody>
      </p:sp>
      <p:sp>
        <p:nvSpPr>
          <p:cNvPr id="18" name="Shape 16"/>
          <p:cNvSpPr/>
          <p:nvPr/>
        </p:nvSpPr>
        <p:spPr>
          <a:xfrm>
            <a:off x="5413248"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19" name="Text 17"/>
          <p:cNvSpPr/>
          <p:nvPr/>
        </p:nvSpPr>
        <p:spPr>
          <a:xfrm>
            <a:off x="5550408"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0</a:t>
            </a:r>
            <a:endParaRPr lang="en-US" sz="2800" dirty="0"/>
          </a:p>
        </p:txBody>
      </p:sp>
      <p:sp>
        <p:nvSpPr>
          <p:cNvPr id="20" name="Text 18"/>
          <p:cNvSpPr/>
          <p:nvPr/>
        </p:nvSpPr>
        <p:spPr>
          <a:xfrm>
            <a:off x="5504688"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Users</a:t>
            </a:r>
            <a:endParaRPr lang="en-US" sz="1000" dirty="0"/>
          </a:p>
        </p:txBody>
      </p:sp>
      <p:sp>
        <p:nvSpPr>
          <p:cNvPr id="21" name="Text 19"/>
          <p:cNvSpPr/>
          <p:nvPr/>
        </p:nvSpPr>
        <p:spPr>
          <a:xfrm>
            <a:off x="5504688"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Pre-public release</a:t>
            </a:r>
            <a:endParaRPr lang="en-US" sz="800" dirty="0"/>
          </a:p>
        </p:txBody>
      </p:sp>
      <p:sp>
        <p:nvSpPr>
          <p:cNvPr id="22" name="Shape 20"/>
          <p:cNvSpPr/>
          <p:nvPr/>
        </p:nvSpPr>
        <p:spPr>
          <a:xfrm>
            <a:off x="7132320" y="1417320"/>
            <a:ext cx="1591056" cy="1325880"/>
          </a:xfrm>
          <a:prstGeom prst="rect">
            <a:avLst/>
          </a:prstGeom>
          <a:solidFill>
            <a:srgbClr val="FFFFFF"/>
          </a:solidFill>
          <a:ln w="6350">
            <a:solidFill>
              <a:srgbClr val="D8E4FF"/>
            </a:solidFill>
            <a:prstDash val="solid"/>
          </a:ln>
          <a:effectLst>
            <a:outerShdw sx="100000" sy="100000" kx="0" ky="0" algn="bl" rotWithShape="0" blurRad="101600" dist="25400" dir="8100000">
              <a:srgbClr val="00002A">
                <a:alpha val="12000"/>
              </a:srgbClr>
            </a:outerShdw>
          </a:effectLst>
        </p:spPr>
      </p:sp>
      <p:sp>
        <p:nvSpPr>
          <p:cNvPr id="23" name="Text 21"/>
          <p:cNvSpPr/>
          <p:nvPr/>
        </p:nvSpPr>
        <p:spPr>
          <a:xfrm>
            <a:off x="7269480" y="1527048"/>
            <a:ext cx="1316736" cy="640080"/>
          </a:xfrm>
          <a:prstGeom prst="rect">
            <a:avLst/>
          </a:prstGeom>
          <a:noFill/>
          <a:ln/>
        </p:spPr>
        <p:txBody>
          <a:bodyPr wrap="square" lIns="0" tIns="0" rIns="0" bIns="0" rtlCol="0" anchor="ctr"/>
          <a:lstStyle/>
          <a:p>
            <a:pPr algn="ctr" indent="0" marL="0">
              <a:buNone/>
            </a:pPr>
            <a:r>
              <a:rPr lang="en-US" sz="2800" b="1" dirty="0">
                <a:solidFill>
                  <a:srgbClr val="3A6EDC"/>
                </a:solidFill>
                <a:latin typeface="Georgia" pitchFamily="34" charset="0"/>
                <a:ea typeface="Georgia" pitchFamily="34" charset="-122"/>
                <a:cs typeface="Georgia" pitchFamily="34" charset="-120"/>
              </a:rPr>
              <a:t>Q2 26</a:t>
            </a:r>
            <a:endParaRPr lang="en-US" sz="2800" dirty="0"/>
          </a:p>
        </p:txBody>
      </p:sp>
      <p:sp>
        <p:nvSpPr>
          <p:cNvPr id="24" name="Text 22"/>
          <p:cNvSpPr/>
          <p:nvPr/>
        </p:nvSpPr>
        <p:spPr>
          <a:xfrm>
            <a:off x="7223760" y="2167128"/>
            <a:ext cx="1408176" cy="274320"/>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Launch Target</a:t>
            </a:r>
            <a:endParaRPr lang="en-US" sz="1000" dirty="0"/>
          </a:p>
        </p:txBody>
      </p:sp>
      <p:sp>
        <p:nvSpPr>
          <p:cNvPr id="25" name="Text 23"/>
          <p:cNvSpPr/>
          <p:nvPr/>
        </p:nvSpPr>
        <p:spPr>
          <a:xfrm>
            <a:off x="7223760" y="2450592"/>
            <a:ext cx="1408176" cy="228600"/>
          </a:xfrm>
          <a:prstGeom prst="rect">
            <a:avLst/>
          </a:prstGeom>
          <a:noFill/>
          <a:ln/>
        </p:spPr>
        <p:txBody>
          <a:bodyPr wrap="square" lIns="0" tIns="0" rIns="0" bIns="0" rtlCol="0" anchor="ctr"/>
          <a:lstStyle/>
          <a:p>
            <a:pPr algn="ctr" indent="0" marL="0">
              <a:buNone/>
            </a:pPr>
            <a:r>
              <a:rPr lang="en-US" sz="800" dirty="0">
                <a:solidFill>
                  <a:srgbClr val="8888AA"/>
                </a:solidFill>
                <a:latin typeface="Calibri" pitchFamily="34" charset="0"/>
                <a:ea typeface="Calibri" pitchFamily="34" charset="-122"/>
                <a:cs typeface="Calibri" pitchFamily="34" charset="-120"/>
              </a:rPr>
              <a:t>Post-raise</a:t>
            </a:r>
            <a:endParaRPr lang="en-US" sz="800" dirty="0"/>
          </a:p>
        </p:txBody>
      </p:sp>
      <p:sp>
        <p:nvSpPr>
          <p:cNvPr id="26" name="Shape 24"/>
          <p:cNvSpPr/>
          <p:nvPr/>
        </p:nvSpPr>
        <p:spPr>
          <a:xfrm>
            <a:off x="502920" y="2926080"/>
            <a:ext cx="8229600" cy="685800"/>
          </a:xfrm>
          <a:prstGeom prst="rect">
            <a:avLst/>
          </a:prstGeom>
          <a:solidFill>
            <a:srgbClr val="EEF2FF"/>
          </a:solidFill>
          <a:ln w="9525">
            <a:solidFill>
              <a:srgbClr val="C0CCFF"/>
            </a:solidFill>
            <a:prstDash val="solid"/>
          </a:ln>
        </p:spPr>
      </p:sp>
      <p:sp>
        <p:nvSpPr>
          <p:cNvPr id="27" name="Text 25"/>
          <p:cNvSpPr/>
          <p:nvPr/>
        </p:nvSpPr>
        <p:spPr>
          <a:xfrm>
            <a:off x="502920" y="2926080"/>
            <a:ext cx="8229600" cy="685800"/>
          </a:xfrm>
          <a:prstGeom prst="rect">
            <a:avLst/>
          </a:prstGeom>
          <a:noFill/>
          <a:ln/>
        </p:spPr>
        <p:txBody>
          <a:bodyPr wrap="square" lIns="0" tIns="0" rIns="0" bIns="0" rtlCol="0" anchor="ctr"/>
          <a:lstStyle/>
          <a:p>
            <a:pPr algn="ctr" indent="0" marL="0">
              <a:buNone/>
            </a:pPr>
            <a:r>
              <a:rPr lang="en-US" sz="1300" b="1" dirty="0">
                <a:solidFill>
                  <a:srgbClr val="3A6EDC"/>
                </a:solidFill>
                <a:latin typeface="Calibri" pitchFamily="34" charset="0"/>
                <a:ea typeface="Calibri" pitchFamily="34" charset="-122"/>
                <a:cs typeface="Calibri" pitchFamily="34" charset="-120"/>
              </a:rPr>
              <a:t>Pre-Revenue  ·  Pre-Public  ·  MVP Complete  ·  Accelerator conversations active</a:t>
            </a:r>
            <a:endParaRPr lang="en-US" sz="1300" dirty="0"/>
          </a:p>
        </p:txBody>
      </p:sp>
      <p:sp>
        <p:nvSpPr>
          <p:cNvPr id="28" name="Text 26"/>
          <p:cNvSpPr/>
          <p:nvPr/>
        </p:nvSpPr>
        <p:spPr>
          <a:xfrm>
            <a:off x="502920" y="3749040"/>
            <a:ext cx="8229600" cy="502920"/>
          </a:xfrm>
          <a:prstGeom prst="rect">
            <a:avLst/>
          </a:prstGeom>
          <a:noFill/>
          <a:ln/>
        </p:spPr>
        <p:txBody>
          <a:bodyPr wrap="square" lIns="0" tIns="0" rIns="0" bIns="0" rtlCol="0" anchor="ctr"/>
          <a:lstStyle/>
          <a:p>
            <a:pPr algn="ctr" indent="0" marL="0">
              <a:buNone/>
            </a:pPr>
            <a:r>
              <a:rPr lang="en-US" sz="1100" i="1" dirty="0">
                <a:solidFill>
                  <a:srgbClr val="556699"/>
                </a:solidFill>
                <a:latin typeface="Calibri" pitchFamily="34" charset="0"/>
                <a:ea typeface="Calibri" pitchFamily="34" charset="-122"/>
                <a:cs typeface="Calibri" pitchFamily="34" charset="-120"/>
              </a:rPr>
              <a:t>"This is exactly what I wished existed when I was prepping for my first investor meeting. I would have paid for it immediately."</a:t>
            </a:r>
            <a:endParaRPr lang="en-US" sz="1100" dirty="0"/>
          </a:p>
        </p:txBody>
      </p:sp>
      <p:sp>
        <p:nvSpPr>
          <p:cNvPr id="29" name="Text 27"/>
          <p:cNvSpPr/>
          <p:nvPr/>
        </p:nvSpPr>
        <p:spPr>
          <a:xfrm>
            <a:off x="502920" y="4224528"/>
            <a:ext cx="8229600" cy="228600"/>
          </a:xfrm>
          <a:prstGeom prst="rect">
            <a:avLst/>
          </a:prstGeom>
          <a:noFill/>
          <a:ln/>
        </p:spPr>
        <p:txBody>
          <a:bodyPr wrap="square" lIns="0" tIns="0" rIns="0" bIns="0" rtlCol="0" anchor="ctr"/>
          <a:lstStyle/>
          <a:p>
            <a:pPr algn="ctr" indent="0" marL="0">
              <a:buNone/>
            </a:pPr>
            <a:r>
              <a:rPr lang="en-US" sz="950" dirty="0">
                <a:solidFill>
                  <a:srgbClr val="8899BB"/>
                </a:solidFill>
                <a:latin typeface="Calibri" pitchFamily="34" charset="0"/>
                <a:ea typeface="Calibri" pitchFamily="34" charset="-122"/>
                <a:cs typeface="Calibri" pitchFamily="34" charset="-120"/>
              </a:rPr>
              <a:t>— Pre-seed founder, responding to a product demo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MARKET OPPORTUNITY</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04672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A Large, Underserved Market at the Right Moment</a:t>
            </a:r>
            <a:endParaRPr lang="en-US" sz="2600" dirty="0"/>
          </a:p>
        </p:txBody>
      </p:sp>
      <p:sp>
        <p:nvSpPr>
          <p:cNvPr id="5" name="Shape 3"/>
          <p:cNvSpPr/>
          <p:nvPr/>
        </p:nvSpPr>
        <p:spPr>
          <a:xfrm>
            <a:off x="1097280" y="1051560"/>
            <a:ext cx="6949440" cy="713232"/>
          </a:xfrm>
          <a:prstGeom prst="rect">
            <a:avLst/>
          </a:prstGeom>
          <a:solidFill>
            <a:srgbClr val="3A6EDC"/>
          </a:solidFill>
          <a:ln w="12700">
            <a:solidFill>
              <a:srgbClr val="3A6EDC"/>
            </a:solidFill>
            <a:prstDash val="solid"/>
          </a:ln>
        </p:spPr>
      </p:sp>
      <p:sp>
        <p:nvSpPr>
          <p:cNvPr id="6" name="Text 4"/>
          <p:cNvSpPr/>
          <p:nvPr/>
        </p:nvSpPr>
        <p:spPr>
          <a:xfrm>
            <a:off x="1280160" y="1051560"/>
            <a:ext cx="73152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TAM</a:t>
            </a:r>
            <a:endParaRPr lang="en-US" sz="1400" dirty="0"/>
          </a:p>
        </p:txBody>
      </p:sp>
      <p:sp>
        <p:nvSpPr>
          <p:cNvPr id="7" name="Text 5"/>
          <p:cNvSpPr/>
          <p:nvPr/>
        </p:nvSpPr>
        <p:spPr>
          <a:xfrm>
            <a:off x="2011680" y="1051560"/>
            <a:ext cx="1371600"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$15B</a:t>
            </a:r>
            <a:endParaRPr lang="en-US" sz="2200" dirty="0"/>
          </a:p>
        </p:txBody>
      </p:sp>
      <p:sp>
        <p:nvSpPr>
          <p:cNvPr id="8" name="Text 6"/>
          <p:cNvSpPr/>
          <p:nvPr/>
        </p:nvSpPr>
        <p:spPr>
          <a:xfrm>
            <a:off x="3429000" y="1051560"/>
            <a:ext cx="4434840" cy="713232"/>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Global founder tools + financial planning SaaS market</a:t>
            </a:r>
            <a:endParaRPr lang="en-US" sz="1050" dirty="0"/>
          </a:p>
        </p:txBody>
      </p:sp>
      <p:sp>
        <p:nvSpPr>
          <p:cNvPr id="9" name="Shape 7"/>
          <p:cNvSpPr/>
          <p:nvPr/>
        </p:nvSpPr>
        <p:spPr>
          <a:xfrm>
            <a:off x="1737360" y="1856232"/>
            <a:ext cx="5669280" cy="713232"/>
          </a:xfrm>
          <a:prstGeom prst="rect">
            <a:avLst/>
          </a:prstGeom>
          <a:solidFill>
            <a:srgbClr val="5580E8">
              <a:alpha val="80000"/>
            </a:srgbClr>
          </a:solidFill>
          <a:ln w="12700">
            <a:solidFill>
              <a:srgbClr val="5580E8"/>
            </a:solidFill>
            <a:prstDash val="solid"/>
          </a:ln>
        </p:spPr>
      </p:sp>
      <p:sp>
        <p:nvSpPr>
          <p:cNvPr id="10" name="Text 8"/>
          <p:cNvSpPr/>
          <p:nvPr/>
        </p:nvSpPr>
        <p:spPr>
          <a:xfrm>
            <a:off x="1920240" y="1856232"/>
            <a:ext cx="73152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SAM</a:t>
            </a:r>
            <a:endParaRPr lang="en-US" sz="1400" dirty="0"/>
          </a:p>
        </p:txBody>
      </p:sp>
      <p:sp>
        <p:nvSpPr>
          <p:cNvPr id="11" name="Text 9"/>
          <p:cNvSpPr/>
          <p:nvPr/>
        </p:nvSpPr>
        <p:spPr>
          <a:xfrm>
            <a:off x="2651760" y="1856232"/>
            <a:ext cx="1371600"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$1.5B</a:t>
            </a:r>
            <a:endParaRPr lang="en-US" sz="2200" dirty="0"/>
          </a:p>
        </p:txBody>
      </p:sp>
      <p:sp>
        <p:nvSpPr>
          <p:cNvPr id="12" name="Text 10"/>
          <p:cNvSpPr/>
          <p:nvPr/>
        </p:nvSpPr>
        <p:spPr>
          <a:xfrm>
            <a:off x="4069080" y="1856232"/>
            <a:ext cx="3154680" cy="713232"/>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Early-stage SaaS founders raising capital annually</a:t>
            </a:r>
            <a:endParaRPr lang="en-US" sz="1050" dirty="0"/>
          </a:p>
        </p:txBody>
      </p:sp>
      <p:sp>
        <p:nvSpPr>
          <p:cNvPr id="13" name="Shape 11"/>
          <p:cNvSpPr/>
          <p:nvPr/>
        </p:nvSpPr>
        <p:spPr>
          <a:xfrm>
            <a:off x="2377440" y="2660904"/>
            <a:ext cx="4389120" cy="713232"/>
          </a:xfrm>
          <a:prstGeom prst="rect">
            <a:avLst/>
          </a:prstGeom>
          <a:solidFill>
            <a:srgbClr val="02C39A">
              <a:alpha val="60000"/>
            </a:srgbClr>
          </a:solidFill>
          <a:ln w="12700">
            <a:solidFill>
              <a:srgbClr val="02C39A"/>
            </a:solidFill>
            <a:prstDash val="solid"/>
          </a:ln>
        </p:spPr>
      </p:sp>
      <p:sp>
        <p:nvSpPr>
          <p:cNvPr id="14" name="Text 12"/>
          <p:cNvSpPr/>
          <p:nvPr/>
        </p:nvSpPr>
        <p:spPr>
          <a:xfrm>
            <a:off x="2560320" y="2660904"/>
            <a:ext cx="731520" cy="71323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SOM</a:t>
            </a:r>
            <a:endParaRPr lang="en-US" sz="1400" dirty="0"/>
          </a:p>
        </p:txBody>
      </p:sp>
      <p:sp>
        <p:nvSpPr>
          <p:cNvPr id="15" name="Text 13"/>
          <p:cNvSpPr/>
          <p:nvPr/>
        </p:nvSpPr>
        <p:spPr>
          <a:xfrm>
            <a:off x="3291840" y="2660904"/>
            <a:ext cx="1371600" cy="713232"/>
          </a:xfrm>
          <a:prstGeom prst="rect">
            <a:avLst/>
          </a:prstGeom>
          <a:noFill/>
          <a:ln/>
        </p:spPr>
        <p:txBody>
          <a:bodyPr wrap="square" lIns="0" tIns="0" rIns="0" bIns="0" rtlCol="0" anchor="ctr"/>
          <a:lstStyle/>
          <a:p>
            <a:pPr algn="l" indent="0" marL="0">
              <a:buNone/>
            </a:pPr>
            <a:r>
              <a:rPr lang="en-US" sz="2200" b="1" dirty="0">
                <a:solidFill>
                  <a:srgbClr val="FFFFFF"/>
                </a:solidFill>
                <a:latin typeface="Georgia" pitchFamily="34" charset="0"/>
                <a:ea typeface="Georgia" pitchFamily="34" charset="-122"/>
                <a:cs typeface="Georgia" pitchFamily="34" charset="-120"/>
              </a:rPr>
              <a:t>$75M</a:t>
            </a:r>
            <a:endParaRPr lang="en-US" sz="2200" dirty="0"/>
          </a:p>
        </p:txBody>
      </p:sp>
      <p:sp>
        <p:nvSpPr>
          <p:cNvPr id="16" name="Text 14"/>
          <p:cNvSpPr/>
          <p:nvPr/>
        </p:nvSpPr>
        <p:spPr>
          <a:xfrm>
            <a:off x="4709160" y="2660904"/>
            <a:ext cx="1874520" cy="713232"/>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Near-term capture: 10K founders × $600 ACV</a:t>
            </a:r>
            <a:endParaRPr lang="en-US" sz="1050" dirty="0"/>
          </a:p>
        </p:txBody>
      </p:sp>
      <p:sp>
        <p:nvSpPr>
          <p:cNvPr id="17" name="Text 15"/>
          <p:cNvSpPr/>
          <p:nvPr/>
        </p:nvSpPr>
        <p:spPr>
          <a:xfrm>
            <a:off x="502920" y="3822192"/>
            <a:ext cx="8229600" cy="274320"/>
          </a:xfrm>
          <a:prstGeom prst="rect">
            <a:avLst/>
          </a:prstGeom>
          <a:noFill/>
          <a:ln/>
        </p:spPr>
        <p:txBody>
          <a:bodyPr wrap="square" lIns="0" tIns="0" rIns="0" bIns="0" rtlCol="0" anchor="ctr"/>
          <a:lstStyle/>
          <a:p>
            <a:pPr algn="l" indent="0" marL="0">
              <a:buNone/>
            </a:pPr>
            <a:r>
              <a:rPr lang="en-US" sz="1100" b="1" spc="100" kern="0" dirty="0">
                <a:solidFill>
                  <a:srgbClr val="02C39A"/>
                </a:solidFill>
                <a:latin typeface="Calibri" pitchFamily="34" charset="0"/>
                <a:ea typeface="Calibri" pitchFamily="34" charset="-122"/>
                <a:cs typeface="Calibri" pitchFamily="34" charset="-120"/>
              </a:rPr>
              <a:t>Why Now</a:t>
            </a:r>
            <a:endParaRPr lang="en-US" sz="1100" dirty="0"/>
          </a:p>
        </p:txBody>
      </p:sp>
      <p:sp>
        <p:nvSpPr>
          <p:cNvPr id="18" name="Text 16"/>
          <p:cNvSpPr/>
          <p:nvPr/>
        </p:nvSpPr>
        <p:spPr>
          <a:xfrm>
            <a:off x="502920" y="4133088"/>
            <a:ext cx="8229600" cy="502920"/>
          </a:xfrm>
          <a:prstGeom prst="rect">
            <a:avLst/>
          </a:prstGeom>
          <a:noFill/>
          <a:ln/>
        </p:spPr>
        <p:txBody>
          <a:bodyPr wrap="square" lIns="0" tIns="0" rIns="0" bIns="0" rtlCol="0" anchor="ctr"/>
          <a:lstStyle/>
          <a:p>
            <a:pPr algn="l" indent="0" marL="0">
              <a:buNone/>
            </a:pPr>
            <a:r>
              <a:rPr lang="en-US" sz="1050" dirty="0">
                <a:solidFill>
                  <a:srgbClr val="CADCFC"/>
                </a:solidFill>
                <a:latin typeface="Calibri" pitchFamily="34" charset="0"/>
                <a:ea typeface="Calibri" pitchFamily="34" charset="-122"/>
                <a:cs typeface="Calibri" pitchFamily="34" charset="-120"/>
              </a:rPr>
              <a:t>2026 sees the highest volume of early-stage raises in three years  ·  </a:t>
            </a:r>
            <a:pPr algn="l" indent="0" marL="0">
              <a:buNone/>
            </a:pPr>
            <a:r>
              <a:rPr lang="en-US" sz="1050" dirty="0">
                <a:solidFill>
                  <a:srgbClr val="CADCFC"/>
                </a:solidFill>
                <a:latin typeface="Calibri" pitchFamily="34" charset="0"/>
                <a:ea typeface="Calibri" pitchFamily="34" charset="-122"/>
                <a:cs typeface="Calibri" pitchFamily="34" charset="-120"/>
              </a:rPr>
              <a:t>AI acceptance at an all-time high in the founder ecosystem  ·  </a:t>
            </a:r>
            <a:pPr algn="l" indent="0" marL="0">
              <a:buNone/>
            </a:pPr>
            <a:r>
              <a:rPr lang="en-US" sz="1050" dirty="0">
                <a:solidFill>
                  <a:srgbClr val="CADCFC"/>
                </a:solidFill>
                <a:latin typeface="Calibri" pitchFamily="34" charset="0"/>
                <a:ea typeface="Calibri" pitchFamily="34" charset="-122"/>
                <a:cs typeface="Calibri" pitchFamily="34" charset="-120"/>
              </a:rPr>
              <a:t>Investors demanding better data presentation from day one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BUSINESS MODEL</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Simple Pricing. Exceptional Unit Economics.</a:t>
            </a:r>
            <a:endParaRPr lang="en-US" sz="2800" dirty="0"/>
          </a:p>
        </p:txBody>
      </p:sp>
      <p:sp>
        <p:nvSpPr>
          <p:cNvPr id="5" name="Shape 3"/>
          <p:cNvSpPr/>
          <p:nvPr/>
        </p:nvSpPr>
        <p:spPr>
          <a:xfrm>
            <a:off x="365760" y="1024128"/>
            <a:ext cx="2514600" cy="2148840"/>
          </a:xfrm>
          <a:prstGeom prst="rect">
            <a:avLst/>
          </a:prstGeom>
          <a:solidFill>
            <a:srgbClr val="FFFFFF"/>
          </a:solidFill>
          <a:ln w="9525">
            <a:solidFill>
              <a:srgbClr val="D0DBFF"/>
            </a:solidFill>
            <a:prstDash val="solid"/>
          </a:ln>
          <a:effectLst>
            <a:outerShdw sx="100000" sy="100000" kx="0" ky="0" algn="bl" rotWithShape="0" blurRad="152400" dist="38100" dir="8100000">
              <a:srgbClr val="001040">
                <a:alpha val="8000"/>
              </a:srgbClr>
            </a:outerShdw>
          </a:effectLst>
        </p:spPr>
      </p:sp>
      <p:sp>
        <p:nvSpPr>
          <p:cNvPr id="6" name="Text 4"/>
          <p:cNvSpPr/>
          <p:nvPr/>
        </p:nvSpPr>
        <p:spPr>
          <a:xfrm>
            <a:off x="548640" y="1344168"/>
            <a:ext cx="2148840" cy="320040"/>
          </a:xfrm>
          <a:prstGeom prst="rect">
            <a:avLst/>
          </a:prstGeom>
          <a:noFill/>
          <a:ln/>
        </p:spPr>
        <p:txBody>
          <a:bodyPr wrap="square" lIns="0" tIns="0" rIns="0" bIns="0" rtlCol="0" anchor="ctr"/>
          <a:lstStyle/>
          <a:p>
            <a:pPr algn="l" indent="0" marL="0">
              <a:buNone/>
            </a:pPr>
            <a:r>
              <a:rPr lang="en-US" sz="1500" b="1" dirty="0">
                <a:solidFill>
                  <a:srgbClr val="1E2761"/>
                </a:solidFill>
                <a:latin typeface="Georgia" pitchFamily="34" charset="0"/>
                <a:ea typeface="Georgia" pitchFamily="34" charset="-122"/>
                <a:cs typeface="Georgia" pitchFamily="34" charset="-120"/>
              </a:rPr>
              <a:t>Pilot</a:t>
            </a:r>
            <a:endParaRPr lang="en-US" sz="1500" dirty="0"/>
          </a:p>
        </p:txBody>
      </p:sp>
      <p:sp>
        <p:nvSpPr>
          <p:cNvPr id="7" name="Text 5"/>
          <p:cNvSpPr/>
          <p:nvPr/>
        </p:nvSpPr>
        <p:spPr>
          <a:xfrm>
            <a:off x="548640" y="1682496"/>
            <a:ext cx="2148840" cy="548640"/>
          </a:xfrm>
          <a:prstGeom prst="rect">
            <a:avLst/>
          </a:prstGeom>
          <a:noFill/>
          <a:ln/>
        </p:spPr>
        <p:txBody>
          <a:bodyPr wrap="square" lIns="0" tIns="0" rIns="0" bIns="0" rtlCol="0" anchor="ctr"/>
          <a:lstStyle/>
          <a:p>
            <a:pPr algn="l" indent="0" marL="0">
              <a:buNone/>
            </a:pPr>
            <a:r>
              <a:rPr lang="en-US" sz="3000" b="1" dirty="0">
                <a:solidFill>
                  <a:srgbClr val="3A6EDC"/>
                </a:solidFill>
                <a:latin typeface="Georgia" pitchFamily="34" charset="0"/>
                <a:ea typeface="Georgia" pitchFamily="34" charset="-122"/>
                <a:cs typeface="Georgia" pitchFamily="34" charset="-120"/>
              </a:rPr>
              <a:t>$49/mo</a:t>
            </a:r>
            <a:endParaRPr lang="en-US" sz="3000" dirty="0"/>
          </a:p>
        </p:txBody>
      </p:sp>
      <p:sp>
        <p:nvSpPr>
          <p:cNvPr id="8" name="Text 6"/>
          <p:cNvSpPr/>
          <p:nvPr/>
        </p:nvSpPr>
        <p:spPr>
          <a:xfrm>
            <a:off x="548640" y="2304288"/>
            <a:ext cx="2148840" cy="777240"/>
          </a:xfrm>
          <a:prstGeom prst="rect">
            <a:avLst/>
          </a:prstGeom>
          <a:noFill/>
          <a:ln/>
        </p:spPr>
        <p:txBody>
          <a:bodyPr wrap="square" lIns="0" tIns="0" rIns="0" bIns="0" rtlCol="0" anchor="ctr"/>
          <a:lstStyle/>
          <a:p>
            <a:pPr algn="l" indent="0" marL="0">
              <a:buNone/>
            </a:pPr>
            <a:r>
              <a:rPr lang="en-US" sz="1000" dirty="0">
                <a:solidFill>
                  <a:srgbClr val="556699"/>
                </a:solidFill>
                <a:latin typeface="Calibri" pitchFamily="34" charset="0"/>
                <a:ea typeface="Calibri" pitchFamily="34" charset="-122"/>
                <a:cs typeface="Calibri" pitchFamily="34" charset="-120"/>
              </a:rPr>
              <a:t>Solo founders. Core metrics, pitch deck, investor tracker.</a:t>
            </a:r>
            <a:endParaRPr lang="en-US" sz="1000" dirty="0"/>
          </a:p>
        </p:txBody>
      </p:sp>
      <p:sp>
        <p:nvSpPr>
          <p:cNvPr id="9" name="Shape 7"/>
          <p:cNvSpPr/>
          <p:nvPr/>
        </p:nvSpPr>
        <p:spPr>
          <a:xfrm>
            <a:off x="3108960" y="914400"/>
            <a:ext cx="2514600" cy="2377440"/>
          </a:xfrm>
          <a:prstGeom prst="rect">
            <a:avLst/>
          </a:prstGeom>
          <a:solidFill>
            <a:srgbClr val="1E2761"/>
          </a:solidFill>
          <a:ln w="12700">
            <a:solidFill>
              <a:srgbClr val="3A6EDC"/>
            </a:solidFill>
            <a:prstDash val="solid"/>
          </a:ln>
          <a:effectLst>
            <a:outerShdw sx="100000" sy="100000" kx="0" ky="0" algn="bl" rotWithShape="0" blurRad="152400" dist="38100" dir="8100000">
              <a:srgbClr val="001040">
                <a:alpha val="20000"/>
              </a:srgbClr>
            </a:outerShdw>
          </a:effectLst>
        </p:spPr>
      </p:sp>
      <p:sp>
        <p:nvSpPr>
          <p:cNvPr id="10" name="Text 8"/>
          <p:cNvSpPr/>
          <p:nvPr/>
        </p:nvSpPr>
        <p:spPr>
          <a:xfrm>
            <a:off x="3108960" y="987552"/>
            <a:ext cx="2514600" cy="228600"/>
          </a:xfrm>
          <a:prstGeom prst="rect">
            <a:avLst/>
          </a:prstGeom>
          <a:noFill/>
          <a:ln/>
        </p:spPr>
        <p:txBody>
          <a:bodyPr wrap="square" lIns="0" tIns="0" rIns="0" bIns="0" rtlCol="0" anchor="ctr"/>
          <a:lstStyle/>
          <a:p>
            <a:pPr algn="ctr" indent="0" marL="0">
              <a:buNone/>
            </a:pPr>
            <a:r>
              <a:rPr lang="en-US" sz="750" b="1" spc="200" kern="0" dirty="0">
                <a:solidFill>
                  <a:srgbClr val="02C39A"/>
                </a:solidFill>
                <a:latin typeface="Calibri" pitchFamily="34" charset="0"/>
                <a:ea typeface="Calibri" pitchFamily="34" charset="-122"/>
                <a:cs typeface="Calibri" pitchFamily="34" charset="-120"/>
              </a:rPr>
              <a:t>MOST POPULAR</a:t>
            </a:r>
            <a:endParaRPr lang="en-US" sz="750" dirty="0"/>
          </a:p>
        </p:txBody>
      </p:sp>
      <p:sp>
        <p:nvSpPr>
          <p:cNvPr id="11" name="Text 9"/>
          <p:cNvSpPr/>
          <p:nvPr/>
        </p:nvSpPr>
        <p:spPr>
          <a:xfrm>
            <a:off x="3291840" y="1234440"/>
            <a:ext cx="2148840" cy="320040"/>
          </a:xfrm>
          <a:prstGeom prst="rect">
            <a:avLst/>
          </a:prstGeom>
          <a:noFill/>
          <a:ln/>
        </p:spPr>
        <p:txBody>
          <a:bodyPr wrap="square" lIns="0" tIns="0" rIns="0" bIns="0" rtlCol="0" anchor="ctr"/>
          <a:lstStyle/>
          <a:p>
            <a:pPr algn="l" indent="0" marL="0">
              <a:buNone/>
            </a:pPr>
            <a:r>
              <a:rPr lang="en-US" sz="1500" b="1" dirty="0">
                <a:solidFill>
                  <a:srgbClr val="FFFFFF"/>
                </a:solidFill>
                <a:latin typeface="Georgia" pitchFamily="34" charset="0"/>
                <a:ea typeface="Georgia" pitchFamily="34" charset="-122"/>
                <a:cs typeface="Georgia" pitchFamily="34" charset="-120"/>
              </a:rPr>
              <a:t>Growth</a:t>
            </a:r>
            <a:endParaRPr lang="en-US" sz="1500" dirty="0"/>
          </a:p>
        </p:txBody>
      </p:sp>
      <p:sp>
        <p:nvSpPr>
          <p:cNvPr id="12" name="Text 10"/>
          <p:cNvSpPr/>
          <p:nvPr/>
        </p:nvSpPr>
        <p:spPr>
          <a:xfrm>
            <a:off x="3291840" y="1572768"/>
            <a:ext cx="2148840" cy="548640"/>
          </a:xfrm>
          <a:prstGeom prst="rect">
            <a:avLst/>
          </a:prstGeom>
          <a:noFill/>
          <a:ln/>
        </p:spPr>
        <p:txBody>
          <a:bodyPr wrap="square" lIns="0" tIns="0" rIns="0" bIns="0" rtlCol="0" anchor="ctr"/>
          <a:lstStyle/>
          <a:p>
            <a:pPr algn="l" indent="0" marL="0">
              <a:buNone/>
            </a:pPr>
            <a:r>
              <a:rPr lang="en-US" sz="3000" b="1" dirty="0">
                <a:solidFill>
                  <a:srgbClr val="02C39A"/>
                </a:solidFill>
                <a:latin typeface="Georgia" pitchFamily="34" charset="0"/>
                <a:ea typeface="Georgia" pitchFamily="34" charset="-122"/>
                <a:cs typeface="Georgia" pitchFamily="34" charset="-120"/>
              </a:rPr>
              <a:t>$99/mo</a:t>
            </a:r>
            <a:endParaRPr lang="en-US" sz="3000" dirty="0"/>
          </a:p>
        </p:txBody>
      </p:sp>
      <p:sp>
        <p:nvSpPr>
          <p:cNvPr id="13" name="Text 11"/>
          <p:cNvSpPr/>
          <p:nvPr/>
        </p:nvSpPr>
        <p:spPr>
          <a:xfrm>
            <a:off x="3291840" y="2194560"/>
            <a:ext cx="2148840" cy="7772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Full AI generation, business plan, unlimited updates.</a:t>
            </a:r>
            <a:endParaRPr lang="en-US" sz="1000" dirty="0"/>
          </a:p>
        </p:txBody>
      </p:sp>
      <p:sp>
        <p:nvSpPr>
          <p:cNvPr id="14" name="Shape 12"/>
          <p:cNvSpPr/>
          <p:nvPr/>
        </p:nvSpPr>
        <p:spPr>
          <a:xfrm>
            <a:off x="5852160" y="1024128"/>
            <a:ext cx="2514600" cy="2148840"/>
          </a:xfrm>
          <a:prstGeom prst="rect">
            <a:avLst/>
          </a:prstGeom>
          <a:solidFill>
            <a:srgbClr val="FFFFFF"/>
          </a:solidFill>
          <a:ln w="9525">
            <a:solidFill>
              <a:srgbClr val="D0DBFF"/>
            </a:solidFill>
            <a:prstDash val="solid"/>
          </a:ln>
          <a:effectLst>
            <a:outerShdw sx="100000" sy="100000" kx="0" ky="0" algn="bl" rotWithShape="0" blurRad="152400" dist="38100" dir="8100000">
              <a:srgbClr val="001040">
                <a:alpha val="8000"/>
              </a:srgbClr>
            </a:outerShdw>
          </a:effectLst>
        </p:spPr>
      </p:sp>
      <p:sp>
        <p:nvSpPr>
          <p:cNvPr id="15" name="Text 13"/>
          <p:cNvSpPr/>
          <p:nvPr/>
        </p:nvSpPr>
        <p:spPr>
          <a:xfrm>
            <a:off x="6035040" y="1344168"/>
            <a:ext cx="2148840" cy="320040"/>
          </a:xfrm>
          <a:prstGeom prst="rect">
            <a:avLst/>
          </a:prstGeom>
          <a:noFill/>
          <a:ln/>
        </p:spPr>
        <p:txBody>
          <a:bodyPr wrap="square" lIns="0" tIns="0" rIns="0" bIns="0" rtlCol="0" anchor="ctr"/>
          <a:lstStyle/>
          <a:p>
            <a:pPr algn="l" indent="0" marL="0">
              <a:buNone/>
            </a:pPr>
            <a:r>
              <a:rPr lang="en-US" sz="1500" b="1" dirty="0">
                <a:solidFill>
                  <a:srgbClr val="1E2761"/>
                </a:solidFill>
                <a:latin typeface="Georgia" pitchFamily="34" charset="0"/>
                <a:ea typeface="Georgia" pitchFamily="34" charset="-122"/>
                <a:cs typeface="Georgia" pitchFamily="34" charset="-120"/>
              </a:rPr>
              <a:t>Studio</a:t>
            </a:r>
            <a:endParaRPr lang="en-US" sz="1500" dirty="0"/>
          </a:p>
        </p:txBody>
      </p:sp>
      <p:sp>
        <p:nvSpPr>
          <p:cNvPr id="16" name="Text 14"/>
          <p:cNvSpPr/>
          <p:nvPr/>
        </p:nvSpPr>
        <p:spPr>
          <a:xfrm>
            <a:off x="6035040" y="1682496"/>
            <a:ext cx="2148840" cy="548640"/>
          </a:xfrm>
          <a:prstGeom prst="rect">
            <a:avLst/>
          </a:prstGeom>
          <a:noFill/>
          <a:ln/>
        </p:spPr>
        <p:txBody>
          <a:bodyPr wrap="square" lIns="0" tIns="0" rIns="0" bIns="0" rtlCol="0" anchor="ctr"/>
          <a:lstStyle/>
          <a:p>
            <a:pPr algn="l" indent="0" marL="0">
              <a:buNone/>
            </a:pPr>
            <a:r>
              <a:rPr lang="en-US" sz="3000" b="1" dirty="0">
                <a:solidFill>
                  <a:srgbClr val="3A6EDC"/>
                </a:solidFill>
                <a:latin typeface="Georgia" pitchFamily="34" charset="0"/>
                <a:ea typeface="Georgia" pitchFamily="34" charset="-122"/>
                <a:cs typeface="Georgia" pitchFamily="34" charset="-120"/>
              </a:rPr>
              <a:t>$199/mo</a:t>
            </a:r>
            <a:endParaRPr lang="en-US" sz="3000" dirty="0"/>
          </a:p>
        </p:txBody>
      </p:sp>
      <p:sp>
        <p:nvSpPr>
          <p:cNvPr id="17" name="Text 15"/>
          <p:cNvSpPr/>
          <p:nvPr/>
        </p:nvSpPr>
        <p:spPr>
          <a:xfrm>
            <a:off x="6035040" y="2304288"/>
            <a:ext cx="2148840" cy="777240"/>
          </a:xfrm>
          <a:prstGeom prst="rect">
            <a:avLst/>
          </a:prstGeom>
          <a:noFill/>
          <a:ln/>
        </p:spPr>
        <p:txBody>
          <a:bodyPr wrap="square" lIns="0" tIns="0" rIns="0" bIns="0" rtlCol="0" anchor="ctr"/>
          <a:lstStyle/>
          <a:p>
            <a:pPr algn="l" indent="0" marL="0">
              <a:buNone/>
            </a:pPr>
            <a:r>
              <a:rPr lang="en-US" sz="1000" dirty="0">
                <a:solidFill>
                  <a:srgbClr val="556699"/>
                </a:solidFill>
                <a:latin typeface="Calibri" pitchFamily="34" charset="0"/>
                <a:ea typeface="Calibri" pitchFamily="34" charset="-122"/>
                <a:cs typeface="Calibri" pitchFamily="34" charset="-120"/>
              </a:rPr>
              <a:t>Teams &amp; accelerators. Multi-company, white-label export.</a:t>
            </a:r>
            <a:endParaRPr lang="en-US" sz="1000" dirty="0"/>
          </a:p>
        </p:txBody>
      </p:sp>
      <p:sp>
        <p:nvSpPr>
          <p:cNvPr id="18" name="Shape 16"/>
          <p:cNvSpPr/>
          <p:nvPr/>
        </p:nvSpPr>
        <p:spPr>
          <a:xfrm>
            <a:off x="365760" y="3520440"/>
            <a:ext cx="8412480" cy="868680"/>
          </a:xfrm>
          <a:prstGeom prst="rect">
            <a:avLst/>
          </a:prstGeom>
          <a:solidFill>
            <a:srgbClr val="EEF2FF"/>
          </a:solidFill>
          <a:ln w="9525">
            <a:solidFill>
              <a:srgbClr val="C0CCFF"/>
            </a:solidFill>
            <a:prstDash val="solid"/>
          </a:ln>
        </p:spPr>
      </p:sp>
      <p:sp>
        <p:nvSpPr>
          <p:cNvPr id="19" name="Text 17"/>
          <p:cNvSpPr/>
          <p:nvPr/>
        </p:nvSpPr>
        <p:spPr>
          <a:xfrm>
            <a:off x="36576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$240/mo</a:t>
            </a:r>
            <a:endParaRPr lang="en-US" sz="1700" dirty="0"/>
          </a:p>
        </p:txBody>
      </p:sp>
      <p:sp>
        <p:nvSpPr>
          <p:cNvPr id="20" name="Text 18"/>
          <p:cNvSpPr/>
          <p:nvPr/>
        </p:nvSpPr>
        <p:spPr>
          <a:xfrm>
            <a:off x="36576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ARPU (proj.)</a:t>
            </a:r>
            <a:endParaRPr lang="en-US" sz="850" dirty="0"/>
          </a:p>
        </p:txBody>
      </p:sp>
      <p:sp>
        <p:nvSpPr>
          <p:cNvPr id="21" name="Text 19"/>
          <p:cNvSpPr/>
          <p:nvPr/>
        </p:nvSpPr>
        <p:spPr>
          <a:xfrm>
            <a:off x="176784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85%+</a:t>
            </a:r>
            <a:endParaRPr lang="en-US" sz="1700" dirty="0"/>
          </a:p>
        </p:txBody>
      </p:sp>
      <p:sp>
        <p:nvSpPr>
          <p:cNvPr id="22" name="Text 20"/>
          <p:cNvSpPr/>
          <p:nvPr/>
        </p:nvSpPr>
        <p:spPr>
          <a:xfrm>
            <a:off x="176784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Gross Margin</a:t>
            </a:r>
            <a:endParaRPr lang="en-US" sz="850" dirty="0"/>
          </a:p>
        </p:txBody>
      </p:sp>
      <p:sp>
        <p:nvSpPr>
          <p:cNvPr id="23" name="Text 21"/>
          <p:cNvSpPr/>
          <p:nvPr/>
        </p:nvSpPr>
        <p:spPr>
          <a:xfrm>
            <a:off x="316992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$10,000</a:t>
            </a:r>
            <a:endParaRPr lang="en-US" sz="1700" dirty="0"/>
          </a:p>
        </p:txBody>
      </p:sp>
      <p:sp>
        <p:nvSpPr>
          <p:cNvPr id="24" name="Text 22"/>
          <p:cNvSpPr/>
          <p:nvPr/>
        </p:nvSpPr>
        <p:spPr>
          <a:xfrm>
            <a:off x="316992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LTV (proj.)</a:t>
            </a:r>
            <a:endParaRPr lang="en-US" sz="850" dirty="0"/>
          </a:p>
        </p:txBody>
      </p:sp>
      <p:sp>
        <p:nvSpPr>
          <p:cNvPr id="25" name="Text 23"/>
          <p:cNvSpPr/>
          <p:nvPr/>
        </p:nvSpPr>
        <p:spPr>
          <a:xfrm>
            <a:off x="457200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$600</a:t>
            </a:r>
            <a:endParaRPr lang="en-US" sz="1700" dirty="0"/>
          </a:p>
        </p:txBody>
      </p:sp>
      <p:sp>
        <p:nvSpPr>
          <p:cNvPr id="26" name="Text 24"/>
          <p:cNvSpPr/>
          <p:nvPr/>
        </p:nvSpPr>
        <p:spPr>
          <a:xfrm>
            <a:off x="457200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CAC (proj.)</a:t>
            </a:r>
            <a:endParaRPr lang="en-US" sz="850" dirty="0"/>
          </a:p>
        </p:txBody>
      </p:sp>
      <p:sp>
        <p:nvSpPr>
          <p:cNvPr id="27" name="Text 25"/>
          <p:cNvSpPr/>
          <p:nvPr/>
        </p:nvSpPr>
        <p:spPr>
          <a:xfrm>
            <a:off x="597408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16x</a:t>
            </a:r>
            <a:endParaRPr lang="en-US" sz="1700" dirty="0"/>
          </a:p>
        </p:txBody>
      </p:sp>
      <p:sp>
        <p:nvSpPr>
          <p:cNvPr id="28" name="Text 26"/>
          <p:cNvSpPr/>
          <p:nvPr/>
        </p:nvSpPr>
        <p:spPr>
          <a:xfrm>
            <a:off x="597408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LTV:CAC (proj.)</a:t>
            </a:r>
            <a:endParaRPr lang="en-US" sz="850" dirty="0"/>
          </a:p>
        </p:txBody>
      </p:sp>
      <p:sp>
        <p:nvSpPr>
          <p:cNvPr id="29" name="Text 27"/>
          <p:cNvSpPr/>
          <p:nvPr/>
        </p:nvSpPr>
        <p:spPr>
          <a:xfrm>
            <a:off x="7376160" y="3566160"/>
            <a:ext cx="1402080" cy="384048"/>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&lt;3 mo</a:t>
            </a:r>
            <a:endParaRPr lang="en-US" sz="1700" dirty="0"/>
          </a:p>
        </p:txBody>
      </p:sp>
      <p:sp>
        <p:nvSpPr>
          <p:cNvPr id="30" name="Text 28"/>
          <p:cNvSpPr/>
          <p:nvPr/>
        </p:nvSpPr>
        <p:spPr>
          <a:xfrm>
            <a:off x="7376160" y="3950208"/>
            <a:ext cx="1402080" cy="228600"/>
          </a:xfrm>
          <a:prstGeom prst="rect">
            <a:avLst/>
          </a:prstGeom>
          <a:noFill/>
          <a:ln/>
        </p:spPr>
        <p:txBody>
          <a:bodyPr wrap="square" lIns="0" tIns="0" rIns="0" bIns="0" rtlCol="0" anchor="ctr"/>
          <a:lstStyle/>
          <a:p>
            <a:pPr algn="ctr" indent="0" marL="0">
              <a:buNone/>
            </a:pPr>
            <a:r>
              <a:rPr lang="en-US" sz="850" spc="50" kern="0" dirty="0">
                <a:solidFill>
                  <a:srgbClr val="8899BB"/>
                </a:solidFill>
                <a:latin typeface="Calibri" pitchFamily="34" charset="0"/>
                <a:ea typeface="Calibri" pitchFamily="34" charset="-122"/>
                <a:cs typeface="Calibri" pitchFamily="34" charset="-120"/>
              </a:rPr>
              <a:t>Payback (proj.)</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COMPETITIVE LANDSCAPE</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We Own the Category No One Has Built Yet</a:t>
            </a:r>
            <a:endParaRPr lang="en-US" sz="2600" dirty="0"/>
          </a:p>
        </p:txBody>
      </p:sp>
      <p:sp>
        <p:nvSpPr>
          <p:cNvPr id="5" name="Shape 3"/>
          <p:cNvSpPr/>
          <p:nvPr/>
        </p:nvSpPr>
        <p:spPr>
          <a:xfrm>
            <a:off x="1097280" y="2724912"/>
            <a:ext cx="4389120" cy="0"/>
          </a:xfrm>
          <a:prstGeom prst="line">
            <a:avLst/>
          </a:prstGeom>
          <a:noFill/>
          <a:ln w="12700">
            <a:solidFill>
              <a:srgbClr val="334488"/>
            </a:solidFill>
            <a:prstDash val="dash"/>
          </a:ln>
        </p:spPr>
      </p:sp>
      <p:sp>
        <p:nvSpPr>
          <p:cNvPr id="6" name="Shape 4"/>
          <p:cNvSpPr/>
          <p:nvPr/>
        </p:nvSpPr>
        <p:spPr>
          <a:xfrm>
            <a:off x="3291840" y="987552"/>
            <a:ext cx="0" cy="3474720"/>
          </a:xfrm>
          <a:prstGeom prst="line">
            <a:avLst/>
          </a:prstGeom>
          <a:noFill/>
          <a:ln w="12700">
            <a:solidFill>
              <a:srgbClr val="334488"/>
            </a:solidFill>
            <a:prstDash val="dash"/>
          </a:ln>
        </p:spPr>
      </p:sp>
      <p:sp>
        <p:nvSpPr>
          <p:cNvPr id="7" name="Text 5"/>
          <p:cNvSpPr/>
          <p:nvPr/>
        </p:nvSpPr>
        <p:spPr>
          <a:xfrm>
            <a:off x="1097280" y="2816352"/>
            <a:ext cx="1280160" cy="228600"/>
          </a:xfrm>
          <a:prstGeom prst="rect">
            <a:avLst/>
          </a:prstGeom>
          <a:noFill/>
          <a:ln/>
        </p:spPr>
        <p:txBody>
          <a:bodyPr wrap="square" lIns="0" tIns="0" rIns="0" bIns="0" rtlCol="0" anchor="ctr"/>
          <a:lstStyle/>
          <a:p>
            <a:pPr algn="l" indent="0" marL="0">
              <a:buNone/>
            </a:pPr>
            <a:r>
              <a:rPr lang="en-US" sz="800" dirty="0">
                <a:solidFill>
                  <a:srgbClr val="8899CC"/>
                </a:solidFill>
                <a:latin typeface="Calibri" pitchFamily="34" charset="0"/>
                <a:ea typeface="Calibri" pitchFamily="34" charset="-122"/>
                <a:cs typeface="Calibri" pitchFamily="34" charset="-120"/>
              </a:rPr>
              <a:t>Static / Manual</a:t>
            </a:r>
            <a:endParaRPr lang="en-US" sz="800" dirty="0"/>
          </a:p>
        </p:txBody>
      </p:sp>
      <p:sp>
        <p:nvSpPr>
          <p:cNvPr id="8" name="Text 6"/>
          <p:cNvSpPr/>
          <p:nvPr/>
        </p:nvSpPr>
        <p:spPr>
          <a:xfrm>
            <a:off x="4114800" y="2816352"/>
            <a:ext cx="1371600" cy="228600"/>
          </a:xfrm>
          <a:prstGeom prst="rect">
            <a:avLst/>
          </a:prstGeom>
          <a:noFill/>
          <a:ln/>
        </p:spPr>
        <p:txBody>
          <a:bodyPr wrap="square" lIns="0" tIns="0" rIns="0" bIns="0" rtlCol="0" anchor="ctr"/>
          <a:lstStyle/>
          <a:p>
            <a:pPr algn="r" indent="0" marL="0">
              <a:buNone/>
            </a:pPr>
            <a:r>
              <a:rPr lang="en-US" sz="800" dirty="0">
                <a:solidFill>
                  <a:srgbClr val="8899CC"/>
                </a:solidFill>
                <a:latin typeface="Calibri" pitchFamily="34" charset="0"/>
                <a:ea typeface="Calibri" pitchFamily="34" charset="-122"/>
                <a:cs typeface="Calibri" pitchFamily="34" charset="-120"/>
              </a:rPr>
              <a:t>Live / AI-Powered</a:t>
            </a:r>
            <a:endParaRPr lang="en-US" sz="800" dirty="0"/>
          </a:p>
        </p:txBody>
      </p:sp>
      <p:sp>
        <p:nvSpPr>
          <p:cNvPr id="9" name="Text 7"/>
          <p:cNvSpPr/>
          <p:nvPr/>
        </p:nvSpPr>
        <p:spPr>
          <a:xfrm>
            <a:off x="2926080" y="987552"/>
            <a:ext cx="822960" cy="201168"/>
          </a:xfrm>
          <a:prstGeom prst="rect">
            <a:avLst/>
          </a:prstGeom>
          <a:noFill/>
          <a:ln/>
        </p:spPr>
        <p:txBody>
          <a:bodyPr wrap="square" lIns="0" tIns="0" rIns="0" bIns="0" rtlCol="0" anchor="ctr"/>
          <a:lstStyle/>
          <a:p>
            <a:pPr algn="ctr" indent="0" marL="0">
              <a:buNone/>
            </a:pPr>
            <a:r>
              <a:rPr lang="en-US" sz="800" dirty="0">
                <a:solidFill>
                  <a:srgbClr val="8899CC"/>
                </a:solidFill>
                <a:latin typeface="Calibri" pitchFamily="34" charset="0"/>
                <a:ea typeface="Calibri" pitchFamily="34" charset="-122"/>
                <a:cs typeface="Calibri" pitchFamily="34" charset="-120"/>
              </a:rPr>
              <a:t>Generic</a:t>
            </a:r>
            <a:endParaRPr lang="en-US" sz="800" dirty="0"/>
          </a:p>
        </p:txBody>
      </p:sp>
      <p:sp>
        <p:nvSpPr>
          <p:cNvPr id="10" name="Text 8"/>
          <p:cNvSpPr/>
          <p:nvPr/>
        </p:nvSpPr>
        <p:spPr>
          <a:xfrm>
            <a:off x="2651760" y="4233672"/>
            <a:ext cx="1280160" cy="201168"/>
          </a:xfrm>
          <a:prstGeom prst="rect">
            <a:avLst/>
          </a:prstGeom>
          <a:noFill/>
          <a:ln/>
        </p:spPr>
        <p:txBody>
          <a:bodyPr wrap="square" lIns="0" tIns="0" rIns="0" bIns="0" rtlCol="0" anchor="ctr"/>
          <a:lstStyle/>
          <a:p>
            <a:pPr algn="ctr" indent="0" marL="0">
              <a:buNone/>
            </a:pPr>
            <a:r>
              <a:rPr lang="en-US" sz="800" dirty="0">
                <a:solidFill>
                  <a:srgbClr val="8899CC"/>
                </a:solidFill>
                <a:latin typeface="Calibri" pitchFamily="34" charset="0"/>
                <a:ea typeface="Calibri" pitchFamily="34" charset="-122"/>
                <a:cs typeface="Calibri" pitchFamily="34" charset="-120"/>
              </a:rPr>
              <a:t>Founder-Specific</a:t>
            </a:r>
            <a:endParaRPr lang="en-US" sz="800" dirty="0"/>
          </a:p>
        </p:txBody>
      </p:sp>
      <p:sp>
        <p:nvSpPr>
          <p:cNvPr id="11" name="Shape 9"/>
          <p:cNvSpPr/>
          <p:nvPr/>
        </p:nvSpPr>
        <p:spPr>
          <a:xfrm>
            <a:off x="1353312" y="2889504"/>
            <a:ext cx="219456" cy="219456"/>
          </a:xfrm>
          <a:prstGeom prst="ellipse">
            <a:avLst/>
          </a:prstGeom>
          <a:solidFill>
            <a:srgbClr val="556699"/>
          </a:solidFill>
          <a:ln w="12700">
            <a:solidFill>
              <a:srgbClr val="334488"/>
            </a:solidFill>
            <a:prstDash val="solid"/>
          </a:ln>
        </p:spPr>
      </p:sp>
      <p:sp>
        <p:nvSpPr>
          <p:cNvPr id="12" name="Text 10"/>
          <p:cNvSpPr/>
          <p:nvPr/>
        </p:nvSpPr>
        <p:spPr>
          <a:xfrm>
            <a:off x="1005840" y="313639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Notion</a:t>
            </a:r>
            <a:endParaRPr lang="en-US" sz="850" dirty="0"/>
          </a:p>
        </p:txBody>
      </p:sp>
      <p:sp>
        <p:nvSpPr>
          <p:cNvPr id="13" name="Shape 11"/>
          <p:cNvSpPr/>
          <p:nvPr/>
        </p:nvSpPr>
        <p:spPr>
          <a:xfrm>
            <a:off x="1536192" y="1609344"/>
            <a:ext cx="219456" cy="219456"/>
          </a:xfrm>
          <a:prstGeom prst="ellipse">
            <a:avLst/>
          </a:prstGeom>
          <a:solidFill>
            <a:srgbClr val="556699"/>
          </a:solidFill>
          <a:ln w="12700">
            <a:solidFill>
              <a:srgbClr val="334488"/>
            </a:solidFill>
            <a:prstDash val="solid"/>
          </a:ln>
        </p:spPr>
      </p:sp>
      <p:sp>
        <p:nvSpPr>
          <p:cNvPr id="14" name="Text 12"/>
          <p:cNvSpPr/>
          <p:nvPr/>
        </p:nvSpPr>
        <p:spPr>
          <a:xfrm>
            <a:off x="1188720" y="185623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Google Slides</a:t>
            </a:r>
            <a:endParaRPr lang="en-US" sz="850" dirty="0"/>
          </a:p>
        </p:txBody>
      </p:sp>
      <p:sp>
        <p:nvSpPr>
          <p:cNvPr id="15" name="Shape 13"/>
          <p:cNvSpPr/>
          <p:nvPr/>
        </p:nvSpPr>
        <p:spPr>
          <a:xfrm>
            <a:off x="2084832" y="1426464"/>
            <a:ext cx="219456" cy="219456"/>
          </a:xfrm>
          <a:prstGeom prst="ellipse">
            <a:avLst/>
          </a:prstGeom>
          <a:solidFill>
            <a:srgbClr val="556699"/>
          </a:solidFill>
          <a:ln w="12700">
            <a:solidFill>
              <a:srgbClr val="334488"/>
            </a:solidFill>
            <a:prstDash val="solid"/>
          </a:ln>
        </p:spPr>
      </p:sp>
      <p:sp>
        <p:nvSpPr>
          <p:cNvPr id="16" name="Text 14"/>
          <p:cNvSpPr/>
          <p:nvPr/>
        </p:nvSpPr>
        <p:spPr>
          <a:xfrm>
            <a:off x="1737360" y="167335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Slidebean</a:t>
            </a:r>
            <a:endParaRPr lang="en-US" sz="850" dirty="0"/>
          </a:p>
        </p:txBody>
      </p:sp>
      <p:sp>
        <p:nvSpPr>
          <p:cNvPr id="17" name="Shape 15"/>
          <p:cNvSpPr/>
          <p:nvPr/>
        </p:nvSpPr>
        <p:spPr>
          <a:xfrm>
            <a:off x="1901952" y="2615184"/>
            <a:ext cx="219456" cy="219456"/>
          </a:xfrm>
          <a:prstGeom prst="ellipse">
            <a:avLst/>
          </a:prstGeom>
          <a:solidFill>
            <a:srgbClr val="556699"/>
          </a:solidFill>
          <a:ln w="12700">
            <a:solidFill>
              <a:srgbClr val="334488"/>
            </a:solidFill>
            <a:prstDash val="solid"/>
          </a:ln>
        </p:spPr>
      </p:sp>
      <p:sp>
        <p:nvSpPr>
          <p:cNvPr id="18" name="Text 16"/>
          <p:cNvSpPr/>
          <p:nvPr/>
        </p:nvSpPr>
        <p:spPr>
          <a:xfrm>
            <a:off x="1554480" y="286207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Visible.vc</a:t>
            </a:r>
            <a:endParaRPr lang="en-US" sz="850" dirty="0"/>
          </a:p>
        </p:txBody>
      </p:sp>
      <p:sp>
        <p:nvSpPr>
          <p:cNvPr id="19" name="Shape 17"/>
          <p:cNvSpPr/>
          <p:nvPr/>
        </p:nvSpPr>
        <p:spPr>
          <a:xfrm>
            <a:off x="2999232" y="1335024"/>
            <a:ext cx="219456" cy="219456"/>
          </a:xfrm>
          <a:prstGeom prst="ellipse">
            <a:avLst/>
          </a:prstGeom>
          <a:solidFill>
            <a:srgbClr val="556699"/>
          </a:solidFill>
          <a:ln w="12700">
            <a:solidFill>
              <a:srgbClr val="334488"/>
            </a:solidFill>
            <a:prstDash val="solid"/>
          </a:ln>
        </p:spPr>
      </p:sp>
      <p:sp>
        <p:nvSpPr>
          <p:cNvPr id="20" name="Text 18"/>
          <p:cNvSpPr/>
          <p:nvPr/>
        </p:nvSpPr>
        <p:spPr>
          <a:xfrm>
            <a:off x="2651760" y="1581912"/>
            <a:ext cx="1280160" cy="201168"/>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Pitch.com</a:t>
            </a:r>
            <a:endParaRPr lang="en-US" sz="850" dirty="0"/>
          </a:p>
        </p:txBody>
      </p:sp>
      <p:sp>
        <p:nvSpPr>
          <p:cNvPr id="21" name="Shape 19"/>
          <p:cNvSpPr/>
          <p:nvPr/>
        </p:nvSpPr>
        <p:spPr>
          <a:xfrm>
            <a:off x="4617720" y="3685032"/>
            <a:ext cx="457200" cy="457200"/>
          </a:xfrm>
          <a:prstGeom prst="ellipse">
            <a:avLst/>
          </a:prstGeom>
          <a:solidFill>
            <a:srgbClr val="02C39A"/>
          </a:solidFill>
          <a:ln w="12700">
            <a:solidFill>
              <a:srgbClr val="02C39A"/>
            </a:solidFill>
            <a:prstDash val="solid"/>
          </a:ln>
        </p:spPr>
      </p:sp>
      <p:sp>
        <p:nvSpPr>
          <p:cNvPr id="22" name="Text 20"/>
          <p:cNvSpPr/>
          <p:nvPr/>
        </p:nvSpPr>
        <p:spPr>
          <a:xfrm>
            <a:off x="4617720" y="3685032"/>
            <a:ext cx="457200" cy="457200"/>
          </a:xfrm>
          <a:prstGeom prst="rect">
            <a:avLst/>
          </a:prstGeom>
          <a:noFill/>
          <a:ln/>
        </p:spPr>
        <p:txBody>
          <a:bodyPr wrap="square" lIns="0" tIns="0" rIns="0" bIns="0" rtlCol="0" anchor="ctr"/>
          <a:lstStyle/>
          <a:p>
            <a:pPr algn="ctr" indent="0" marL="0">
              <a:buNone/>
            </a:pPr>
            <a:r>
              <a:rPr lang="en-US" sz="1000" b="1" dirty="0">
                <a:solidFill>
                  <a:srgbClr val="1E2761"/>
                </a:solidFill>
                <a:latin typeface="Georgia" pitchFamily="34" charset="0"/>
                <a:ea typeface="Georgia" pitchFamily="34" charset="-122"/>
                <a:cs typeface="Georgia" pitchFamily="34" charset="-120"/>
              </a:rPr>
              <a:t>VP</a:t>
            </a:r>
            <a:endParaRPr lang="en-US" sz="1000" dirty="0"/>
          </a:p>
        </p:txBody>
      </p:sp>
      <p:sp>
        <p:nvSpPr>
          <p:cNvPr id="23" name="Text 21"/>
          <p:cNvSpPr/>
          <p:nvPr/>
        </p:nvSpPr>
        <p:spPr>
          <a:xfrm>
            <a:off x="4434840" y="4169664"/>
            <a:ext cx="822960" cy="201168"/>
          </a:xfrm>
          <a:prstGeom prst="rect">
            <a:avLst/>
          </a:prstGeom>
          <a:noFill/>
          <a:ln/>
        </p:spPr>
        <p:txBody>
          <a:bodyPr wrap="square" lIns="0" tIns="0" rIns="0" bIns="0" rtlCol="0" anchor="ctr"/>
          <a:lstStyle/>
          <a:p>
            <a:pPr algn="ctr" indent="0" marL="0">
              <a:buNone/>
            </a:pPr>
            <a:r>
              <a:rPr lang="en-US" sz="900" b="1" dirty="0">
                <a:solidFill>
                  <a:srgbClr val="02C39A"/>
                </a:solidFill>
                <a:latin typeface="Calibri" pitchFamily="34" charset="0"/>
                <a:ea typeface="Calibri" pitchFamily="34" charset="-122"/>
                <a:cs typeface="Calibri" pitchFamily="34" charset="-120"/>
              </a:rPr>
              <a:t>VenturePilot</a:t>
            </a:r>
            <a:endParaRPr lang="en-US" sz="900" dirty="0"/>
          </a:p>
        </p:txBody>
      </p:sp>
      <p:sp>
        <p:nvSpPr>
          <p:cNvPr id="24" name="Text 22"/>
          <p:cNvSpPr/>
          <p:nvPr/>
        </p:nvSpPr>
        <p:spPr>
          <a:xfrm>
            <a:off x="5852160" y="1051560"/>
            <a:ext cx="3017520" cy="292608"/>
          </a:xfrm>
          <a:prstGeom prst="rect">
            <a:avLst/>
          </a:prstGeom>
          <a:noFill/>
          <a:ln/>
        </p:spPr>
        <p:txBody>
          <a:bodyPr wrap="square" lIns="0" tIns="0" rIns="0" bIns="0" rtlCol="0" anchor="ctr"/>
          <a:lstStyle/>
          <a:p>
            <a:pPr algn="l" indent="0" marL="0">
              <a:buNone/>
            </a:pPr>
            <a:r>
              <a:rPr lang="en-US" sz="1200" b="1" spc="100" kern="0" dirty="0">
                <a:solidFill>
                  <a:srgbClr val="02C39A"/>
                </a:solidFill>
                <a:latin typeface="Calibri" pitchFamily="34" charset="0"/>
                <a:ea typeface="Calibri" pitchFamily="34" charset="-122"/>
                <a:cs typeface="Calibri" pitchFamily="34" charset="-120"/>
              </a:rPr>
              <a:t>Our Moats</a:t>
            </a:r>
            <a:endParaRPr lang="en-US" sz="1200" dirty="0"/>
          </a:p>
        </p:txBody>
      </p:sp>
      <p:sp>
        <p:nvSpPr>
          <p:cNvPr id="25" name="Text 23"/>
          <p:cNvSpPr/>
          <p:nvPr/>
        </p:nvSpPr>
        <p:spPr>
          <a:xfrm>
            <a:off x="5852160" y="1417320"/>
            <a:ext cx="301752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Live Data Integration</a:t>
            </a:r>
            <a:endParaRPr lang="en-US" sz="1100" dirty="0"/>
          </a:p>
        </p:txBody>
      </p:sp>
      <p:sp>
        <p:nvSpPr>
          <p:cNvPr id="26" name="Text 24"/>
          <p:cNvSpPr/>
          <p:nvPr/>
        </p:nvSpPr>
        <p:spPr>
          <a:xfrm>
            <a:off x="5852160" y="1691640"/>
            <a:ext cx="3017520" cy="5486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Docs update as metrics change. No competitor does this end-to-end.</a:t>
            </a:r>
            <a:endParaRPr lang="en-US" sz="1000" dirty="0"/>
          </a:p>
        </p:txBody>
      </p:sp>
      <p:sp>
        <p:nvSpPr>
          <p:cNvPr id="27" name="Text 25"/>
          <p:cNvSpPr/>
          <p:nvPr/>
        </p:nvSpPr>
        <p:spPr>
          <a:xfrm>
            <a:off x="5852160" y="2587752"/>
            <a:ext cx="301752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Founder-Native AI</a:t>
            </a:r>
            <a:endParaRPr lang="en-US" sz="1100" dirty="0"/>
          </a:p>
        </p:txBody>
      </p:sp>
      <p:sp>
        <p:nvSpPr>
          <p:cNvPr id="28" name="Text 26"/>
          <p:cNvSpPr/>
          <p:nvPr/>
        </p:nvSpPr>
        <p:spPr>
          <a:xfrm>
            <a:off x="5852160" y="2862072"/>
            <a:ext cx="3017520" cy="5486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Trained on fundraise context, not generic business writing.</a:t>
            </a:r>
            <a:endParaRPr lang="en-US" sz="1000" dirty="0"/>
          </a:p>
        </p:txBody>
      </p:sp>
      <p:sp>
        <p:nvSpPr>
          <p:cNvPr id="29" name="Text 27"/>
          <p:cNvSpPr/>
          <p:nvPr/>
        </p:nvSpPr>
        <p:spPr>
          <a:xfrm>
            <a:off x="5852160" y="3758184"/>
            <a:ext cx="301752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Full Workflow</a:t>
            </a:r>
            <a:endParaRPr lang="en-US" sz="1100" dirty="0"/>
          </a:p>
        </p:txBody>
      </p:sp>
      <p:sp>
        <p:nvSpPr>
          <p:cNvPr id="30" name="Text 28"/>
          <p:cNvSpPr/>
          <p:nvPr/>
        </p:nvSpPr>
        <p:spPr>
          <a:xfrm>
            <a:off x="5852160" y="4032504"/>
            <a:ext cx="3017520" cy="548640"/>
          </a:xfrm>
          <a:prstGeom prst="rect">
            <a:avLst/>
          </a:prstGeom>
          <a:noFill/>
          <a:ln/>
        </p:spPr>
        <p:txBody>
          <a:bodyPr wrap="square" lIns="0" tIns="0" rIns="0" bIns="0" rtlCol="0" anchor="ctr"/>
          <a:lstStyle/>
          <a:p>
            <a:pPr algn="l" indent="0" marL="0">
              <a:buNone/>
            </a:pPr>
            <a:r>
              <a:rPr lang="en-US" sz="1000" dirty="0">
                <a:solidFill>
                  <a:srgbClr val="CADCFC"/>
                </a:solidFill>
                <a:latin typeface="Calibri" pitchFamily="34" charset="0"/>
                <a:ea typeface="Calibri" pitchFamily="34" charset="-122"/>
                <a:cs typeface="Calibri" pitchFamily="34" charset="-120"/>
              </a:rPr>
              <a:t>From dashboard → deck → plan → update → valuation. One product.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GO-TO-MARKET STRATEGY</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Distribution Is the Product</a:t>
            </a:r>
            <a:endParaRPr lang="en-US" sz="2800" dirty="0"/>
          </a:p>
        </p:txBody>
      </p:sp>
      <p:sp>
        <p:nvSpPr>
          <p:cNvPr id="5" name="Shape 3"/>
          <p:cNvSpPr/>
          <p:nvPr/>
        </p:nvSpPr>
        <p:spPr>
          <a:xfrm>
            <a:off x="347472" y="987552"/>
            <a:ext cx="384048" cy="384048"/>
          </a:xfrm>
          <a:prstGeom prst="rect">
            <a:avLst/>
          </a:prstGeom>
          <a:solidFill>
            <a:srgbClr val="3A6EDC"/>
          </a:solidFill>
          <a:ln w="12700">
            <a:solidFill>
              <a:srgbClr val="3A6EDC"/>
            </a:solidFill>
            <a:prstDash val="solid"/>
          </a:ln>
        </p:spPr>
      </p:sp>
      <p:sp>
        <p:nvSpPr>
          <p:cNvPr id="6" name="Text 4"/>
          <p:cNvSpPr/>
          <p:nvPr/>
        </p:nvSpPr>
        <p:spPr>
          <a:xfrm>
            <a:off x="347472" y="987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01</a:t>
            </a:r>
            <a:endParaRPr lang="en-US" sz="1200" dirty="0"/>
          </a:p>
        </p:txBody>
      </p:sp>
      <p:sp>
        <p:nvSpPr>
          <p:cNvPr id="7" name="Text 5"/>
          <p:cNvSpPr/>
          <p:nvPr/>
        </p:nvSpPr>
        <p:spPr>
          <a:xfrm>
            <a:off x="822960" y="1005840"/>
            <a:ext cx="5029200" cy="32004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PLG Flywheel</a:t>
            </a:r>
            <a:endParaRPr lang="en-US" sz="1300" dirty="0"/>
          </a:p>
        </p:txBody>
      </p:sp>
      <p:sp>
        <p:nvSpPr>
          <p:cNvPr id="8" name="Text 6"/>
          <p:cNvSpPr/>
          <p:nvPr/>
        </p:nvSpPr>
        <p:spPr>
          <a:xfrm>
            <a:off x="5943600" y="1033272"/>
            <a:ext cx="2743200" cy="256032"/>
          </a:xfrm>
          <a:prstGeom prst="rect">
            <a:avLst/>
          </a:prstGeom>
          <a:noFill/>
          <a:ln/>
        </p:spPr>
        <p:txBody>
          <a:bodyPr wrap="square" lIns="0" tIns="0" rIns="0" bIns="0" rtlCol="0" anchor="ctr"/>
          <a:lstStyle/>
          <a:p>
            <a:pPr algn="r" indent="0" marL="0">
              <a:buNone/>
            </a:pPr>
            <a:r>
              <a:rPr lang="en-US" sz="1000" b="1" dirty="0">
                <a:solidFill>
                  <a:srgbClr val="3A6EDC"/>
                </a:solidFill>
                <a:latin typeface="Calibri" pitchFamily="34" charset="0"/>
                <a:ea typeface="Calibri" pitchFamily="34" charset="-122"/>
                <a:cs typeface="Calibri" pitchFamily="34" charset="-120"/>
              </a:rPr>
              <a:t>Organic growth channel from day one</a:t>
            </a:r>
            <a:endParaRPr lang="en-US" sz="1000" dirty="0"/>
          </a:p>
        </p:txBody>
      </p:sp>
      <p:sp>
        <p:nvSpPr>
          <p:cNvPr id="9" name="Text 7"/>
          <p:cNvSpPr/>
          <p:nvPr/>
        </p:nvSpPr>
        <p:spPr>
          <a:xfrm>
            <a:off x="822960" y="1335024"/>
            <a:ext cx="7955280" cy="777240"/>
          </a:xfrm>
          <a:prstGeom prst="rect">
            <a:avLst/>
          </a:prstGeom>
          <a:noFill/>
          <a:ln/>
        </p:spPr>
        <p:txBody>
          <a:bodyPr wrap="square" lIns="0" tIns="0" rIns="0" bIns="0" rtlCol="0" anchor="ctr"/>
          <a:lstStyle/>
          <a:p>
            <a:pPr algn="l" indent="0" marL="0">
              <a:buNone/>
            </a:pPr>
            <a:r>
              <a:rPr lang="en-US" sz="1000" dirty="0">
                <a:solidFill>
                  <a:srgbClr val="445577"/>
                </a:solidFill>
                <a:latin typeface="Calibri" pitchFamily="34" charset="0"/>
                <a:ea typeface="Calibri" pitchFamily="34" charset="-122"/>
                <a:cs typeface="Calibri" pitchFamily="34" charset="-120"/>
              </a:rPr>
              <a:t>Every pitch deck and investor update exported from VenturePilot carries a subtle "Made with VenturePilot" footer. Investors see it. Founders notice it. The product markets itself in the rooms that matter most.</a:t>
            </a:r>
            <a:endParaRPr lang="en-US" sz="1000" dirty="0"/>
          </a:p>
        </p:txBody>
      </p:sp>
      <p:sp>
        <p:nvSpPr>
          <p:cNvPr id="10" name="Shape 8"/>
          <p:cNvSpPr/>
          <p:nvPr/>
        </p:nvSpPr>
        <p:spPr>
          <a:xfrm>
            <a:off x="347472" y="2313432"/>
            <a:ext cx="384048" cy="384048"/>
          </a:xfrm>
          <a:prstGeom prst="rect">
            <a:avLst/>
          </a:prstGeom>
          <a:solidFill>
            <a:srgbClr val="3A6EDC"/>
          </a:solidFill>
          <a:ln w="12700">
            <a:solidFill>
              <a:srgbClr val="3A6EDC"/>
            </a:solidFill>
            <a:prstDash val="solid"/>
          </a:ln>
        </p:spPr>
      </p:sp>
      <p:sp>
        <p:nvSpPr>
          <p:cNvPr id="11" name="Text 9"/>
          <p:cNvSpPr/>
          <p:nvPr/>
        </p:nvSpPr>
        <p:spPr>
          <a:xfrm>
            <a:off x="347472" y="23134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02</a:t>
            </a:r>
            <a:endParaRPr lang="en-US" sz="1200" dirty="0"/>
          </a:p>
        </p:txBody>
      </p:sp>
      <p:sp>
        <p:nvSpPr>
          <p:cNvPr id="12" name="Text 10"/>
          <p:cNvSpPr/>
          <p:nvPr/>
        </p:nvSpPr>
        <p:spPr>
          <a:xfrm>
            <a:off x="822960" y="2331720"/>
            <a:ext cx="5029200" cy="32004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Founder Community Partnerships</a:t>
            </a:r>
            <a:endParaRPr lang="en-US" sz="1300" dirty="0"/>
          </a:p>
        </p:txBody>
      </p:sp>
      <p:sp>
        <p:nvSpPr>
          <p:cNvPr id="13" name="Text 11"/>
          <p:cNvSpPr/>
          <p:nvPr/>
        </p:nvSpPr>
        <p:spPr>
          <a:xfrm>
            <a:off x="5943600" y="2359152"/>
            <a:ext cx="2743200" cy="256032"/>
          </a:xfrm>
          <a:prstGeom prst="rect">
            <a:avLst/>
          </a:prstGeom>
          <a:noFill/>
          <a:ln/>
        </p:spPr>
        <p:txBody>
          <a:bodyPr wrap="square" lIns="0" tIns="0" rIns="0" bIns="0" rtlCol="0" anchor="ctr"/>
          <a:lstStyle/>
          <a:p>
            <a:pPr algn="r" indent="0" marL="0">
              <a:buNone/>
            </a:pPr>
            <a:r>
              <a:rPr lang="en-US" sz="1000" b="1" dirty="0">
                <a:solidFill>
                  <a:srgbClr val="3A6EDC"/>
                </a:solidFill>
                <a:latin typeface="Calibri" pitchFamily="34" charset="0"/>
                <a:ea typeface="Calibri" pitchFamily="34" charset="-122"/>
                <a:cs typeface="Calibri" pitchFamily="34" charset="-120"/>
              </a:rPr>
              <a:t>3 accelerator conversations in progress</a:t>
            </a:r>
            <a:endParaRPr lang="en-US" sz="1000" dirty="0"/>
          </a:p>
        </p:txBody>
      </p:sp>
      <p:sp>
        <p:nvSpPr>
          <p:cNvPr id="14" name="Text 12"/>
          <p:cNvSpPr/>
          <p:nvPr/>
        </p:nvSpPr>
        <p:spPr>
          <a:xfrm>
            <a:off x="822960" y="2660904"/>
            <a:ext cx="7955280" cy="777240"/>
          </a:xfrm>
          <a:prstGeom prst="rect">
            <a:avLst/>
          </a:prstGeom>
          <a:noFill/>
          <a:ln/>
        </p:spPr>
        <p:txBody>
          <a:bodyPr wrap="square" lIns="0" tIns="0" rIns="0" bIns="0" rtlCol="0" anchor="ctr"/>
          <a:lstStyle/>
          <a:p>
            <a:pPr algn="l" indent="0" marL="0">
              <a:buNone/>
            </a:pPr>
            <a:r>
              <a:rPr lang="en-US" sz="1000" dirty="0">
                <a:solidFill>
                  <a:srgbClr val="445577"/>
                </a:solidFill>
                <a:latin typeface="Calibri" pitchFamily="34" charset="0"/>
                <a:ea typeface="Calibri" pitchFamily="34" charset="-122"/>
                <a:cs typeface="Calibri" pitchFamily="34" charset="-120"/>
              </a:rPr>
              <a:t>Accelerators, incubators, and founder communities (YC alumni networks, On Deck, Reforge) give us direct access to cohorts of actively raising founders. We're in conversations with three accelerators for bundle deals.</a:t>
            </a:r>
            <a:endParaRPr lang="en-US" sz="1000" dirty="0"/>
          </a:p>
        </p:txBody>
      </p:sp>
      <p:sp>
        <p:nvSpPr>
          <p:cNvPr id="15" name="Shape 13"/>
          <p:cNvSpPr/>
          <p:nvPr/>
        </p:nvSpPr>
        <p:spPr>
          <a:xfrm>
            <a:off x="347472" y="3639312"/>
            <a:ext cx="384048" cy="384048"/>
          </a:xfrm>
          <a:prstGeom prst="rect">
            <a:avLst/>
          </a:prstGeom>
          <a:solidFill>
            <a:srgbClr val="3A6EDC"/>
          </a:solidFill>
          <a:ln w="12700">
            <a:solidFill>
              <a:srgbClr val="3A6EDC"/>
            </a:solidFill>
            <a:prstDash val="solid"/>
          </a:ln>
        </p:spPr>
      </p:sp>
      <p:sp>
        <p:nvSpPr>
          <p:cNvPr id="16" name="Text 14"/>
          <p:cNvSpPr/>
          <p:nvPr/>
        </p:nvSpPr>
        <p:spPr>
          <a:xfrm>
            <a:off x="347472" y="36393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03</a:t>
            </a:r>
            <a:endParaRPr lang="en-US" sz="1200" dirty="0"/>
          </a:p>
        </p:txBody>
      </p:sp>
      <p:sp>
        <p:nvSpPr>
          <p:cNvPr id="17" name="Text 15"/>
          <p:cNvSpPr/>
          <p:nvPr/>
        </p:nvSpPr>
        <p:spPr>
          <a:xfrm>
            <a:off x="822960" y="3657600"/>
            <a:ext cx="5029200" cy="320040"/>
          </a:xfrm>
          <a:prstGeom prst="rect">
            <a:avLst/>
          </a:prstGeom>
          <a:noFill/>
          <a:ln/>
        </p:spPr>
        <p:txBody>
          <a:bodyPr wrap="square" lIns="0" tIns="0" rIns="0" bIns="0" rtlCol="0" anchor="ctr"/>
          <a:lstStyle/>
          <a:p>
            <a:pPr algn="l" indent="0" marL="0">
              <a:buNone/>
            </a:pPr>
            <a:r>
              <a:rPr lang="en-US" sz="1300" b="1" dirty="0">
                <a:solidFill>
                  <a:srgbClr val="1E2761"/>
                </a:solidFill>
                <a:latin typeface="Calibri" pitchFamily="34" charset="0"/>
                <a:ea typeface="Calibri" pitchFamily="34" charset="-122"/>
                <a:cs typeface="Calibri" pitchFamily="34" charset="-120"/>
              </a:rPr>
              <a:t>Content + SEO Authority</a:t>
            </a:r>
            <a:endParaRPr lang="en-US" sz="1300" dirty="0"/>
          </a:p>
        </p:txBody>
      </p:sp>
      <p:sp>
        <p:nvSpPr>
          <p:cNvPr id="18" name="Text 16"/>
          <p:cNvSpPr/>
          <p:nvPr/>
        </p:nvSpPr>
        <p:spPr>
          <a:xfrm>
            <a:off x="5943600" y="3685032"/>
            <a:ext cx="2743200" cy="256032"/>
          </a:xfrm>
          <a:prstGeom prst="rect">
            <a:avLst/>
          </a:prstGeom>
          <a:noFill/>
          <a:ln/>
        </p:spPr>
        <p:txBody>
          <a:bodyPr wrap="square" lIns="0" tIns="0" rIns="0" bIns="0" rtlCol="0" anchor="ctr"/>
          <a:lstStyle/>
          <a:p>
            <a:pPr algn="r" indent="0" marL="0">
              <a:buNone/>
            </a:pPr>
            <a:r>
              <a:rPr lang="en-US" sz="1000" b="1" dirty="0">
                <a:solidFill>
                  <a:srgbClr val="3A6EDC"/>
                </a:solidFill>
                <a:latin typeface="Calibri" pitchFamily="34" charset="0"/>
                <a:ea typeface="Calibri" pitchFamily="34" charset="-122"/>
                <a:cs typeface="Calibri" pitchFamily="34" charset="-120"/>
              </a:rPr>
              <a:t>Q2 2026 launch</a:t>
            </a:r>
            <a:endParaRPr lang="en-US" sz="1000" dirty="0"/>
          </a:p>
        </p:txBody>
      </p:sp>
      <p:sp>
        <p:nvSpPr>
          <p:cNvPr id="19" name="Text 17"/>
          <p:cNvSpPr/>
          <p:nvPr/>
        </p:nvSpPr>
        <p:spPr>
          <a:xfrm>
            <a:off x="822960" y="3986784"/>
            <a:ext cx="7955280" cy="777240"/>
          </a:xfrm>
          <a:prstGeom prst="rect">
            <a:avLst/>
          </a:prstGeom>
          <a:noFill/>
          <a:ln/>
        </p:spPr>
        <p:txBody>
          <a:bodyPr wrap="square" lIns="0" tIns="0" rIns="0" bIns="0" rtlCol="0" anchor="ctr"/>
          <a:lstStyle/>
          <a:p>
            <a:pPr algn="l" indent="0" marL="0">
              <a:buNone/>
            </a:pPr>
            <a:r>
              <a:rPr lang="en-US" sz="1000" dirty="0">
                <a:solidFill>
                  <a:srgbClr val="445577"/>
                </a:solidFill>
                <a:latin typeface="Calibri" pitchFamily="34" charset="0"/>
                <a:ea typeface="Calibri" pitchFamily="34" charset="-122"/>
                <a:cs typeface="Calibri" pitchFamily="34" charset="-120"/>
              </a:rPr>
              <a:t>Long-form content targeting "how to build a pitch deck," "investor update templates," and "startup valuation calculator" — all high-intent search terms with weak competition. Compounds over 6–12 months.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FINANCIAL PROJECTIONS</a:t>
            </a:r>
            <a:endParaRPr lang="en-US" sz="800" dirty="0"/>
          </a:p>
        </p:txBody>
      </p:sp>
      <p:sp>
        <p:nvSpPr>
          <p:cNvPr id="3" name="Shape 1"/>
          <p:cNvSpPr/>
          <p:nvPr/>
        </p:nvSpPr>
        <p:spPr>
          <a:xfrm>
            <a:off x="502920" y="347472"/>
            <a:ext cx="36576" cy="502920"/>
          </a:xfrm>
          <a:prstGeom prst="rect">
            <a:avLst/>
          </a:prstGeom>
          <a:solidFill>
            <a:srgbClr val="02C39A"/>
          </a:solidFill>
          <a:ln w="12700">
            <a:solidFill>
              <a:srgbClr val="02C39A"/>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Strong Foundation. Clear Path to Scale.</a:t>
            </a:r>
            <a:endParaRPr lang="en-US" sz="2800" dirty="0"/>
          </a:p>
        </p:txBody>
      </p:sp>
      <p:graphicFrame>
        <p:nvGraphicFramePr>
          <p:cNvPr id="5" name="Chart 0" descr=""/>
          <p:cNvGraphicFramePr/>
          <p:nvPr/>
        </p:nvGraphicFramePr>
        <p:xfrm>
          <a:off x="457200" y="960120"/>
          <a:ext cx="530352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57200" y="3931920"/>
            <a:ext cx="5303520" cy="228600"/>
          </a:xfrm>
          <a:prstGeom prst="rect">
            <a:avLst/>
          </a:prstGeom>
          <a:noFill/>
          <a:ln/>
        </p:spPr>
        <p:txBody>
          <a:bodyPr wrap="square" lIns="0" tIns="0" rIns="0" bIns="0" rtlCol="0" anchor="ctr"/>
          <a:lstStyle/>
          <a:p>
            <a:pPr algn="ctr" indent="0" marL="0">
              <a:buNone/>
            </a:pPr>
            <a:r>
              <a:rPr lang="en-US" sz="850" dirty="0">
                <a:solidFill>
                  <a:srgbClr val="8899CC"/>
                </a:solidFill>
                <a:latin typeface="Calibri" pitchFamily="34" charset="0"/>
                <a:ea typeface="Calibri" pitchFamily="34" charset="-122"/>
                <a:cs typeface="Calibri" pitchFamily="34" charset="-120"/>
              </a:rPr>
              <a:t>ARR Trajectory (thousands)</a:t>
            </a:r>
            <a:endParaRPr lang="en-US" sz="850" dirty="0"/>
          </a:p>
        </p:txBody>
      </p:sp>
      <p:sp>
        <p:nvSpPr>
          <p:cNvPr id="7" name="Shape 4"/>
          <p:cNvSpPr/>
          <p:nvPr/>
        </p:nvSpPr>
        <p:spPr>
          <a:xfrm>
            <a:off x="6080760" y="1097280"/>
            <a:ext cx="2651760" cy="777240"/>
          </a:xfrm>
          <a:prstGeom prst="rect">
            <a:avLst/>
          </a:prstGeom>
          <a:solidFill>
            <a:srgbClr val="1A2260"/>
          </a:solidFill>
          <a:ln w="9525">
            <a:solidFill>
              <a:srgbClr val="334488"/>
            </a:solidFill>
            <a:prstDash val="solid"/>
          </a:ln>
        </p:spPr>
      </p:sp>
      <p:sp>
        <p:nvSpPr>
          <p:cNvPr id="8" name="Text 5"/>
          <p:cNvSpPr/>
          <p:nvPr/>
        </p:nvSpPr>
        <p:spPr>
          <a:xfrm>
            <a:off x="6126480" y="1152144"/>
            <a:ext cx="2560320" cy="384048"/>
          </a:xfrm>
          <a:prstGeom prst="rect">
            <a:avLst/>
          </a:prstGeom>
          <a:noFill/>
          <a:ln/>
        </p:spPr>
        <p:txBody>
          <a:bodyPr wrap="square" lIns="0" tIns="0" rIns="0" bIns="0" rtlCol="0" anchor="ctr"/>
          <a:lstStyle/>
          <a:p>
            <a:pPr algn="ctr" indent="0" marL="0">
              <a:buNone/>
            </a:pPr>
            <a:r>
              <a:rPr lang="en-US" sz="2000" b="1" dirty="0">
                <a:solidFill>
                  <a:srgbClr val="02C39A"/>
                </a:solidFill>
                <a:latin typeface="Georgia" pitchFamily="34" charset="0"/>
                <a:ea typeface="Georgia" pitchFamily="34" charset="-122"/>
                <a:cs typeface="Georgia" pitchFamily="34" charset="-120"/>
              </a:rPr>
              <a:t>Pre-Rev</a:t>
            </a:r>
            <a:endParaRPr lang="en-US" sz="2000" dirty="0"/>
          </a:p>
        </p:txBody>
      </p:sp>
      <p:sp>
        <p:nvSpPr>
          <p:cNvPr id="9" name="Text 6"/>
          <p:cNvSpPr/>
          <p:nvPr/>
        </p:nvSpPr>
        <p:spPr>
          <a:xfrm>
            <a:off x="6126480" y="1536192"/>
            <a:ext cx="2560320" cy="2286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Launch: Q2 2026</a:t>
            </a:r>
            <a:endParaRPr lang="en-US" sz="950" dirty="0"/>
          </a:p>
        </p:txBody>
      </p:sp>
      <p:sp>
        <p:nvSpPr>
          <p:cNvPr id="10" name="Shape 7"/>
          <p:cNvSpPr/>
          <p:nvPr/>
        </p:nvSpPr>
        <p:spPr>
          <a:xfrm>
            <a:off x="6080760" y="2057400"/>
            <a:ext cx="2651760" cy="777240"/>
          </a:xfrm>
          <a:prstGeom prst="rect">
            <a:avLst/>
          </a:prstGeom>
          <a:solidFill>
            <a:srgbClr val="1A2260"/>
          </a:solidFill>
          <a:ln w="9525">
            <a:solidFill>
              <a:srgbClr val="334488"/>
            </a:solidFill>
            <a:prstDash val="solid"/>
          </a:ln>
        </p:spPr>
      </p:sp>
      <p:sp>
        <p:nvSpPr>
          <p:cNvPr id="11" name="Text 8"/>
          <p:cNvSpPr/>
          <p:nvPr/>
        </p:nvSpPr>
        <p:spPr>
          <a:xfrm>
            <a:off x="6126480" y="2112264"/>
            <a:ext cx="2560320" cy="384048"/>
          </a:xfrm>
          <a:prstGeom prst="rect">
            <a:avLst/>
          </a:prstGeom>
          <a:noFill/>
          <a:ln/>
        </p:spPr>
        <p:txBody>
          <a:bodyPr wrap="square" lIns="0" tIns="0" rIns="0" bIns="0" rtlCol="0" anchor="ctr"/>
          <a:lstStyle/>
          <a:p>
            <a:pPr algn="ctr" indent="0" marL="0">
              <a:buNone/>
            </a:pPr>
            <a:r>
              <a:rPr lang="en-US" sz="2000" b="1" dirty="0">
                <a:solidFill>
                  <a:srgbClr val="02C39A"/>
                </a:solidFill>
                <a:latin typeface="Georgia" pitchFamily="34" charset="0"/>
                <a:ea typeface="Georgia" pitchFamily="34" charset="-122"/>
                <a:cs typeface="Georgia" pitchFamily="34" charset="-120"/>
              </a:rPr>
              <a:t>16 mo</a:t>
            </a:r>
            <a:endParaRPr lang="en-US" sz="2000" dirty="0"/>
          </a:p>
        </p:txBody>
      </p:sp>
      <p:sp>
        <p:nvSpPr>
          <p:cNvPr id="12" name="Text 9"/>
          <p:cNvSpPr/>
          <p:nvPr/>
        </p:nvSpPr>
        <p:spPr>
          <a:xfrm>
            <a:off x="6126480" y="2496312"/>
            <a:ext cx="2560320" cy="2286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Current Runway</a:t>
            </a:r>
            <a:endParaRPr lang="en-US" sz="950" dirty="0"/>
          </a:p>
        </p:txBody>
      </p:sp>
      <p:sp>
        <p:nvSpPr>
          <p:cNvPr id="13" name="Shape 10"/>
          <p:cNvSpPr/>
          <p:nvPr/>
        </p:nvSpPr>
        <p:spPr>
          <a:xfrm>
            <a:off x="6080760" y="3017520"/>
            <a:ext cx="2651760" cy="777240"/>
          </a:xfrm>
          <a:prstGeom prst="rect">
            <a:avLst/>
          </a:prstGeom>
          <a:solidFill>
            <a:srgbClr val="1A2260"/>
          </a:solidFill>
          <a:ln w="9525">
            <a:solidFill>
              <a:srgbClr val="334488"/>
            </a:solidFill>
            <a:prstDash val="solid"/>
          </a:ln>
        </p:spPr>
      </p:sp>
      <p:sp>
        <p:nvSpPr>
          <p:cNvPr id="14" name="Text 11"/>
          <p:cNvSpPr/>
          <p:nvPr/>
        </p:nvSpPr>
        <p:spPr>
          <a:xfrm>
            <a:off x="6126480" y="3072384"/>
            <a:ext cx="2560320" cy="384048"/>
          </a:xfrm>
          <a:prstGeom prst="rect">
            <a:avLst/>
          </a:prstGeom>
          <a:noFill/>
          <a:ln/>
        </p:spPr>
        <p:txBody>
          <a:bodyPr wrap="square" lIns="0" tIns="0" rIns="0" bIns="0" rtlCol="0" anchor="ctr"/>
          <a:lstStyle/>
          <a:p>
            <a:pPr algn="ctr" indent="0" marL="0">
              <a:buNone/>
            </a:pPr>
            <a:r>
              <a:rPr lang="en-US" sz="2000" b="1" dirty="0">
                <a:solidFill>
                  <a:srgbClr val="02C39A"/>
                </a:solidFill>
                <a:latin typeface="Georgia" pitchFamily="34" charset="0"/>
                <a:ea typeface="Georgia" pitchFamily="34" charset="-122"/>
                <a:cs typeface="Georgia" pitchFamily="34" charset="-120"/>
              </a:rPr>
              <a:t>85%+</a:t>
            </a:r>
            <a:endParaRPr lang="en-US" sz="2000" dirty="0"/>
          </a:p>
        </p:txBody>
      </p:sp>
      <p:sp>
        <p:nvSpPr>
          <p:cNvPr id="15" name="Text 12"/>
          <p:cNvSpPr/>
          <p:nvPr/>
        </p:nvSpPr>
        <p:spPr>
          <a:xfrm>
            <a:off x="6126480" y="3456432"/>
            <a:ext cx="2560320" cy="2286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Proj. Gross Margin</a:t>
            </a:r>
            <a:endParaRPr lang="en-US" sz="950" dirty="0"/>
          </a:p>
        </p:txBody>
      </p:sp>
      <p:sp>
        <p:nvSpPr>
          <p:cNvPr id="16" name="Shape 13"/>
          <p:cNvSpPr/>
          <p:nvPr/>
        </p:nvSpPr>
        <p:spPr>
          <a:xfrm>
            <a:off x="6080760" y="3977640"/>
            <a:ext cx="2651760" cy="777240"/>
          </a:xfrm>
          <a:prstGeom prst="rect">
            <a:avLst/>
          </a:prstGeom>
          <a:solidFill>
            <a:srgbClr val="1A2260"/>
          </a:solidFill>
          <a:ln w="9525">
            <a:solidFill>
              <a:srgbClr val="334488"/>
            </a:solidFill>
            <a:prstDash val="solid"/>
          </a:ln>
        </p:spPr>
      </p:sp>
      <p:sp>
        <p:nvSpPr>
          <p:cNvPr id="17" name="Text 14"/>
          <p:cNvSpPr/>
          <p:nvPr/>
        </p:nvSpPr>
        <p:spPr>
          <a:xfrm>
            <a:off x="6126480" y="4032504"/>
            <a:ext cx="2560320" cy="384048"/>
          </a:xfrm>
          <a:prstGeom prst="rect">
            <a:avLst/>
          </a:prstGeom>
          <a:noFill/>
          <a:ln/>
        </p:spPr>
        <p:txBody>
          <a:bodyPr wrap="square" lIns="0" tIns="0" rIns="0" bIns="0" rtlCol="0" anchor="ctr"/>
          <a:lstStyle/>
          <a:p>
            <a:pPr algn="ctr" indent="0" marL="0">
              <a:buNone/>
            </a:pPr>
            <a:r>
              <a:rPr lang="en-US" sz="2000" b="1" dirty="0">
                <a:solidFill>
                  <a:srgbClr val="02C39A"/>
                </a:solidFill>
                <a:latin typeface="Georgia" pitchFamily="34" charset="0"/>
                <a:ea typeface="Georgia" pitchFamily="34" charset="-122"/>
                <a:cs typeface="Georgia" pitchFamily="34" charset="-120"/>
              </a:rPr>
              <a:t>$50K MRR</a:t>
            </a:r>
            <a:endParaRPr lang="en-US" sz="2000" dirty="0"/>
          </a:p>
        </p:txBody>
      </p:sp>
      <p:sp>
        <p:nvSpPr>
          <p:cNvPr id="18" name="Text 15"/>
          <p:cNvSpPr/>
          <p:nvPr/>
        </p:nvSpPr>
        <p:spPr>
          <a:xfrm>
            <a:off x="6126480" y="4416552"/>
            <a:ext cx="2560320" cy="22860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12-month target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F"/>
        </a:solidFill>
      </p:bgPr>
    </p:bg>
    <p:spTree>
      <p:nvGrpSpPr>
        <p:cNvPr id="1" name=""/>
        <p:cNvGrpSpPr/>
        <p:nvPr/>
      </p:nvGrpSpPr>
      <p:grpSpPr>
        <a:xfrm>
          <a:off x="0" y="0"/>
          <a:ext cx="0" cy="0"/>
          <a:chOff x="0" y="0"/>
          <a:chExt cx="0" cy="0"/>
        </a:xfrm>
      </p:grpSpPr>
      <p:sp>
        <p:nvSpPr>
          <p:cNvPr id="2" name="Text 0"/>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3A6EDC"/>
                </a:solidFill>
                <a:latin typeface="Calibri" pitchFamily="34" charset="0"/>
                <a:ea typeface="Calibri" pitchFamily="34" charset="-122"/>
                <a:cs typeface="Calibri" pitchFamily="34" charset="-120"/>
              </a:rPr>
              <a:t>THE TEAM</a:t>
            </a:r>
            <a:endParaRPr lang="en-US" sz="800" dirty="0"/>
          </a:p>
        </p:txBody>
      </p:sp>
      <p:sp>
        <p:nvSpPr>
          <p:cNvPr id="3" name="Shape 1"/>
          <p:cNvSpPr/>
          <p:nvPr/>
        </p:nvSpPr>
        <p:spPr>
          <a:xfrm>
            <a:off x="502920" y="347472"/>
            <a:ext cx="36576" cy="502920"/>
          </a:xfrm>
          <a:prstGeom prst="rect">
            <a:avLst/>
          </a:prstGeom>
          <a:solidFill>
            <a:srgbClr val="3A6EDC"/>
          </a:solidFill>
          <a:ln w="12700">
            <a:solidFill>
              <a:srgbClr val="3A6EDC"/>
            </a:solidFill>
            <a:prstDash val="solid"/>
          </a:ln>
        </p:spPr>
      </p:sp>
      <p:sp>
        <p:nvSpPr>
          <p:cNvPr id="4" name="Text 2"/>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Georgia" pitchFamily="34" charset="0"/>
                <a:ea typeface="Georgia" pitchFamily="34" charset="-122"/>
                <a:cs typeface="Georgia" pitchFamily="34" charset="-120"/>
              </a:rPr>
              <a:t>Built by Founders Who Lived the Problem</a:t>
            </a:r>
            <a:endParaRPr lang="en-US" sz="2800" dirty="0"/>
          </a:p>
        </p:txBody>
      </p:sp>
      <p:sp>
        <p:nvSpPr>
          <p:cNvPr id="5" name="Shape 3"/>
          <p:cNvSpPr/>
          <p:nvPr/>
        </p:nvSpPr>
        <p:spPr>
          <a:xfrm>
            <a:off x="502920" y="1005840"/>
            <a:ext cx="3931920" cy="3749040"/>
          </a:xfrm>
          <a:prstGeom prst="rect">
            <a:avLst/>
          </a:prstGeom>
          <a:solidFill>
            <a:srgbClr val="FFFFFF"/>
          </a:solidFill>
          <a:ln w="9525">
            <a:solidFill>
              <a:srgbClr val="D0DBFF"/>
            </a:solidFill>
            <a:prstDash val="solid"/>
          </a:ln>
          <a:effectLst>
            <a:outerShdw sx="100000" sy="100000" kx="0" ky="0" algn="bl" rotWithShape="0" blurRad="152400" dist="25400" dir="8100000">
              <a:srgbClr val="001040">
                <a:alpha val="8000"/>
              </a:srgbClr>
            </a:outerShdw>
          </a:effectLst>
        </p:spPr>
      </p:sp>
      <p:sp>
        <p:nvSpPr>
          <p:cNvPr id="6" name="Shape 4"/>
          <p:cNvSpPr/>
          <p:nvPr/>
        </p:nvSpPr>
        <p:spPr>
          <a:xfrm>
            <a:off x="502920" y="1005840"/>
            <a:ext cx="3931920" cy="50292"/>
          </a:xfrm>
          <a:prstGeom prst="rect">
            <a:avLst/>
          </a:prstGeom>
          <a:solidFill>
            <a:srgbClr val="3A6EDC"/>
          </a:solidFill>
          <a:ln w="12700">
            <a:solidFill>
              <a:srgbClr val="3A6EDC"/>
            </a:solidFill>
            <a:prstDash val="solid"/>
          </a:ln>
        </p:spPr>
      </p:sp>
      <p:sp>
        <p:nvSpPr>
          <p:cNvPr id="7" name="Shape 5"/>
          <p:cNvSpPr/>
          <p:nvPr/>
        </p:nvSpPr>
        <p:spPr>
          <a:xfrm>
            <a:off x="1920240" y="1097280"/>
            <a:ext cx="1097280" cy="1097280"/>
          </a:xfrm>
          <a:prstGeom prst="ellipse">
            <a:avLst/>
          </a:prstGeom>
          <a:solidFill>
            <a:srgbClr val="E8EEFF"/>
          </a:solidFill>
          <a:ln w="19050">
            <a:solidFill>
              <a:srgbClr val="C0CCFF"/>
            </a:solidFill>
            <a:prstDash val="solid"/>
          </a:ln>
        </p:spPr>
      </p:sp>
      <p:sp>
        <p:nvSpPr>
          <p:cNvPr id="8" name="Text 6"/>
          <p:cNvSpPr/>
          <p:nvPr/>
        </p:nvSpPr>
        <p:spPr>
          <a:xfrm>
            <a:off x="1920240" y="1097280"/>
            <a:ext cx="1097280" cy="1097280"/>
          </a:xfrm>
          <a:prstGeom prst="rect">
            <a:avLst/>
          </a:prstGeom>
          <a:noFill/>
          <a:ln/>
        </p:spPr>
        <p:txBody>
          <a:bodyPr wrap="square" lIns="0" tIns="0" rIns="0" bIns="0" rtlCol="0" anchor="ctr"/>
          <a:lstStyle/>
          <a:p>
            <a:pPr algn="ctr" indent="0" marL="0">
              <a:buNone/>
            </a:pPr>
            <a:r>
              <a:rPr lang="en-US" sz="3600" b="1" dirty="0">
                <a:solidFill>
                  <a:srgbClr val="3A6EDC"/>
                </a:solidFill>
                <a:latin typeface="Georgia" pitchFamily="34" charset="0"/>
                <a:ea typeface="Georgia" pitchFamily="34" charset="-122"/>
                <a:cs typeface="Georgia" pitchFamily="34" charset="-120"/>
              </a:rPr>
              <a:t>N</a:t>
            </a:r>
            <a:endParaRPr lang="en-US" sz="3600" dirty="0"/>
          </a:p>
        </p:txBody>
      </p:sp>
      <p:sp>
        <p:nvSpPr>
          <p:cNvPr id="9" name="Text 7"/>
          <p:cNvSpPr/>
          <p:nvPr/>
        </p:nvSpPr>
        <p:spPr>
          <a:xfrm>
            <a:off x="685800" y="2359152"/>
            <a:ext cx="3566160"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Ness Gelman</a:t>
            </a:r>
            <a:endParaRPr lang="en-US" sz="1600" dirty="0"/>
          </a:p>
        </p:txBody>
      </p:sp>
      <p:sp>
        <p:nvSpPr>
          <p:cNvPr id="10" name="Text 8"/>
          <p:cNvSpPr/>
          <p:nvPr/>
        </p:nvSpPr>
        <p:spPr>
          <a:xfrm>
            <a:off x="685800" y="2706624"/>
            <a:ext cx="3566160" cy="256032"/>
          </a:xfrm>
          <a:prstGeom prst="rect">
            <a:avLst/>
          </a:prstGeom>
          <a:noFill/>
          <a:ln/>
        </p:spPr>
        <p:txBody>
          <a:bodyPr wrap="square" lIns="0" tIns="0" rIns="0" bIns="0" rtlCol="0" anchor="ctr"/>
          <a:lstStyle/>
          <a:p>
            <a:pPr algn="ctr" indent="0" marL="0">
              <a:buNone/>
            </a:pPr>
            <a:r>
              <a:rPr lang="en-US" sz="1050" b="1" dirty="0">
                <a:solidFill>
                  <a:srgbClr val="3A6EDC"/>
                </a:solidFill>
                <a:latin typeface="Calibri" pitchFamily="34" charset="0"/>
                <a:ea typeface="Calibri" pitchFamily="34" charset="-122"/>
                <a:cs typeface="Calibri" pitchFamily="34" charset="-120"/>
              </a:rPr>
              <a:t>Founder &amp; Product Lead</a:t>
            </a:r>
            <a:endParaRPr lang="en-US" sz="1050" dirty="0"/>
          </a:p>
        </p:txBody>
      </p:sp>
      <p:sp>
        <p:nvSpPr>
          <p:cNvPr id="11" name="Text 9"/>
          <p:cNvSpPr/>
          <p:nvPr/>
        </p:nvSpPr>
        <p:spPr>
          <a:xfrm>
            <a:off x="685800" y="3017520"/>
            <a:ext cx="3566160" cy="1188720"/>
          </a:xfrm>
          <a:prstGeom prst="rect">
            <a:avLst/>
          </a:prstGeom>
          <a:noFill/>
          <a:ln/>
        </p:spPr>
        <p:txBody>
          <a:bodyPr wrap="square" lIns="0" tIns="0" rIns="0" bIns="0" rtlCol="0" anchor="ctr"/>
          <a:lstStyle/>
          <a:p>
            <a:pPr algn="l" indent="0" marL="0">
              <a:buNone/>
            </a:pPr>
            <a:r>
              <a:rPr lang="en-US" sz="950" dirty="0">
                <a:solidFill>
                  <a:srgbClr val="445577"/>
                </a:solidFill>
                <a:latin typeface="Calibri" pitchFamily="34" charset="0"/>
                <a:ea typeface="Calibri" pitchFamily="34" charset="-122"/>
                <a:cs typeface="Calibri" pitchFamily="34" charset="-120"/>
              </a:rPr>
              <a:t>Experienced building data tools for B2B companies. Lived the fundraising preparation nightmare firsthand, then spent 18 months designing the solution. Drives product vision, user research, and day-to-day execution.</a:t>
            </a:r>
            <a:endParaRPr lang="en-US" sz="950" dirty="0"/>
          </a:p>
        </p:txBody>
      </p:sp>
      <p:sp>
        <p:nvSpPr>
          <p:cNvPr id="12" name="Shape 10"/>
          <p:cNvSpPr/>
          <p:nvPr/>
        </p:nvSpPr>
        <p:spPr>
          <a:xfrm>
            <a:off x="685800" y="4315968"/>
            <a:ext cx="3566160" cy="274320"/>
          </a:xfrm>
          <a:prstGeom prst="rect">
            <a:avLst/>
          </a:prstGeom>
          <a:solidFill>
            <a:srgbClr val="EEF2FF"/>
          </a:solidFill>
          <a:ln w="12700">
            <a:solidFill>
              <a:srgbClr val="C0CCFF"/>
            </a:solidFill>
            <a:prstDash val="solid"/>
          </a:ln>
        </p:spPr>
      </p:sp>
      <p:sp>
        <p:nvSpPr>
          <p:cNvPr id="13" name="Text 11"/>
          <p:cNvSpPr/>
          <p:nvPr/>
        </p:nvSpPr>
        <p:spPr>
          <a:xfrm>
            <a:off x="685800" y="4315968"/>
            <a:ext cx="3566160" cy="274320"/>
          </a:xfrm>
          <a:prstGeom prst="rect">
            <a:avLst/>
          </a:prstGeom>
          <a:noFill/>
          <a:ln/>
        </p:spPr>
        <p:txBody>
          <a:bodyPr wrap="square" lIns="0" tIns="0" rIns="0" bIns="0" rtlCol="0" anchor="ctr"/>
          <a:lstStyle/>
          <a:p>
            <a:pPr algn="ctr" indent="0" marL="0">
              <a:buNone/>
            </a:pPr>
            <a:r>
              <a:rPr lang="en-US" sz="850" spc="50" kern="0" dirty="0">
                <a:solidFill>
                  <a:srgbClr val="3A6EDC"/>
                </a:solidFill>
                <a:latin typeface="Calibri" pitchFamily="34" charset="0"/>
                <a:ea typeface="Calibri" pitchFamily="34" charset="-122"/>
                <a:cs typeface="Calibri" pitchFamily="34" charset="-120"/>
              </a:rPr>
              <a:t>Product · Design · Strategy</a:t>
            </a:r>
            <a:endParaRPr lang="en-US" sz="850" dirty="0"/>
          </a:p>
        </p:txBody>
      </p:sp>
      <p:sp>
        <p:nvSpPr>
          <p:cNvPr id="14" name="Shape 12"/>
          <p:cNvSpPr/>
          <p:nvPr/>
        </p:nvSpPr>
        <p:spPr>
          <a:xfrm>
            <a:off x="4709160" y="1005840"/>
            <a:ext cx="3931920" cy="3749040"/>
          </a:xfrm>
          <a:prstGeom prst="rect">
            <a:avLst/>
          </a:prstGeom>
          <a:solidFill>
            <a:srgbClr val="FFFFFF"/>
          </a:solidFill>
          <a:ln w="9525">
            <a:solidFill>
              <a:srgbClr val="D0DBFF"/>
            </a:solidFill>
            <a:prstDash val="solid"/>
          </a:ln>
          <a:effectLst>
            <a:outerShdw sx="100000" sy="100000" kx="0" ky="0" algn="bl" rotWithShape="0" blurRad="152400" dist="25400" dir="8100000">
              <a:srgbClr val="001040">
                <a:alpha val="8000"/>
              </a:srgbClr>
            </a:outerShdw>
          </a:effectLst>
        </p:spPr>
      </p:sp>
      <p:sp>
        <p:nvSpPr>
          <p:cNvPr id="15" name="Shape 13"/>
          <p:cNvSpPr/>
          <p:nvPr/>
        </p:nvSpPr>
        <p:spPr>
          <a:xfrm>
            <a:off x="4709160" y="1005840"/>
            <a:ext cx="3931920" cy="50292"/>
          </a:xfrm>
          <a:prstGeom prst="rect">
            <a:avLst/>
          </a:prstGeom>
          <a:solidFill>
            <a:srgbClr val="3A6EDC"/>
          </a:solidFill>
          <a:ln w="12700">
            <a:solidFill>
              <a:srgbClr val="3A6EDC"/>
            </a:solidFill>
            <a:prstDash val="solid"/>
          </a:ln>
        </p:spPr>
      </p:sp>
      <p:sp>
        <p:nvSpPr>
          <p:cNvPr id="16" name="Shape 14"/>
          <p:cNvSpPr/>
          <p:nvPr/>
        </p:nvSpPr>
        <p:spPr>
          <a:xfrm>
            <a:off x="6126480" y="1097280"/>
            <a:ext cx="1097280" cy="1097280"/>
          </a:xfrm>
          <a:prstGeom prst="ellipse">
            <a:avLst/>
          </a:prstGeom>
          <a:solidFill>
            <a:srgbClr val="E8EEFF"/>
          </a:solidFill>
          <a:ln w="19050">
            <a:solidFill>
              <a:srgbClr val="C0CCFF"/>
            </a:solidFill>
            <a:prstDash val="solid"/>
          </a:ln>
        </p:spPr>
      </p:sp>
      <p:sp>
        <p:nvSpPr>
          <p:cNvPr id="17" name="Text 15"/>
          <p:cNvSpPr/>
          <p:nvPr/>
        </p:nvSpPr>
        <p:spPr>
          <a:xfrm>
            <a:off x="6126480" y="1097280"/>
            <a:ext cx="1097280" cy="1097280"/>
          </a:xfrm>
          <a:prstGeom prst="rect">
            <a:avLst/>
          </a:prstGeom>
          <a:noFill/>
          <a:ln/>
        </p:spPr>
        <p:txBody>
          <a:bodyPr wrap="square" lIns="0" tIns="0" rIns="0" bIns="0" rtlCol="0" anchor="ctr"/>
          <a:lstStyle/>
          <a:p>
            <a:pPr algn="ctr" indent="0" marL="0">
              <a:buNone/>
            </a:pPr>
            <a:r>
              <a:rPr lang="en-US" sz="3600" b="1" dirty="0">
                <a:solidFill>
                  <a:srgbClr val="3A6EDC"/>
                </a:solidFill>
                <a:latin typeface="Georgia" pitchFamily="34" charset="0"/>
                <a:ea typeface="Georgia" pitchFamily="34" charset="-122"/>
                <a:cs typeface="Georgia" pitchFamily="34" charset="-120"/>
              </a:rPr>
              <a:t>J</a:t>
            </a:r>
            <a:endParaRPr lang="en-US" sz="3600" dirty="0"/>
          </a:p>
        </p:txBody>
      </p:sp>
      <p:sp>
        <p:nvSpPr>
          <p:cNvPr id="18" name="Text 16"/>
          <p:cNvSpPr/>
          <p:nvPr/>
        </p:nvSpPr>
        <p:spPr>
          <a:xfrm>
            <a:off x="4892040" y="2359152"/>
            <a:ext cx="3566160" cy="347472"/>
          </a:xfrm>
          <a:prstGeom prst="rect">
            <a:avLst/>
          </a:prstGeom>
          <a:noFill/>
          <a:ln/>
        </p:spPr>
        <p:txBody>
          <a:bodyPr wrap="square" lIns="0" tIns="0" rIns="0" bIns="0"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Joseph</a:t>
            </a:r>
            <a:endParaRPr lang="en-US" sz="1600" dirty="0"/>
          </a:p>
        </p:txBody>
      </p:sp>
      <p:sp>
        <p:nvSpPr>
          <p:cNvPr id="19" name="Text 17"/>
          <p:cNvSpPr/>
          <p:nvPr/>
        </p:nvSpPr>
        <p:spPr>
          <a:xfrm>
            <a:off x="4892040" y="2706624"/>
            <a:ext cx="3566160" cy="256032"/>
          </a:xfrm>
          <a:prstGeom prst="rect">
            <a:avLst/>
          </a:prstGeom>
          <a:noFill/>
          <a:ln/>
        </p:spPr>
        <p:txBody>
          <a:bodyPr wrap="square" lIns="0" tIns="0" rIns="0" bIns="0" rtlCol="0" anchor="ctr"/>
          <a:lstStyle/>
          <a:p>
            <a:pPr algn="ctr" indent="0" marL="0">
              <a:buNone/>
            </a:pPr>
            <a:r>
              <a:rPr lang="en-US" sz="1050" b="1" dirty="0">
                <a:solidFill>
                  <a:srgbClr val="3A6EDC"/>
                </a:solidFill>
                <a:latin typeface="Calibri" pitchFamily="34" charset="0"/>
                <a:ea typeface="Calibri" pitchFamily="34" charset="-122"/>
                <a:cs typeface="Calibri" pitchFamily="34" charset="-120"/>
              </a:rPr>
              <a:t>Co-Founder &amp; Growth</a:t>
            </a:r>
            <a:endParaRPr lang="en-US" sz="1050" dirty="0"/>
          </a:p>
        </p:txBody>
      </p:sp>
      <p:sp>
        <p:nvSpPr>
          <p:cNvPr id="20" name="Text 18"/>
          <p:cNvSpPr/>
          <p:nvPr/>
        </p:nvSpPr>
        <p:spPr>
          <a:xfrm>
            <a:off x="4892040" y="3017520"/>
            <a:ext cx="3566160" cy="1188720"/>
          </a:xfrm>
          <a:prstGeom prst="rect">
            <a:avLst/>
          </a:prstGeom>
          <a:noFill/>
          <a:ln/>
        </p:spPr>
        <p:txBody>
          <a:bodyPr wrap="square" lIns="0" tIns="0" rIns="0" bIns="0" rtlCol="0" anchor="ctr"/>
          <a:lstStyle/>
          <a:p>
            <a:pPr algn="l" indent="0" marL="0">
              <a:buNone/>
            </a:pPr>
            <a:r>
              <a:rPr lang="en-US" sz="950" dirty="0">
                <a:solidFill>
                  <a:srgbClr val="445577"/>
                </a:solidFill>
                <a:latin typeface="Calibri" pitchFamily="34" charset="0"/>
                <a:ea typeface="Calibri" pitchFamily="34" charset="-122"/>
                <a:cs typeface="Calibri" pitchFamily="34" charset="-120"/>
              </a:rPr>
              <a:t>Brings deep expertise in go-to-market strategy and investor relations. Experienced at building distribution for early-stage B2B SaaS products and translating product value into compelling investor narratives.</a:t>
            </a:r>
            <a:endParaRPr lang="en-US" sz="950" dirty="0"/>
          </a:p>
        </p:txBody>
      </p:sp>
      <p:sp>
        <p:nvSpPr>
          <p:cNvPr id="21" name="Shape 19"/>
          <p:cNvSpPr/>
          <p:nvPr/>
        </p:nvSpPr>
        <p:spPr>
          <a:xfrm>
            <a:off x="4892040" y="4315968"/>
            <a:ext cx="3566160" cy="274320"/>
          </a:xfrm>
          <a:prstGeom prst="rect">
            <a:avLst/>
          </a:prstGeom>
          <a:solidFill>
            <a:srgbClr val="EEF2FF"/>
          </a:solidFill>
          <a:ln w="12700">
            <a:solidFill>
              <a:srgbClr val="C0CCFF"/>
            </a:solidFill>
            <a:prstDash val="solid"/>
          </a:ln>
        </p:spPr>
      </p:sp>
      <p:sp>
        <p:nvSpPr>
          <p:cNvPr id="22" name="Text 20"/>
          <p:cNvSpPr/>
          <p:nvPr/>
        </p:nvSpPr>
        <p:spPr>
          <a:xfrm>
            <a:off x="4892040" y="4315968"/>
            <a:ext cx="3566160" cy="274320"/>
          </a:xfrm>
          <a:prstGeom prst="rect">
            <a:avLst/>
          </a:prstGeom>
          <a:noFill/>
          <a:ln/>
        </p:spPr>
        <p:txBody>
          <a:bodyPr wrap="square" lIns="0" tIns="0" rIns="0" bIns="0" rtlCol="0" anchor="ctr"/>
          <a:lstStyle/>
          <a:p>
            <a:pPr algn="ctr" indent="0" marL="0">
              <a:buNone/>
            </a:pPr>
            <a:r>
              <a:rPr lang="en-US" sz="850" spc="50" kern="0" dirty="0">
                <a:solidFill>
                  <a:srgbClr val="3A6EDC"/>
                </a:solidFill>
                <a:latin typeface="Calibri" pitchFamily="34" charset="0"/>
                <a:ea typeface="Calibri" pitchFamily="34" charset="-122"/>
                <a:cs typeface="Calibri" pitchFamily="34" charset="-120"/>
              </a:rPr>
              <a:t>GTM · Investor Relations · Sales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C39A"/>
          </a:solidFill>
          <a:ln w="12700">
            <a:solidFill>
              <a:srgbClr val="02C39A"/>
            </a:solidFill>
            <a:prstDash val="solid"/>
          </a:ln>
        </p:spPr>
      </p:sp>
      <p:sp>
        <p:nvSpPr>
          <p:cNvPr id="3" name="Text 1"/>
          <p:cNvSpPr/>
          <p:nvPr/>
        </p:nvSpPr>
        <p:spPr>
          <a:xfrm>
            <a:off x="502920" y="109728"/>
            <a:ext cx="5486400" cy="201168"/>
          </a:xfrm>
          <a:prstGeom prst="rect">
            <a:avLst/>
          </a:prstGeom>
          <a:noFill/>
          <a:ln/>
        </p:spPr>
        <p:txBody>
          <a:bodyPr wrap="square" lIns="0" tIns="0" rIns="0" bIns="0" rtlCol="0" anchor="ctr"/>
          <a:lstStyle/>
          <a:p>
            <a:pPr algn="l" indent="0" marL="0">
              <a:buNone/>
            </a:pPr>
            <a:r>
              <a:rPr lang="en-US" sz="800" b="1" spc="300" kern="0" dirty="0">
                <a:solidFill>
                  <a:srgbClr val="CADCFC"/>
                </a:solidFill>
                <a:latin typeface="Calibri" pitchFamily="34" charset="0"/>
                <a:ea typeface="Calibri" pitchFamily="34" charset="-122"/>
                <a:cs typeface="Calibri" pitchFamily="34" charset="-120"/>
              </a:rPr>
              <a:t>THE ASK</a:t>
            </a:r>
            <a:endParaRPr lang="en-US" sz="800" dirty="0"/>
          </a:p>
        </p:txBody>
      </p:sp>
      <p:sp>
        <p:nvSpPr>
          <p:cNvPr id="4" name="Shape 2"/>
          <p:cNvSpPr/>
          <p:nvPr/>
        </p:nvSpPr>
        <p:spPr>
          <a:xfrm>
            <a:off x="502920" y="347472"/>
            <a:ext cx="36576" cy="502920"/>
          </a:xfrm>
          <a:prstGeom prst="rect">
            <a:avLst/>
          </a:prstGeom>
          <a:solidFill>
            <a:srgbClr val="02C39A"/>
          </a:solidFill>
          <a:ln w="12700">
            <a:solidFill>
              <a:srgbClr val="02C39A"/>
            </a:solidFill>
            <a:prstDash val="solid"/>
          </a:ln>
        </p:spPr>
      </p:sp>
      <p:sp>
        <p:nvSpPr>
          <p:cNvPr id="5" name="Text 3"/>
          <p:cNvSpPr/>
          <p:nvPr/>
        </p:nvSpPr>
        <p:spPr>
          <a:xfrm>
            <a:off x="594360" y="347472"/>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We're Raising $750K. Here's What It Unlocks.</a:t>
            </a:r>
            <a:endParaRPr lang="en-US" sz="2600" dirty="0"/>
          </a:p>
        </p:txBody>
      </p:sp>
      <p:sp>
        <p:nvSpPr>
          <p:cNvPr id="6" name="Shape 4"/>
          <p:cNvSpPr/>
          <p:nvPr/>
        </p:nvSpPr>
        <p:spPr>
          <a:xfrm>
            <a:off x="502920" y="987552"/>
            <a:ext cx="1993392" cy="868680"/>
          </a:xfrm>
          <a:prstGeom prst="rect">
            <a:avLst/>
          </a:prstGeom>
          <a:solidFill>
            <a:srgbClr val="1A2260"/>
          </a:solidFill>
          <a:ln w="9525">
            <a:solidFill>
              <a:srgbClr val="334488"/>
            </a:solidFill>
            <a:prstDash val="solid"/>
          </a:ln>
        </p:spPr>
      </p:sp>
      <p:sp>
        <p:nvSpPr>
          <p:cNvPr id="7" name="Text 5"/>
          <p:cNvSpPr/>
          <p:nvPr/>
        </p:nvSpPr>
        <p:spPr>
          <a:xfrm>
            <a:off x="502920" y="1024128"/>
            <a:ext cx="1993392" cy="438912"/>
          </a:xfrm>
          <a:prstGeom prst="rect">
            <a:avLst/>
          </a:prstGeom>
          <a:noFill/>
          <a:ln/>
        </p:spPr>
        <p:txBody>
          <a:bodyPr wrap="square" lIns="0" tIns="0" rIns="0" bIns="0" rtlCol="0" anchor="ctr"/>
          <a:lstStyle/>
          <a:p>
            <a:pPr algn="ctr" indent="0" marL="0">
              <a:buNone/>
            </a:pPr>
            <a:r>
              <a:rPr lang="en-US" sz="1600" b="1" dirty="0">
                <a:solidFill>
                  <a:srgbClr val="02C39A"/>
                </a:solidFill>
                <a:latin typeface="Georgia" pitchFamily="34" charset="0"/>
                <a:ea typeface="Georgia" pitchFamily="34" charset="-122"/>
                <a:cs typeface="Georgia" pitchFamily="34" charset="-120"/>
              </a:rPr>
              <a:t>$750,000</a:t>
            </a:r>
            <a:endParaRPr lang="en-US" sz="1600" dirty="0"/>
          </a:p>
        </p:txBody>
      </p:sp>
      <p:sp>
        <p:nvSpPr>
          <p:cNvPr id="8" name="Text 6"/>
          <p:cNvSpPr/>
          <p:nvPr/>
        </p:nvSpPr>
        <p:spPr>
          <a:xfrm>
            <a:off x="502920" y="1463040"/>
            <a:ext cx="1993392" cy="256032"/>
          </a:xfrm>
          <a:prstGeom prst="rect">
            <a:avLst/>
          </a:prstGeom>
          <a:noFill/>
          <a:ln/>
        </p:spPr>
        <p:txBody>
          <a:bodyPr wrap="square" lIns="0" tIns="0" rIns="0" bIns="0" rtlCol="0" anchor="ctr"/>
          <a:lstStyle/>
          <a:p>
            <a:pPr algn="ctr" indent="0" marL="0">
              <a:buNone/>
            </a:pPr>
            <a:r>
              <a:rPr lang="en-US" sz="850" spc="50" kern="0" dirty="0">
                <a:solidFill>
                  <a:srgbClr val="CADCFC"/>
                </a:solidFill>
                <a:latin typeface="Calibri" pitchFamily="34" charset="0"/>
                <a:ea typeface="Calibri" pitchFamily="34" charset="-122"/>
                <a:cs typeface="Calibri" pitchFamily="34" charset="-120"/>
              </a:rPr>
              <a:t>Raise Amount</a:t>
            </a:r>
            <a:endParaRPr lang="en-US" sz="850" dirty="0"/>
          </a:p>
        </p:txBody>
      </p:sp>
      <p:sp>
        <p:nvSpPr>
          <p:cNvPr id="9" name="Shape 7"/>
          <p:cNvSpPr/>
          <p:nvPr/>
        </p:nvSpPr>
        <p:spPr>
          <a:xfrm>
            <a:off x="2660904" y="987552"/>
            <a:ext cx="1993392" cy="868680"/>
          </a:xfrm>
          <a:prstGeom prst="rect">
            <a:avLst/>
          </a:prstGeom>
          <a:solidFill>
            <a:srgbClr val="1A2260"/>
          </a:solidFill>
          <a:ln w="9525">
            <a:solidFill>
              <a:srgbClr val="334488"/>
            </a:solidFill>
            <a:prstDash val="solid"/>
          </a:ln>
        </p:spPr>
      </p:sp>
      <p:sp>
        <p:nvSpPr>
          <p:cNvPr id="10" name="Text 8"/>
          <p:cNvSpPr/>
          <p:nvPr/>
        </p:nvSpPr>
        <p:spPr>
          <a:xfrm>
            <a:off x="2660904" y="1024128"/>
            <a:ext cx="1993392" cy="438912"/>
          </a:xfrm>
          <a:prstGeom prst="rect">
            <a:avLst/>
          </a:prstGeom>
          <a:noFill/>
          <a:ln/>
        </p:spPr>
        <p:txBody>
          <a:bodyPr wrap="square" lIns="0" tIns="0" rIns="0" bIns="0" rtlCol="0" anchor="ctr"/>
          <a:lstStyle/>
          <a:p>
            <a:pPr algn="ctr" indent="0" marL="0">
              <a:buNone/>
            </a:pPr>
            <a:r>
              <a:rPr lang="en-US" sz="1600" b="1" dirty="0">
                <a:solidFill>
                  <a:srgbClr val="02C39A"/>
                </a:solidFill>
                <a:latin typeface="Georgia" pitchFamily="34" charset="0"/>
                <a:ea typeface="Georgia" pitchFamily="34" charset="-122"/>
                <a:cs typeface="Georgia" pitchFamily="34" charset="-120"/>
              </a:rPr>
              <a:t>$4,000,000</a:t>
            </a:r>
            <a:endParaRPr lang="en-US" sz="1600" dirty="0"/>
          </a:p>
        </p:txBody>
      </p:sp>
      <p:sp>
        <p:nvSpPr>
          <p:cNvPr id="11" name="Text 9"/>
          <p:cNvSpPr/>
          <p:nvPr/>
        </p:nvSpPr>
        <p:spPr>
          <a:xfrm>
            <a:off x="2660904" y="1463040"/>
            <a:ext cx="1993392" cy="256032"/>
          </a:xfrm>
          <a:prstGeom prst="rect">
            <a:avLst/>
          </a:prstGeom>
          <a:noFill/>
          <a:ln/>
        </p:spPr>
        <p:txBody>
          <a:bodyPr wrap="square" lIns="0" tIns="0" rIns="0" bIns="0" rtlCol="0" anchor="ctr"/>
          <a:lstStyle/>
          <a:p>
            <a:pPr algn="ctr" indent="0" marL="0">
              <a:buNone/>
            </a:pPr>
            <a:r>
              <a:rPr lang="en-US" sz="850" spc="50" kern="0" dirty="0">
                <a:solidFill>
                  <a:srgbClr val="CADCFC"/>
                </a:solidFill>
                <a:latin typeface="Calibri" pitchFamily="34" charset="0"/>
                <a:ea typeface="Calibri" pitchFamily="34" charset="-122"/>
                <a:cs typeface="Calibri" pitchFamily="34" charset="-120"/>
              </a:rPr>
              <a:t>Pre-Money Valuation</a:t>
            </a:r>
            <a:endParaRPr lang="en-US" sz="850" dirty="0"/>
          </a:p>
        </p:txBody>
      </p:sp>
      <p:sp>
        <p:nvSpPr>
          <p:cNvPr id="12" name="Shape 10"/>
          <p:cNvSpPr/>
          <p:nvPr/>
        </p:nvSpPr>
        <p:spPr>
          <a:xfrm>
            <a:off x="4818888" y="987552"/>
            <a:ext cx="1993392" cy="868680"/>
          </a:xfrm>
          <a:prstGeom prst="rect">
            <a:avLst/>
          </a:prstGeom>
          <a:solidFill>
            <a:srgbClr val="1A2260"/>
          </a:solidFill>
          <a:ln w="9525">
            <a:solidFill>
              <a:srgbClr val="334488"/>
            </a:solidFill>
            <a:prstDash val="solid"/>
          </a:ln>
        </p:spPr>
      </p:sp>
      <p:sp>
        <p:nvSpPr>
          <p:cNvPr id="13" name="Text 11"/>
          <p:cNvSpPr/>
          <p:nvPr/>
        </p:nvSpPr>
        <p:spPr>
          <a:xfrm>
            <a:off x="4818888" y="1024128"/>
            <a:ext cx="1993392" cy="438912"/>
          </a:xfrm>
          <a:prstGeom prst="rect">
            <a:avLst/>
          </a:prstGeom>
          <a:noFill/>
          <a:ln/>
        </p:spPr>
        <p:txBody>
          <a:bodyPr wrap="square" lIns="0" tIns="0" rIns="0" bIns="0" rtlCol="0" anchor="ctr"/>
          <a:lstStyle/>
          <a:p>
            <a:pPr algn="ctr" indent="0" marL="0">
              <a:buNone/>
            </a:pPr>
            <a:r>
              <a:rPr lang="en-US" sz="1600" b="1" dirty="0">
                <a:solidFill>
                  <a:srgbClr val="02C39A"/>
                </a:solidFill>
                <a:latin typeface="Georgia" pitchFamily="34" charset="0"/>
                <a:ea typeface="Georgia" pitchFamily="34" charset="-122"/>
                <a:cs typeface="Georgia" pitchFamily="34" charset="-120"/>
              </a:rPr>
              <a:t>SAFE / Seed</a:t>
            </a:r>
            <a:endParaRPr lang="en-US" sz="1600" dirty="0"/>
          </a:p>
        </p:txBody>
      </p:sp>
      <p:sp>
        <p:nvSpPr>
          <p:cNvPr id="14" name="Text 12"/>
          <p:cNvSpPr/>
          <p:nvPr/>
        </p:nvSpPr>
        <p:spPr>
          <a:xfrm>
            <a:off x="4818888" y="1463040"/>
            <a:ext cx="1993392" cy="256032"/>
          </a:xfrm>
          <a:prstGeom prst="rect">
            <a:avLst/>
          </a:prstGeom>
          <a:noFill/>
          <a:ln/>
        </p:spPr>
        <p:txBody>
          <a:bodyPr wrap="square" lIns="0" tIns="0" rIns="0" bIns="0" rtlCol="0" anchor="ctr"/>
          <a:lstStyle/>
          <a:p>
            <a:pPr algn="ctr" indent="0" marL="0">
              <a:buNone/>
            </a:pPr>
            <a:r>
              <a:rPr lang="en-US" sz="850" spc="50" kern="0" dirty="0">
                <a:solidFill>
                  <a:srgbClr val="CADCFC"/>
                </a:solidFill>
                <a:latin typeface="Calibri" pitchFamily="34" charset="0"/>
                <a:ea typeface="Calibri" pitchFamily="34" charset="-122"/>
                <a:cs typeface="Calibri" pitchFamily="34" charset="-120"/>
              </a:rPr>
              <a:t>Round Type</a:t>
            </a:r>
            <a:endParaRPr lang="en-US" sz="850" dirty="0"/>
          </a:p>
        </p:txBody>
      </p:sp>
      <p:sp>
        <p:nvSpPr>
          <p:cNvPr id="15" name="Shape 13"/>
          <p:cNvSpPr/>
          <p:nvPr/>
        </p:nvSpPr>
        <p:spPr>
          <a:xfrm>
            <a:off x="6976872" y="987552"/>
            <a:ext cx="1993392" cy="868680"/>
          </a:xfrm>
          <a:prstGeom prst="rect">
            <a:avLst/>
          </a:prstGeom>
          <a:solidFill>
            <a:srgbClr val="1A2260"/>
          </a:solidFill>
          <a:ln w="9525">
            <a:solidFill>
              <a:srgbClr val="334488"/>
            </a:solidFill>
            <a:prstDash val="solid"/>
          </a:ln>
        </p:spPr>
      </p:sp>
      <p:sp>
        <p:nvSpPr>
          <p:cNvPr id="16" name="Text 14"/>
          <p:cNvSpPr/>
          <p:nvPr/>
        </p:nvSpPr>
        <p:spPr>
          <a:xfrm>
            <a:off x="6976872" y="1024128"/>
            <a:ext cx="1993392" cy="438912"/>
          </a:xfrm>
          <a:prstGeom prst="rect">
            <a:avLst/>
          </a:prstGeom>
          <a:noFill/>
          <a:ln/>
        </p:spPr>
        <p:txBody>
          <a:bodyPr wrap="square" lIns="0" tIns="0" rIns="0" bIns="0" rtlCol="0" anchor="ctr"/>
          <a:lstStyle/>
          <a:p>
            <a:pPr algn="ctr" indent="0" marL="0">
              <a:buNone/>
            </a:pPr>
            <a:r>
              <a:rPr lang="en-US" sz="1600" b="1" dirty="0">
                <a:solidFill>
                  <a:srgbClr val="02C39A"/>
                </a:solidFill>
                <a:latin typeface="Georgia" pitchFamily="34" charset="0"/>
                <a:ea typeface="Georgia" pitchFamily="34" charset="-122"/>
                <a:cs typeface="Georgia" pitchFamily="34" charset="-120"/>
              </a:rPr>
              <a:t>18 months</a:t>
            </a:r>
            <a:endParaRPr lang="en-US" sz="1600" dirty="0"/>
          </a:p>
        </p:txBody>
      </p:sp>
      <p:sp>
        <p:nvSpPr>
          <p:cNvPr id="17" name="Text 15"/>
          <p:cNvSpPr/>
          <p:nvPr/>
        </p:nvSpPr>
        <p:spPr>
          <a:xfrm>
            <a:off x="6976872" y="1463040"/>
            <a:ext cx="1993392" cy="256032"/>
          </a:xfrm>
          <a:prstGeom prst="rect">
            <a:avLst/>
          </a:prstGeom>
          <a:noFill/>
          <a:ln/>
        </p:spPr>
        <p:txBody>
          <a:bodyPr wrap="square" lIns="0" tIns="0" rIns="0" bIns="0" rtlCol="0" anchor="ctr"/>
          <a:lstStyle/>
          <a:p>
            <a:pPr algn="ctr" indent="0" marL="0">
              <a:buNone/>
            </a:pPr>
            <a:r>
              <a:rPr lang="en-US" sz="850" spc="50" kern="0" dirty="0">
                <a:solidFill>
                  <a:srgbClr val="CADCFC"/>
                </a:solidFill>
                <a:latin typeface="Calibri" pitchFamily="34" charset="0"/>
                <a:ea typeface="Calibri" pitchFamily="34" charset="-122"/>
                <a:cs typeface="Calibri" pitchFamily="34" charset="-120"/>
              </a:rPr>
              <a:t>Extended Runway</a:t>
            </a:r>
            <a:endParaRPr lang="en-US" sz="850" dirty="0"/>
          </a:p>
        </p:txBody>
      </p:sp>
      <p:sp>
        <p:nvSpPr>
          <p:cNvPr id="18" name="Text 16"/>
          <p:cNvSpPr/>
          <p:nvPr/>
        </p:nvSpPr>
        <p:spPr>
          <a:xfrm>
            <a:off x="502920" y="2029968"/>
            <a:ext cx="8229600" cy="256032"/>
          </a:xfrm>
          <a:prstGeom prst="rect">
            <a:avLst/>
          </a:prstGeom>
          <a:noFill/>
          <a:ln/>
        </p:spPr>
        <p:txBody>
          <a:bodyPr wrap="square" lIns="0" tIns="0" rIns="0" bIns="0" rtlCol="0" anchor="ctr"/>
          <a:lstStyle/>
          <a:p>
            <a:pPr algn="l" indent="0" marL="0">
              <a:buNone/>
            </a:pPr>
            <a:r>
              <a:rPr lang="en-US" sz="1000" b="1" spc="100" kern="0" dirty="0">
                <a:solidFill>
                  <a:srgbClr val="02C39A"/>
                </a:solidFill>
                <a:latin typeface="Calibri" pitchFamily="34" charset="0"/>
                <a:ea typeface="Calibri" pitchFamily="34" charset="-122"/>
                <a:cs typeface="Calibri" pitchFamily="34" charset="-120"/>
              </a:rPr>
              <a:t>Use of Funds</a:t>
            </a:r>
            <a:endParaRPr lang="en-US" sz="1000" dirty="0"/>
          </a:p>
        </p:txBody>
      </p:sp>
      <p:sp>
        <p:nvSpPr>
          <p:cNvPr id="19" name="Shape 17"/>
          <p:cNvSpPr/>
          <p:nvPr/>
        </p:nvSpPr>
        <p:spPr>
          <a:xfrm>
            <a:off x="502920" y="2706624"/>
            <a:ext cx="8229600" cy="146304"/>
          </a:xfrm>
          <a:prstGeom prst="rect">
            <a:avLst/>
          </a:prstGeom>
          <a:solidFill>
            <a:srgbClr val="1A2260"/>
          </a:solidFill>
          <a:ln w="12700">
            <a:solidFill>
              <a:srgbClr val="1A2260"/>
            </a:solidFill>
            <a:prstDash val="solid"/>
          </a:ln>
        </p:spPr>
      </p:sp>
      <p:sp>
        <p:nvSpPr>
          <p:cNvPr id="20" name="Shape 18"/>
          <p:cNvSpPr/>
          <p:nvPr/>
        </p:nvSpPr>
        <p:spPr>
          <a:xfrm>
            <a:off x="502920" y="2706624"/>
            <a:ext cx="4114800" cy="146304"/>
          </a:xfrm>
          <a:prstGeom prst="rect">
            <a:avLst/>
          </a:prstGeom>
          <a:solidFill>
            <a:srgbClr val="02C39A"/>
          </a:solidFill>
          <a:ln w="12700">
            <a:solidFill>
              <a:srgbClr val="02C39A"/>
            </a:solidFill>
            <a:prstDash val="solid"/>
          </a:ln>
        </p:spPr>
      </p:sp>
      <p:sp>
        <p:nvSpPr>
          <p:cNvPr id="21" name="Text 19"/>
          <p:cNvSpPr/>
          <p:nvPr/>
        </p:nvSpPr>
        <p:spPr>
          <a:xfrm>
            <a:off x="502920" y="2395728"/>
            <a:ext cx="594360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50%  Product &amp; Engineering</a:t>
            </a:r>
            <a:endParaRPr lang="en-US" sz="1100" dirty="0"/>
          </a:p>
        </p:txBody>
      </p:sp>
      <p:sp>
        <p:nvSpPr>
          <p:cNvPr id="22" name="Text 20"/>
          <p:cNvSpPr/>
          <p:nvPr/>
        </p:nvSpPr>
        <p:spPr>
          <a:xfrm>
            <a:off x="6492240" y="2395728"/>
            <a:ext cx="2286000" cy="256032"/>
          </a:xfrm>
          <a:prstGeom prst="rect">
            <a:avLst/>
          </a:prstGeom>
          <a:noFill/>
          <a:ln/>
        </p:spPr>
        <p:txBody>
          <a:bodyPr wrap="square" lIns="0" tIns="0" rIns="0" bIns="0" rtlCol="0" anchor="ctr"/>
          <a:lstStyle/>
          <a:p>
            <a:pPr algn="r" indent="0" marL="0">
              <a:buNone/>
            </a:pPr>
            <a:r>
              <a:rPr lang="en-US" sz="850" dirty="0">
                <a:solidFill>
                  <a:srgbClr val="8899CC"/>
                </a:solidFill>
                <a:latin typeface="Calibri" pitchFamily="34" charset="0"/>
                <a:ea typeface="Calibri" pitchFamily="34" charset="-122"/>
                <a:cs typeface="Calibri" pitchFamily="34" charset="-120"/>
              </a:rPr>
              <a:t>AI doc generation, QuickBooks/Stripe integrations, mobile app</a:t>
            </a:r>
            <a:endParaRPr lang="en-US" sz="850" dirty="0"/>
          </a:p>
        </p:txBody>
      </p:sp>
      <p:sp>
        <p:nvSpPr>
          <p:cNvPr id="23" name="Shape 21"/>
          <p:cNvSpPr/>
          <p:nvPr/>
        </p:nvSpPr>
        <p:spPr>
          <a:xfrm>
            <a:off x="502920" y="3419856"/>
            <a:ext cx="8229600" cy="146304"/>
          </a:xfrm>
          <a:prstGeom prst="rect">
            <a:avLst/>
          </a:prstGeom>
          <a:solidFill>
            <a:srgbClr val="1A2260"/>
          </a:solidFill>
          <a:ln w="12700">
            <a:solidFill>
              <a:srgbClr val="1A2260"/>
            </a:solidFill>
            <a:prstDash val="solid"/>
          </a:ln>
        </p:spPr>
      </p:sp>
      <p:sp>
        <p:nvSpPr>
          <p:cNvPr id="24" name="Shape 22"/>
          <p:cNvSpPr/>
          <p:nvPr/>
        </p:nvSpPr>
        <p:spPr>
          <a:xfrm>
            <a:off x="502920" y="3419856"/>
            <a:ext cx="2468880" cy="146304"/>
          </a:xfrm>
          <a:prstGeom prst="rect">
            <a:avLst/>
          </a:prstGeom>
          <a:solidFill>
            <a:srgbClr val="3A6EDC"/>
          </a:solidFill>
          <a:ln w="12700">
            <a:solidFill>
              <a:srgbClr val="3A6EDC"/>
            </a:solidFill>
            <a:prstDash val="solid"/>
          </a:ln>
        </p:spPr>
      </p:sp>
      <p:sp>
        <p:nvSpPr>
          <p:cNvPr id="25" name="Text 23"/>
          <p:cNvSpPr/>
          <p:nvPr/>
        </p:nvSpPr>
        <p:spPr>
          <a:xfrm>
            <a:off x="502920" y="3108960"/>
            <a:ext cx="594360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30%  Growth &amp; Distribution</a:t>
            </a:r>
            <a:endParaRPr lang="en-US" sz="1100" dirty="0"/>
          </a:p>
        </p:txBody>
      </p:sp>
      <p:sp>
        <p:nvSpPr>
          <p:cNvPr id="26" name="Text 24"/>
          <p:cNvSpPr/>
          <p:nvPr/>
        </p:nvSpPr>
        <p:spPr>
          <a:xfrm>
            <a:off x="6492240" y="3108960"/>
            <a:ext cx="2286000" cy="256032"/>
          </a:xfrm>
          <a:prstGeom prst="rect">
            <a:avLst/>
          </a:prstGeom>
          <a:noFill/>
          <a:ln/>
        </p:spPr>
        <p:txBody>
          <a:bodyPr wrap="square" lIns="0" tIns="0" rIns="0" bIns="0" rtlCol="0" anchor="ctr"/>
          <a:lstStyle/>
          <a:p>
            <a:pPr algn="r" indent="0" marL="0">
              <a:buNone/>
            </a:pPr>
            <a:r>
              <a:rPr lang="en-US" sz="850" dirty="0">
                <a:solidFill>
                  <a:srgbClr val="8899CC"/>
                </a:solidFill>
                <a:latin typeface="Calibri" pitchFamily="34" charset="0"/>
                <a:ea typeface="Calibri" pitchFamily="34" charset="-122"/>
                <a:cs typeface="Calibri" pitchFamily="34" charset="-120"/>
              </a:rPr>
              <a:t>Accelerator partnerships, content marketing, PLG activation</a:t>
            </a:r>
            <a:endParaRPr lang="en-US" sz="850" dirty="0"/>
          </a:p>
        </p:txBody>
      </p:sp>
      <p:sp>
        <p:nvSpPr>
          <p:cNvPr id="27" name="Shape 25"/>
          <p:cNvSpPr/>
          <p:nvPr/>
        </p:nvSpPr>
        <p:spPr>
          <a:xfrm>
            <a:off x="502920" y="4133088"/>
            <a:ext cx="8229600" cy="146304"/>
          </a:xfrm>
          <a:prstGeom prst="rect">
            <a:avLst/>
          </a:prstGeom>
          <a:solidFill>
            <a:srgbClr val="1A2260"/>
          </a:solidFill>
          <a:ln w="12700">
            <a:solidFill>
              <a:srgbClr val="1A2260"/>
            </a:solidFill>
            <a:prstDash val="solid"/>
          </a:ln>
        </p:spPr>
      </p:sp>
      <p:sp>
        <p:nvSpPr>
          <p:cNvPr id="28" name="Shape 26"/>
          <p:cNvSpPr/>
          <p:nvPr/>
        </p:nvSpPr>
        <p:spPr>
          <a:xfrm>
            <a:off x="502920" y="4133088"/>
            <a:ext cx="1645920" cy="146304"/>
          </a:xfrm>
          <a:prstGeom prst="rect">
            <a:avLst/>
          </a:prstGeom>
          <a:solidFill>
            <a:srgbClr val="5580E8"/>
          </a:solidFill>
          <a:ln w="12700">
            <a:solidFill>
              <a:srgbClr val="5580E8"/>
            </a:solidFill>
            <a:prstDash val="solid"/>
          </a:ln>
        </p:spPr>
      </p:sp>
      <p:sp>
        <p:nvSpPr>
          <p:cNvPr id="29" name="Text 27"/>
          <p:cNvSpPr/>
          <p:nvPr/>
        </p:nvSpPr>
        <p:spPr>
          <a:xfrm>
            <a:off x="502920" y="3822192"/>
            <a:ext cx="5943600" cy="25603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20%  Operations &amp; Infrastructure</a:t>
            </a:r>
            <a:endParaRPr lang="en-US" sz="1100" dirty="0"/>
          </a:p>
        </p:txBody>
      </p:sp>
      <p:sp>
        <p:nvSpPr>
          <p:cNvPr id="30" name="Text 28"/>
          <p:cNvSpPr/>
          <p:nvPr/>
        </p:nvSpPr>
        <p:spPr>
          <a:xfrm>
            <a:off x="6492240" y="3822192"/>
            <a:ext cx="2286000" cy="256032"/>
          </a:xfrm>
          <a:prstGeom prst="rect">
            <a:avLst/>
          </a:prstGeom>
          <a:noFill/>
          <a:ln/>
        </p:spPr>
        <p:txBody>
          <a:bodyPr wrap="square" lIns="0" tIns="0" rIns="0" bIns="0" rtlCol="0" anchor="ctr"/>
          <a:lstStyle/>
          <a:p>
            <a:pPr algn="r" indent="0" marL="0">
              <a:buNone/>
            </a:pPr>
            <a:r>
              <a:rPr lang="en-US" sz="850" dirty="0">
                <a:solidFill>
                  <a:srgbClr val="8899CC"/>
                </a:solidFill>
                <a:latin typeface="Calibri" pitchFamily="34" charset="0"/>
                <a:ea typeface="Calibri" pitchFamily="34" charset="-122"/>
                <a:cs typeface="Calibri" pitchFamily="34" charset="-120"/>
              </a:rPr>
              <a:t>Team expansion, server scale, compliance</a:t>
            </a:r>
            <a:endParaRPr lang="en-US" sz="850" dirty="0"/>
          </a:p>
        </p:txBody>
      </p:sp>
      <p:sp>
        <p:nvSpPr>
          <p:cNvPr id="31" name="Shape 29"/>
          <p:cNvSpPr/>
          <p:nvPr/>
        </p:nvSpPr>
        <p:spPr>
          <a:xfrm>
            <a:off x="0" y="4572000"/>
            <a:ext cx="9144000" cy="571500"/>
          </a:xfrm>
          <a:prstGeom prst="rect">
            <a:avLst/>
          </a:prstGeom>
          <a:solidFill>
            <a:srgbClr val="0D1440"/>
          </a:solidFill>
          <a:ln w="12700">
            <a:solidFill>
              <a:srgbClr val="0D1440"/>
            </a:solidFill>
            <a:prstDash val="solid"/>
          </a:ln>
        </p:spPr>
      </p:sp>
      <p:sp>
        <p:nvSpPr>
          <p:cNvPr id="32" name="Text 30"/>
          <p:cNvSpPr/>
          <p:nvPr/>
        </p:nvSpPr>
        <p:spPr>
          <a:xfrm>
            <a:off x="502920" y="4617720"/>
            <a:ext cx="7772400" cy="457200"/>
          </a:xfrm>
          <a:prstGeom prst="rect">
            <a:avLst/>
          </a:prstGeom>
          <a:noFill/>
          <a:ln/>
        </p:spPr>
        <p:txBody>
          <a:bodyPr wrap="square" lIns="0" tIns="0" rIns="0" bIns="0" rtlCol="0" anchor="ctr"/>
          <a:lstStyle/>
          <a:p>
            <a:pPr algn="l" indent="0" marL="0">
              <a:buNone/>
            </a:pPr>
            <a:r>
              <a:rPr lang="en-US" sz="1300" b="1" dirty="0">
                <a:solidFill>
                  <a:srgbClr val="CADCFC"/>
                </a:solidFill>
                <a:latin typeface="Georgia" pitchFamily="34" charset="0"/>
                <a:ea typeface="Georgia" pitchFamily="34" charset="-122"/>
                <a:cs typeface="Georgia" pitchFamily="34" charset="-120"/>
              </a:rPr>
              <a:t>Let's build the standard infrastructure for every startup raise.</a:t>
            </a:r>
            <a:endParaRPr lang="en-US" sz="1300" dirty="0"/>
          </a:p>
        </p:txBody>
      </p:sp>
      <p:sp>
        <p:nvSpPr>
          <p:cNvPr id="33" name="Text 31"/>
          <p:cNvSpPr/>
          <p:nvPr/>
        </p:nvSpPr>
        <p:spPr>
          <a:xfrm>
            <a:off x="6858000" y="4663440"/>
            <a:ext cx="2011680" cy="347472"/>
          </a:xfrm>
          <a:prstGeom prst="rect">
            <a:avLst/>
          </a:prstGeom>
          <a:noFill/>
          <a:ln/>
        </p:spPr>
        <p:txBody>
          <a:bodyPr wrap="square" lIns="0" tIns="0" rIns="0" bIns="0" rtlCol="0" anchor="ctr"/>
          <a:lstStyle/>
          <a:p>
            <a:pPr algn="r" indent="0" marL="0">
              <a:buNone/>
            </a:pPr>
            <a:r>
              <a:rPr lang="en-US" sz="1000" dirty="0">
                <a:solidFill>
                  <a:srgbClr val="02C39A"/>
                </a:solidFill>
                <a:latin typeface="Calibri" pitchFamily="34" charset="0"/>
                <a:ea typeface="Calibri" pitchFamily="34" charset="-122"/>
                <a:cs typeface="Calibri" pitchFamily="34" charset="-120"/>
              </a:rPr>
              <a:t>venturepilot.app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VenturePilot — Seed Round Pitch</dc:title>
  <dc:subject>PptxGenJS Presentation</dc:subject>
  <dc:creator>VenturePilot</dc:creator>
  <cp:lastModifiedBy>VenturePilot</cp:lastModifiedBy>
  <cp:revision>1</cp:revision>
  <dcterms:created xsi:type="dcterms:W3CDTF">2026-03-26T11:45:56Z</dcterms:created>
  <dcterms:modified xsi:type="dcterms:W3CDTF">2026-03-26T11:45:56Z</dcterms:modified>
</cp:coreProperties>
</file>